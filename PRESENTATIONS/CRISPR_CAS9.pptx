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4"/>
    <p:sldMasterId id="2147483762" r:id="rId5"/>
  </p:sldMasterIdLst>
  <p:notesMasterIdLst>
    <p:notesMasterId r:id="rId43"/>
  </p:notesMasterIdLst>
  <p:sldIdLst>
    <p:sldId id="257" r:id="rId6"/>
    <p:sldId id="299" r:id="rId7"/>
    <p:sldId id="297" r:id="rId8"/>
    <p:sldId id="261" r:id="rId9"/>
    <p:sldId id="276" r:id="rId10"/>
    <p:sldId id="301" r:id="rId11"/>
    <p:sldId id="262" r:id="rId12"/>
    <p:sldId id="279" r:id="rId13"/>
    <p:sldId id="280" r:id="rId14"/>
    <p:sldId id="263" r:id="rId15"/>
    <p:sldId id="282" r:id="rId16"/>
    <p:sldId id="283" r:id="rId17"/>
    <p:sldId id="284" r:id="rId18"/>
    <p:sldId id="285" r:id="rId19"/>
    <p:sldId id="294" r:id="rId20"/>
    <p:sldId id="295" r:id="rId21"/>
    <p:sldId id="296" r:id="rId22"/>
    <p:sldId id="302" r:id="rId23"/>
    <p:sldId id="303" r:id="rId24"/>
    <p:sldId id="278" r:id="rId25"/>
    <p:sldId id="265" r:id="rId26"/>
    <p:sldId id="274" r:id="rId27"/>
    <p:sldId id="267" r:id="rId28"/>
    <p:sldId id="256" r:id="rId29"/>
    <p:sldId id="291" r:id="rId30"/>
    <p:sldId id="306" r:id="rId31"/>
    <p:sldId id="307" r:id="rId32"/>
    <p:sldId id="293" r:id="rId33"/>
    <p:sldId id="304" r:id="rId34"/>
    <p:sldId id="266" r:id="rId35"/>
    <p:sldId id="268" r:id="rId36"/>
    <p:sldId id="269" r:id="rId37"/>
    <p:sldId id="270" r:id="rId38"/>
    <p:sldId id="271" r:id="rId39"/>
    <p:sldId id="272" r:id="rId40"/>
    <p:sldId id="290" r:id="rId41"/>
    <p:sldId id="289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206" autoAdjust="0"/>
  </p:normalViewPr>
  <p:slideViewPr>
    <p:cSldViewPr snapToGrid="0">
      <p:cViewPr varScale="1">
        <p:scale>
          <a:sx n="66" d="100"/>
          <a:sy n="66" d="100"/>
        </p:scale>
        <p:origin x="70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theme" Target="theme/theme1.xml"/><Relationship Id="rId20" Type="http://schemas.openxmlformats.org/officeDocument/2006/relationships/slide" Target="slides/slide15.xml"/><Relationship Id="rId41" Type="http://schemas.openxmlformats.org/officeDocument/2006/relationships/slide" Target="slides/slide3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40C5D1-4A64-4C08-85F3-1740D4DB2443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97BE57-01F4-4156-841C-15B7DABCF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083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CRISPR locus → pre-crRNA → crRNA(spacer </a:t>
            </a:r>
            <a:r>
              <a:rPr lang="en-US" dirty="0" err="1"/>
              <a:t>region_complementary</a:t>
            </a:r>
            <a:r>
              <a:rPr lang="en-US" dirty="0"/>
              <a:t> to target DNA, </a:t>
            </a:r>
            <a:r>
              <a:rPr lang="en-US" dirty="0" err="1"/>
              <a:t>palindromic_just</a:t>
            </a:r>
            <a:r>
              <a:rPr lang="en-US" dirty="0"/>
              <a:t> a structure)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97BE57-01F4-4156-841C-15B7DABCF6E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5379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97BE57-01F4-4156-841C-15B7DABCF6E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860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Even rare off-target mutations can be unacceptable in clinical therapy.</a:t>
            </a:r>
          </a:p>
          <a:p>
            <a:pPr marL="228600" indent="-228600">
              <a:buAutoNum type="arabicPeriod"/>
            </a:pPr>
            <a:r>
              <a:rPr lang="en-US" dirty="0"/>
              <a:t>CRISPR is powerful, but without safe delivery, it cannot reach the clinic.</a:t>
            </a:r>
          </a:p>
          <a:p>
            <a:pPr marL="228600" indent="-228600">
              <a:buAutoNum type="arabicPeriod"/>
            </a:pPr>
            <a:r>
              <a:rPr lang="en-US" dirty="0"/>
              <a:t>CRISPR makes the cut — the cell decides the outcome.</a:t>
            </a:r>
          </a:p>
          <a:p>
            <a:pPr marL="228600" indent="-228600">
              <a:buAutoNum type="arabicPeriod"/>
            </a:pPr>
            <a:r>
              <a:rPr lang="en-US" dirty="0"/>
              <a:t>The immune system can treat Cas9 as an infection.</a:t>
            </a:r>
          </a:p>
          <a:p>
            <a:pPr marL="228600" indent="-228600">
              <a:buAutoNum type="arabicPeriod"/>
            </a:pPr>
            <a:r>
              <a:rPr lang="en-US" dirty="0"/>
              <a:t>Not all cells are edited equally, leading to unpredictable results.</a:t>
            </a:r>
          </a:p>
          <a:p>
            <a:pPr marL="228600" indent="-228600"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”Understanding these limitations is essential to ensure the safe, accurate, and ethical use of CRISPR-Cas9 in research and clinical applications.”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97BE57-01F4-4156-841C-15B7DABCF6E1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1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CRISPR debate is not about whether we can edit genes—but whether, when, and how we should.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97BE57-01F4-4156-841C-15B7DABCF6E1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5111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“Overall, next-generation CRISPR systems move genome editing from cutting DNA toward precise rewriting.”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97BE57-01F4-4156-841C-15B7DABCF6E1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5413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“CRISPR is not just a research tool anymore — it is shaping the future of medicine, agriculture, and biotechnology.”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97BE57-01F4-4156-841C-15B7DABCF6E1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5120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err="1"/>
              <a:t>Opening</a:t>
            </a:r>
            <a:r>
              <a:rPr lang="en-US" dirty="0" err="1"/>
              <a:t>“CRISPR</a:t>
            </a:r>
            <a:r>
              <a:rPr lang="en-US" dirty="0"/>
              <a:t> has now moved beyond the lab and into real, approved therapies.”</a:t>
            </a:r>
          </a:p>
          <a:p>
            <a:r>
              <a:rPr lang="en-US" b="1" dirty="0"/>
              <a:t>Closing Line </a:t>
            </a:r>
            <a:r>
              <a:rPr lang="en-US" dirty="0"/>
              <a:t>“These examples show that CRISPR is no longer experimental—it is becoming a real therapeutic platform.”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97BE57-01F4-4156-841C-15B7DABCF6E1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62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607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229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846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4424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420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757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28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135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820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07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0029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xmlns="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12/23/2025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88148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12/23/2025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02400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xmlns="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12/23/2025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xmlns="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80320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12/23/2025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xmlns="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xmlns="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75090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12/23/2025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xmlns="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xmlns="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2957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xmlns="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12/23/2025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xmlns="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xmlns="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77928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12/23/2025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58362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12/23/2025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76531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12/23/2025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40319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12/23/2025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65542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12/23/2025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xmlns="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3947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324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xmlns="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5754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0306" y="5015753"/>
            <a:ext cx="11658599" cy="1842246"/>
          </a:xfrm>
        </p:spPr>
        <p:txBody>
          <a:bodyPr>
            <a:normAutofit/>
          </a:bodyPr>
          <a:lstStyle/>
          <a:p>
            <a:pPr algn="l"/>
            <a:r>
              <a:rPr lang="en-US" b="1" dirty="0">
                <a:solidFill>
                  <a:schemeClr val="tx1"/>
                </a:solidFill>
              </a:rPr>
              <a:t>Presented by(GROUP#10):</a:t>
            </a:r>
          </a:p>
          <a:p>
            <a:pPr algn="l"/>
            <a:r>
              <a:rPr lang="en-US" b="1" dirty="0">
                <a:solidFill>
                  <a:schemeClr val="tx1"/>
                </a:solidFill>
              </a:rPr>
              <a:t>QURAT UL AIN (2023-ag-9777)	      FATIMA NAVEED (2023-ag-9736)</a:t>
            </a:r>
          </a:p>
          <a:p>
            <a:pPr algn="l"/>
            <a:r>
              <a:rPr lang="en-US" b="1" dirty="0">
                <a:solidFill>
                  <a:schemeClr val="tx1"/>
                </a:solidFill>
              </a:rPr>
              <a:t>ALIZA FATIMA (2023-ag-9712) 		MARYAM (2023-ag-9757)</a:t>
            </a:r>
          </a:p>
          <a:p>
            <a:pPr algn="l"/>
            <a:endParaRPr lang="en-US" sz="2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1026" name="Picture 2" descr="Crispr cas9 hi-res stock photography and images - Alamy">
            <a:extLst>
              <a:ext uri="{FF2B5EF4-FFF2-40B4-BE49-F238E27FC236}">
                <a16:creationId xmlns:a16="http://schemas.microsoft.com/office/drawing/2014/main" xmlns="" id="{A7D50BF7-F980-2C92-3084-3CE4352D6B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980"/>
          <a:stretch>
            <a:fillRect/>
          </a:stretch>
        </p:blipFill>
        <p:spPr bwMode="auto">
          <a:xfrm>
            <a:off x="0" y="1"/>
            <a:ext cx="12192000" cy="4746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>
            <a:extLst>
              <a:ext uri="{FF2B5EF4-FFF2-40B4-BE49-F238E27FC236}">
                <a16:creationId xmlns:a16="http://schemas.microsoft.com/office/drawing/2014/main" xmlns="" id="{6C9BD29F-77DD-737E-55B4-B93665E1EEE9}"/>
              </a:ext>
            </a:extLst>
          </p:cNvPr>
          <p:cNvGrpSpPr/>
          <p:nvPr/>
        </p:nvGrpSpPr>
        <p:grpSpPr>
          <a:xfrm>
            <a:off x="1666876" y="585790"/>
            <a:ext cx="9001125" cy="5721455"/>
            <a:chOff x="608971" y="1332213"/>
            <a:chExt cx="7926059" cy="4997150"/>
          </a:xfrm>
        </p:grpSpPr>
        <p:sp>
          <p:nvSpPr>
            <p:cNvPr id="2" name="Rounded Rectangle 1"/>
            <p:cNvSpPr/>
            <p:nvPr/>
          </p:nvSpPr>
          <p:spPr>
            <a:xfrm>
              <a:off x="693310" y="2009517"/>
              <a:ext cx="1808897" cy="4141058"/>
            </a:xfrm>
            <a:custGeom>
              <a:avLst/>
              <a:gdLst/>
              <a:ahLst/>
              <a:cxnLst/>
              <a:rect l="0" t="0" r="0" b="0"/>
              <a:pathLst>
                <a:path w="1779372" h="2780270">
                  <a:moveTo>
                    <a:pt x="1779372" y="2669059"/>
                  </a:moveTo>
                  <a:cubicBezTo>
                    <a:pt x="1779372" y="2730475"/>
                    <a:pt x="1729578" y="2780270"/>
                    <a:pt x="1668162" y="2780270"/>
                  </a:cubicBezTo>
                  <a:lnTo>
                    <a:pt x="111210" y="2780270"/>
                  </a:lnTo>
                  <a:cubicBezTo>
                    <a:pt x="49794" y="2780270"/>
                    <a:pt x="0" y="2730475"/>
                    <a:pt x="0" y="2669059"/>
                  </a:cubicBezTo>
                  <a:lnTo>
                    <a:pt x="0" y="111210"/>
                  </a:lnTo>
                  <a:cubicBezTo>
                    <a:pt x="0" y="49794"/>
                    <a:pt x="49794" y="0"/>
                    <a:pt x="111210" y="0"/>
                  </a:cubicBezTo>
                  <a:lnTo>
                    <a:pt x="1668162" y="0"/>
                  </a:lnTo>
                  <a:cubicBezTo>
                    <a:pt x="1729578" y="0"/>
                    <a:pt x="1779372" y="49794"/>
                    <a:pt x="1779372" y="111210"/>
                  </a:cubicBezTo>
                  <a:lnTo>
                    <a:pt x="1779372" y="2669059"/>
                  </a:lnTo>
                </a:path>
              </a:pathLst>
            </a:custGeom>
            <a:solidFill>
              <a:srgbClr val="F3F0FF"/>
            </a:solidFill>
            <a:ln>
              <a:noFill/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608971" y="2059717"/>
              <a:ext cx="1779372" cy="4269646"/>
            </a:xfrm>
            <a:custGeom>
              <a:avLst/>
              <a:gdLst/>
              <a:ahLst/>
              <a:cxnLst/>
              <a:rect l="0" t="0" r="0" b="0"/>
              <a:pathLst>
                <a:path w="1779372" h="2780270">
                  <a:moveTo>
                    <a:pt x="1668162" y="0"/>
                  </a:moveTo>
                  <a:cubicBezTo>
                    <a:pt x="1729582" y="0"/>
                    <a:pt x="1779372" y="49790"/>
                    <a:pt x="1779372" y="111210"/>
                  </a:cubicBezTo>
                  <a:moveTo>
                    <a:pt x="0" y="111210"/>
                  </a:moveTo>
                  <a:lnTo>
                    <a:pt x="0" y="2669059"/>
                  </a:lnTo>
                  <a:moveTo>
                    <a:pt x="1779372" y="2669059"/>
                  </a:moveTo>
                  <a:lnTo>
                    <a:pt x="1779372" y="111210"/>
                  </a:lnTo>
                  <a:moveTo>
                    <a:pt x="1668162" y="2780270"/>
                  </a:moveTo>
                  <a:lnTo>
                    <a:pt x="111210" y="2780270"/>
                  </a:lnTo>
                  <a:moveTo>
                    <a:pt x="111210" y="0"/>
                  </a:moveTo>
                  <a:lnTo>
                    <a:pt x="1668162" y="0"/>
                  </a:lnTo>
                  <a:moveTo>
                    <a:pt x="0" y="111210"/>
                  </a:moveTo>
                  <a:cubicBezTo>
                    <a:pt x="0" y="49790"/>
                    <a:pt x="49790" y="0"/>
                    <a:pt x="111210" y="0"/>
                  </a:cubicBezTo>
                  <a:moveTo>
                    <a:pt x="111210" y="2780270"/>
                  </a:moveTo>
                  <a:cubicBezTo>
                    <a:pt x="49790" y="2780270"/>
                    <a:pt x="0" y="2730479"/>
                    <a:pt x="0" y="2669059"/>
                  </a:cubicBezTo>
                  <a:moveTo>
                    <a:pt x="1668162" y="2780270"/>
                  </a:moveTo>
                  <a:cubicBezTo>
                    <a:pt x="1729582" y="2780270"/>
                    <a:pt x="1779372" y="2730479"/>
                    <a:pt x="1779372" y="2669059"/>
                  </a:cubicBezTo>
                </a:path>
              </a:pathLst>
            </a:custGeom>
            <a:noFill/>
            <a:ln w="13901">
              <a:solidFill>
                <a:srgbClr val="7F64EA"/>
              </a:solidFill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902044" y="2170928"/>
              <a:ext cx="1334529" cy="1334529"/>
            </a:xfrm>
            <a:custGeom>
              <a:avLst/>
              <a:gdLst/>
              <a:ahLst/>
              <a:cxnLst/>
              <a:rect l="0" t="0" r="0" b="0"/>
              <a:pathLst>
                <a:path w="1334529" h="1334529">
                  <a:moveTo>
                    <a:pt x="1334529" y="667264"/>
                  </a:moveTo>
                  <a:cubicBezTo>
                    <a:pt x="1334529" y="1035789"/>
                    <a:pt x="1035789" y="1334529"/>
                    <a:pt x="667264" y="1334529"/>
                  </a:cubicBezTo>
                  <a:cubicBezTo>
                    <a:pt x="298749" y="1334529"/>
                    <a:pt x="0" y="1035789"/>
                    <a:pt x="0" y="667264"/>
                  </a:cubicBezTo>
                  <a:cubicBezTo>
                    <a:pt x="0" y="298740"/>
                    <a:pt x="298749" y="0"/>
                    <a:pt x="667264" y="0"/>
                  </a:cubicBezTo>
                  <a:lnTo>
                    <a:pt x="667264" y="111210"/>
                  </a:lnTo>
                  <a:cubicBezTo>
                    <a:pt x="360165" y="111210"/>
                    <a:pt x="111210" y="360165"/>
                    <a:pt x="111210" y="667264"/>
                  </a:cubicBezTo>
                  <a:cubicBezTo>
                    <a:pt x="111210" y="974364"/>
                    <a:pt x="360165" y="1223318"/>
                    <a:pt x="667264" y="1223318"/>
                  </a:cubicBezTo>
                  <a:cubicBezTo>
                    <a:pt x="974364" y="1223318"/>
                    <a:pt x="1223318" y="974364"/>
                    <a:pt x="1223318" y="667264"/>
                  </a:cubicBezTo>
                  <a:lnTo>
                    <a:pt x="1334529" y="667264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902044" y="2170928"/>
              <a:ext cx="1334529" cy="1334529"/>
            </a:xfrm>
            <a:custGeom>
              <a:avLst/>
              <a:gdLst/>
              <a:ahLst/>
              <a:cxnLst/>
              <a:rect l="0" t="0" r="0" b="0"/>
              <a:pathLst>
                <a:path w="1334529" h="1334529">
                  <a:moveTo>
                    <a:pt x="1334529" y="667264"/>
                  </a:moveTo>
                  <a:cubicBezTo>
                    <a:pt x="1334529" y="1035785"/>
                    <a:pt x="1035785" y="1334529"/>
                    <a:pt x="667264" y="1334529"/>
                  </a:cubicBezTo>
                  <a:cubicBezTo>
                    <a:pt x="298744" y="1334529"/>
                    <a:pt x="0" y="1035785"/>
                    <a:pt x="0" y="667264"/>
                  </a:cubicBezTo>
                  <a:cubicBezTo>
                    <a:pt x="0" y="298744"/>
                    <a:pt x="298744" y="0"/>
                    <a:pt x="667264" y="0"/>
                  </a:cubicBezTo>
                  <a:moveTo>
                    <a:pt x="667264" y="111210"/>
                  </a:moveTo>
                  <a:cubicBezTo>
                    <a:pt x="360164" y="111210"/>
                    <a:pt x="111210" y="360164"/>
                    <a:pt x="111210" y="667264"/>
                  </a:cubicBezTo>
                  <a:cubicBezTo>
                    <a:pt x="111210" y="974365"/>
                    <a:pt x="360164" y="1223318"/>
                    <a:pt x="667264" y="1223318"/>
                  </a:cubicBezTo>
                  <a:cubicBezTo>
                    <a:pt x="974365" y="1223318"/>
                    <a:pt x="1223318" y="974365"/>
                    <a:pt x="1223318" y="667264"/>
                  </a:cubicBezTo>
                </a:path>
              </a:pathLst>
            </a:custGeom>
            <a:noFill/>
            <a:ln w="13901">
              <a:solidFill>
                <a:srgbClr val="969696"/>
              </a:solidFill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569309" y="2183712"/>
              <a:ext cx="667264" cy="667264"/>
            </a:xfrm>
            <a:custGeom>
              <a:avLst/>
              <a:gdLst/>
              <a:ahLst/>
              <a:cxnLst/>
              <a:rect l="0" t="0" r="0" b="0"/>
              <a:pathLst>
                <a:path w="667264" h="667264">
                  <a:moveTo>
                    <a:pt x="0" y="0"/>
                  </a:moveTo>
                  <a:cubicBezTo>
                    <a:pt x="368524" y="0"/>
                    <a:pt x="667264" y="298740"/>
                    <a:pt x="667264" y="667264"/>
                  </a:cubicBezTo>
                  <a:lnTo>
                    <a:pt x="556054" y="667264"/>
                  </a:lnTo>
                  <a:cubicBezTo>
                    <a:pt x="556054" y="360165"/>
                    <a:pt x="307099" y="111210"/>
                    <a:pt x="0" y="111210"/>
                  </a:cubicBezTo>
                  <a:lnTo>
                    <a:pt x="0" y="0"/>
                  </a:lnTo>
                </a:path>
              </a:pathLst>
            </a:custGeom>
            <a:solidFill>
              <a:srgbClr val="B7A5FF"/>
            </a:solidFill>
            <a:ln>
              <a:noFill/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569309" y="2170928"/>
              <a:ext cx="667264" cy="667264"/>
            </a:xfrm>
            <a:custGeom>
              <a:avLst/>
              <a:gdLst/>
              <a:ahLst/>
              <a:cxnLst/>
              <a:rect l="0" t="0" r="0" b="0"/>
              <a:pathLst>
                <a:path w="667264" h="667264">
                  <a:moveTo>
                    <a:pt x="0" y="0"/>
                  </a:moveTo>
                  <a:cubicBezTo>
                    <a:pt x="368520" y="0"/>
                    <a:pt x="667264" y="298744"/>
                    <a:pt x="667264" y="667264"/>
                  </a:cubicBezTo>
                  <a:lnTo>
                    <a:pt x="556054" y="667264"/>
                  </a:lnTo>
                  <a:cubicBezTo>
                    <a:pt x="556054" y="360164"/>
                    <a:pt x="307100" y="111210"/>
                    <a:pt x="0" y="111210"/>
                  </a:cubicBezTo>
                  <a:close/>
                </a:path>
              </a:pathLst>
            </a:custGeom>
            <a:noFill/>
            <a:ln w="13901">
              <a:solidFill>
                <a:srgbClr val="7F64EA"/>
              </a:solidFill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2681417" y="2059717"/>
              <a:ext cx="1779372" cy="4090858"/>
            </a:xfrm>
            <a:custGeom>
              <a:avLst/>
              <a:gdLst/>
              <a:ahLst/>
              <a:cxnLst/>
              <a:rect l="0" t="0" r="0" b="0"/>
              <a:pathLst>
                <a:path w="1779372" h="2780270">
                  <a:moveTo>
                    <a:pt x="1779372" y="2669059"/>
                  </a:moveTo>
                  <a:cubicBezTo>
                    <a:pt x="1779372" y="2730475"/>
                    <a:pt x="1729578" y="2780270"/>
                    <a:pt x="1668162" y="2780270"/>
                  </a:cubicBezTo>
                  <a:lnTo>
                    <a:pt x="111210" y="2780270"/>
                  </a:lnTo>
                  <a:cubicBezTo>
                    <a:pt x="49794" y="2780270"/>
                    <a:pt x="0" y="2730475"/>
                    <a:pt x="0" y="2669059"/>
                  </a:cubicBezTo>
                  <a:lnTo>
                    <a:pt x="0" y="111210"/>
                  </a:lnTo>
                  <a:cubicBezTo>
                    <a:pt x="0" y="49794"/>
                    <a:pt x="49794" y="0"/>
                    <a:pt x="111210" y="0"/>
                  </a:cubicBezTo>
                  <a:lnTo>
                    <a:pt x="1668162" y="0"/>
                  </a:lnTo>
                  <a:cubicBezTo>
                    <a:pt x="1729578" y="0"/>
                    <a:pt x="1779372" y="49794"/>
                    <a:pt x="1779372" y="111210"/>
                  </a:cubicBezTo>
                  <a:lnTo>
                    <a:pt x="1779372" y="2669059"/>
                  </a:lnTo>
                </a:path>
              </a:pathLst>
            </a:custGeom>
            <a:solidFill>
              <a:srgbClr val="FAF0FF"/>
            </a:solidFill>
            <a:ln>
              <a:noFill/>
            </a:ln>
          </p:spPr>
          <p:txBody>
            <a:bodyPr rtlCol="0" anchor="ctr"/>
            <a:lstStyle/>
            <a:p>
              <a:pPr algn="ctr" defTabSz="457200"/>
              <a:endParaRPr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681417" y="2059717"/>
              <a:ext cx="1779372" cy="4269646"/>
            </a:xfrm>
            <a:custGeom>
              <a:avLst/>
              <a:gdLst/>
              <a:ahLst/>
              <a:cxnLst/>
              <a:rect l="0" t="0" r="0" b="0"/>
              <a:pathLst>
                <a:path w="1779372" h="2780270">
                  <a:moveTo>
                    <a:pt x="1668162" y="0"/>
                  </a:moveTo>
                  <a:cubicBezTo>
                    <a:pt x="1729582" y="0"/>
                    <a:pt x="1779372" y="49790"/>
                    <a:pt x="1779372" y="111210"/>
                  </a:cubicBezTo>
                  <a:moveTo>
                    <a:pt x="0" y="111210"/>
                  </a:moveTo>
                  <a:lnTo>
                    <a:pt x="0" y="2669059"/>
                  </a:lnTo>
                  <a:moveTo>
                    <a:pt x="1779372" y="2669059"/>
                  </a:moveTo>
                  <a:lnTo>
                    <a:pt x="1779372" y="111210"/>
                  </a:lnTo>
                  <a:moveTo>
                    <a:pt x="1668162" y="2780270"/>
                  </a:moveTo>
                  <a:lnTo>
                    <a:pt x="111210" y="2780270"/>
                  </a:lnTo>
                  <a:moveTo>
                    <a:pt x="111210" y="0"/>
                  </a:moveTo>
                  <a:lnTo>
                    <a:pt x="1668162" y="0"/>
                  </a:lnTo>
                  <a:moveTo>
                    <a:pt x="0" y="111210"/>
                  </a:moveTo>
                  <a:cubicBezTo>
                    <a:pt x="0" y="49790"/>
                    <a:pt x="49790" y="0"/>
                    <a:pt x="111210" y="0"/>
                  </a:cubicBezTo>
                  <a:moveTo>
                    <a:pt x="111210" y="2780270"/>
                  </a:moveTo>
                  <a:cubicBezTo>
                    <a:pt x="49790" y="2780270"/>
                    <a:pt x="0" y="2730479"/>
                    <a:pt x="0" y="2669059"/>
                  </a:cubicBezTo>
                  <a:moveTo>
                    <a:pt x="1668162" y="2780270"/>
                  </a:moveTo>
                  <a:cubicBezTo>
                    <a:pt x="1729582" y="2780270"/>
                    <a:pt x="1779372" y="2730479"/>
                    <a:pt x="1779372" y="2669059"/>
                  </a:cubicBezTo>
                </a:path>
              </a:pathLst>
            </a:custGeom>
            <a:noFill/>
            <a:ln w="13901">
              <a:solidFill>
                <a:srgbClr val="BA5DE5"/>
              </a:solidFill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2850253" y="2170928"/>
              <a:ext cx="1442024" cy="1401867"/>
            </a:xfrm>
            <a:custGeom>
              <a:avLst/>
              <a:gdLst/>
              <a:ahLst/>
              <a:cxnLst/>
              <a:rect l="0" t="0" r="0" b="0"/>
              <a:pathLst>
                <a:path w="1442024" h="1401867">
                  <a:moveTo>
                    <a:pt x="1260676" y="275061"/>
                  </a:moveTo>
                  <a:cubicBezTo>
                    <a:pt x="1442024" y="524655"/>
                    <a:pt x="1428604" y="866017"/>
                    <a:pt x="1228239" y="1100616"/>
                  </a:cubicBezTo>
                  <a:cubicBezTo>
                    <a:pt x="1027875" y="1335215"/>
                    <a:pt x="692806" y="1401867"/>
                    <a:pt x="417920" y="1261797"/>
                  </a:cubicBezTo>
                  <a:cubicBezTo>
                    <a:pt x="143026" y="1121737"/>
                    <a:pt x="0" y="811486"/>
                    <a:pt x="72018" y="511495"/>
                  </a:cubicBezTo>
                  <a:cubicBezTo>
                    <a:pt x="144045" y="211504"/>
                    <a:pt x="412332" y="0"/>
                    <a:pt x="720849" y="0"/>
                  </a:cubicBezTo>
                  <a:lnTo>
                    <a:pt x="720849" y="111210"/>
                  </a:lnTo>
                  <a:cubicBezTo>
                    <a:pt x="463749" y="111210"/>
                    <a:pt x="240178" y="287461"/>
                    <a:pt x="180161" y="537454"/>
                  </a:cubicBezTo>
                  <a:cubicBezTo>
                    <a:pt x="120144" y="787446"/>
                    <a:pt x="239334" y="1045993"/>
                    <a:pt x="468410" y="1162709"/>
                  </a:cubicBezTo>
                  <a:cubicBezTo>
                    <a:pt x="697477" y="1279434"/>
                    <a:pt x="976708" y="1223893"/>
                    <a:pt x="1143673" y="1028394"/>
                  </a:cubicBezTo>
                  <a:cubicBezTo>
                    <a:pt x="1310647" y="832894"/>
                    <a:pt x="1321823" y="548417"/>
                    <a:pt x="1170706" y="340425"/>
                  </a:cubicBezTo>
                  <a:lnTo>
                    <a:pt x="1260676" y="275061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4683211" y="2059717"/>
              <a:ext cx="1779372" cy="4269646"/>
            </a:xfrm>
            <a:custGeom>
              <a:avLst/>
              <a:gdLst/>
              <a:ahLst/>
              <a:cxnLst/>
              <a:rect l="0" t="0" r="0" b="0"/>
              <a:pathLst>
                <a:path w="1779372" h="2780270">
                  <a:moveTo>
                    <a:pt x="1668162" y="0"/>
                  </a:moveTo>
                  <a:cubicBezTo>
                    <a:pt x="1729582" y="0"/>
                    <a:pt x="1779372" y="49790"/>
                    <a:pt x="1779372" y="111210"/>
                  </a:cubicBezTo>
                  <a:moveTo>
                    <a:pt x="0" y="111210"/>
                  </a:moveTo>
                  <a:lnTo>
                    <a:pt x="0" y="2669059"/>
                  </a:lnTo>
                  <a:moveTo>
                    <a:pt x="1779372" y="2669059"/>
                  </a:moveTo>
                  <a:lnTo>
                    <a:pt x="1779372" y="111210"/>
                  </a:lnTo>
                  <a:moveTo>
                    <a:pt x="1668162" y="2780270"/>
                  </a:moveTo>
                  <a:lnTo>
                    <a:pt x="111210" y="2780270"/>
                  </a:lnTo>
                  <a:moveTo>
                    <a:pt x="111210" y="0"/>
                  </a:moveTo>
                  <a:lnTo>
                    <a:pt x="1668162" y="0"/>
                  </a:lnTo>
                  <a:moveTo>
                    <a:pt x="0" y="111210"/>
                  </a:moveTo>
                  <a:cubicBezTo>
                    <a:pt x="0" y="49790"/>
                    <a:pt x="49790" y="0"/>
                    <a:pt x="111210" y="0"/>
                  </a:cubicBezTo>
                  <a:moveTo>
                    <a:pt x="111210" y="2780270"/>
                  </a:moveTo>
                  <a:cubicBezTo>
                    <a:pt x="49790" y="2780270"/>
                    <a:pt x="0" y="2730479"/>
                    <a:pt x="0" y="2669059"/>
                  </a:cubicBezTo>
                  <a:moveTo>
                    <a:pt x="1668162" y="2780270"/>
                  </a:moveTo>
                  <a:cubicBezTo>
                    <a:pt x="1729582" y="2780270"/>
                    <a:pt x="1779372" y="2730479"/>
                    <a:pt x="1779372" y="2669059"/>
                  </a:cubicBezTo>
                </a:path>
              </a:pathLst>
            </a:custGeom>
            <a:noFill/>
            <a:ln w="13901">
              <a:solidFill>
                <a:srgbClr val="DE58A9"/>
              </a:solidFill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4850610" y="2170928"/>
              <a:ext cx="1419077" cy="1386835"/>
            </a:xfrm>
            <a:custGeom>
              <a:avLst/>
              <a:gdLst/>
              <a:ahLst/>
              <a:cxnLst/>
              <a:rect l="0" t="0" r="0" b="0"/>
              <a:pathLst>
                <a:path w="1419077" h="1386835">
                  <a:moveTo>
                    <a:pt x="1384287" y="583634"/>
                  </a:moveTo>
                  <a:cubicBezTo>
                    <a:pt x="1419077" y="858973"/>
                    <a:pt x="1279795" y="1127103"/>
                    <a:pt x="1034520" y="1256969"/>
                  </a:cubicBezTo>
                  <a:cubicBezTo>
                    <a:pt x="789244" y="1386835"/>
                    <a:pt x="489197" y="1351322"/>
                    <a:pt x="281020" y="1167787"/>
                  </a:cubicBezTo>
                  <a:cubicBezTo>
                    <a:pt x="72833" y="984252"/>
                    <a:pt x="0" y="691017"/>
                    <a:pt x="98097" y="431405"/>
                  </a:cubicBezTo>
                  <a:cubicBezTo>
                    <a:pt x="196203" y="171783"/>
                    <a:pt x="444750" y="0"/>
                    <a:pt x="722286" y="0"/>
                  </a:cubicBezTo>
                  <a:lnTo>
                    <a:pt x="722286" y="111210"/>
                  </a:lnTo>
                  <a:cubicBezTo>
                    <a:pt x="491014" y="111210"/>
                    <a:pt x="283884" y="254366"/>
                    <a:pt x="202125" y="470718"/>
                  </a:cubicBezTo>
                  <a:cubicBezTo>
                    <a:pt x="120376" y="687060"/>
                    <a:pt x="181079" y="931418"/>
                    <a:pt x="354558" y="1084370"/>
                  </a:cubicBezTo>
                  <a:cubicBezTo>
                    <a:pt x="528047" y="1237312"/>
                    <a:pt x="778086" y="1266904"/>
                    <a:pt x="982482" y="1158686"/>
                  </a:cubicBezTo>
                  <a:cubicBezTo>
                    <a:pt x="1186878" y="1050460"/>
                    <a:pt x="1302945" y="827028"/>
                    <a:pt x="1273956" y="597572"/>
                  </a:cubicBezTo>
                  <a:lnTo>
                    <a:pt x="1384287" y="583634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4850609" y="2170928"/>
              <a:ext cx="1419076" cy="1386836"/>
            </a:xfrm>
            <a:custGeom>
              <a:avLst/>
              <a:gdLst/>
              <a:ahLst/>
              <a:cxnLst/>
              <a:rect l="0" t="0" r="0" b="0"/>
              <a:pathLst>
                <a:path w="1419076" h="1386836">
                  <a:moveTo>
                    <a:pt x="1384292" y="583634"/>
                  </a:moveTo>
                  <a:cubicBezTo>
                    <a:pt x="1419076" y="858978"/>
                    <a:pt x="1279796" y="1127104"/>
                    <a:pt x="1034522" y="1256970"/>
                  </a:cubicBezTo>
                  <a:cubicBezTo>
                    <a:pt x="789249" y="1386836"/>
                    <a:pt x="489199" y="1351323"/>
                    <a:pt x="281019" y="1167787"/>
                  </a:cubicBezTo>
                  <a:cubicBezTo>
                    <a:pt x="72839" y="984252"/>
                    <a:pt x="0" y="691019"/>
                    <a:pt x="98100" y="431403"/>
                  </a:cubicBezTo>
                  <a:cubicBezTo>
                    <a:pt x="196201" y="171787"/>
                    <a:pt x="444756" y="0"/>
                    <a:pt x="722289" y="0"/>
                  </a:cubicBezTo>
                  <a:moveTo>
                    <a:pt x="722289" y="111210"/>
                  </a:moveTo>
                  <a:cubicBezTo>
                    <a:pt x="491012" y="111210"/>
                    <a:pt x="283882" y="254367"/>
                    <a:pt x="202131" y="470713"/>
                  </a:cubicBezTo>
                  <a:cubicBezTo>
                    <a:pt x="120381" y="687060"/>
                    <a:pt x="181080" y="931421"/>
                    <a:pt x="354564" y="1084367"/>
                  </a:cubicBezTo>
                  <a:cubicBezTo>
                    <a:pt x="528047" y="1237313"/>
                    <a:pt x="778089" y="1266907"/>
                    <a:pt x="982483" y="1158686"/>
                  </a:cubicBezTo>
                  <a:cubicBezTo>
                    <a:pt x="1186878" y="1050464"/>
                    <a:pt x="1302945" y="827026"/>
                    <a:pt x="1273958" y="597572"/>
                  </a:cubicBezTo>
                </a:path>
              </a:pathLst>
            </a:custGeom>
            <a:noFill/>
            <a:ln w="13901">
              <a:solidFill>
                <a:srgbClr val="969696"/>
              </a:solidFill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5572898" y="2170928"/>
              <a:ext cx="662000" cy="597572"/>
            </a:xfrm>
            <a:custGeom>
              <a:avLst/>
              <a:gdLst/>
              <a:ahLst/>
              <a:cxnLst/>
              <a:rect l="0" t="0" r="0" b="0"/>
              <a:pathLst>
                <a:path w="662000" h="597572">
                  <a:moveTo>
                    <a:pt x="0" y="0"/>
                  </a:moveTo>
                  <a:cubicBezTo>
                    <a:pt x="336181" y="0"/>
                    <a:pt x="619870" y="250103"/>
                    <a:pt x="662000" y="583634"/>
                  </a:cubicBezTo>
                  <a:lnTo>
                    <a:pt x="551670" y="597572"/>
                  </a:lnTo>
                  <a:cubicBezTo>
                    <a:pt x="516555" y="319629"/>
                    <a:pt x="280149" y="111210"/>
                    <a:pt x="0" y="111210"/>
                  </a:cubicBezTo>
                  <a:lnTo>
                    <a:pt x="0" y="0"/>
                  </a:lnTo>
                </a:path>
              </a:pathLst>
            </a:custGeom>
            <a:solidFill>
              <a:srgbClr val="FF9BD7"/>
            </a:solidFill>
            <a:ln>
              <a:noFill/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5572898" y="2170928"/>
              <a:ext cx="662003" cy="597572"/>
            </a:xfrm>
            <a:custGeom>
              <a:avLst/>
              <a:gdLst/>
              <a:ahLst/>
              <a:cxnLst/>
              <a:rect l="0" t="0" r="0" b="0"/>
              <a:pathLst>
                <a:path w="662003" h="597572">
                  <a:moveTo>
                    <a:pt x="0" y="0"/>
                  </a:moveTo>
                  <a:cubicBezTo>
                    <a:pt x="336184" y="0"/>
                    <a:pt x="619868" y="250100"/>
                    <a:pt x="662003" y="583634"/>
                  </a:cubicBezTo>
                  <a:lnTo>
                    <a:pt x="551669" y="597572"/>
                  </a:lnTo>
                  <a:cubicBezTo>
                    <a:pt x="516557" y="319628"/>
                    <a:pt x="280153" y="111210"/>
                    <a:pt x="0" y="111211"/>
                  </a:cubicBezTo>
                  <a:close/>
                </a:path>
              </a:pathLst>
            </a:custGeom>
            <a:noFill/>
            <a:ln w="13901">
              <a:solidFill>
                <a:srgbClr val="DE58A9"/>
              </a:solidFill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6685006" y="2059717"/>
              <a:ext cx="1779372" cy="4090858"/>
            </a:xfrm>
            <a:custGeom>
              <a:avLst/>
              <a:gdLst/>
              <a:ahLst/>
              <a:cxnLst/>
              <a:rect l="0" t="0" r="0" b="0"/>
              <a:pathLst>
                <a:path w="1779372" h="2780270">
                  <a:moveTo>
                    <a:pt x="1779372" y="2669059"/>
                  </a:moveTo>
                  <a:cubicBezTo>
                    <a:pt x="1779372" y="2730475"/>
                    <a:pt x="1729578" y="2780270"/>
                    <a:pt x="1668162" y="2780270"/>
                  </a:cubicBezTo>
                  <a:lnTo>
                    <a:pt x="111210" y="2780270"/>
                  </a:lnTo>
                  <a:cubicBezTo>
                    <a:pt x="49794" y="2780270"/>
                    <a:pt x="0" y="2730475"/>
                    <a:pt x="0" y="2669059"/>
                  </a:cubicBezTo>
                  <a:lnTo>
                    <a:pt x="0" y="111210"/>
                  </a:lnTo>
                  <a:cubicBezTo>
                    <a:pt x="0" y="49794"/>
                    <a:pt x="49794" y="0"/>
                    <a:pt x="111210" y="0"/>
                  </a:cubicBezTo>
                  <a:lnTo>
                    <a:pt x="1668162" y="0"/>
                  </a:lnTo>
                  <a:cubicBezTo>
                    <a:pt x="1729578" y="0"/>
                    <a:pt x="1779372" y="49794"/>
                    <a:pt x="1779372" y="111210"/>
                  </a:cubicBezTo>
                  <a:lnTo>
                    <a:pt x="1779372" y="2669059"/>
                  </a:lnTo>
                </a:path>
              </a:pathLst>
            </a:custGeom>
            <a:solidFill>
              <a:srgbClr val="FFECEB"/>
            </a:solidFill>
            <a:ln>
              <a:noFill/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6619536" y="2059717"/>
              <a:ext cx="1915494" cy="4269646"/>
            </a:xfrm>
            <a:custGeom>
              <a:avLst/>
              <a:gdLst/>
              <a:ahLst/>
              <a:cxnLst/>
              <a:rect l="0" t="0" r="0" b="0"/>
              <a:pathLst>
                <a:path w="1779372" h="2780270">
                  <a:moveTo>
                    <a:pt x="1668162" y="0"/>
                  </a:moveTo>
                  <a:cubicBezTo>
                    <a:pt x="1729582" y="0"/>
                    <a:pt x="1779372" y="49790"/>
                    <a:pt x="1779372" y="111210"/>
                  </a:cubicBezTo>
                  <a:moveTo>
                    <a:pt x="0" y="111210"/>
                  </a:moveTo>
                  <a:lnTo>
                    <a:pt x="0" y="2669059"/>
                  </a:lnTo>
                  <a:moveTo>
                    <a:pt x="1779372" y="2669059"/>
                  </a:moveTo>
                  <a:lnTo>
                    <a:pt x="1779372" y="111210"/>
                  </a:lnTo>
                  <a:moveTo>
                    <a:pt x="1668162" y="2780270"/>
                  </a:moveTo>
                  <a:lnTo>
                    <a:pt x="111210" y="2780270"/>
                  </a:lnTo>
                  <a:moveTo>
                    <a:pt x="111210" y="0"/>
                  </a:moveTo>
                  <a:lnTo>
                    <a:pt x="1668162" y="0"/>
                  </a:lnTo>
                  <a:moveTo>
                    <a:pt x="0" y="111210"/>
                  </a:moveTo>
                  <a:cubicBezTo>
                    <a:pt x="0" y="49790"/>
                    <a:pt x="49790" y="0"/>
                    <a:pt x="111210" y="0"/>
                  </a:cubicBezTo>
                  <a:moveTo>
                    <a:pt x="111210" y="2780270"/>
                  </a:moveTo>
                  <a:cubicBezTo>
                    <a:pt x="49790" y="2780270"/>
                    <a:pt x="0" y="2730479"/>
                    <a:pt x="0" y="2669059"/>
                  </a:cubicBezTo>
                  <a:moveTo>
                    <a:pt x="1668162" y="2780270"/>
                  </a:moveTo>
                  <a:cubicBezTo>
                    <a:pt x="1729582" y="2780270"/>
                    <a:pt x="1779372" y="2730479"/>
                    <a:pt x="1779372" y="2669059"/>
                  </a:cubicBezTo>
                </a:path>
              </a:pathLst>
            </a:custGeom>
            <a:noFill/>
            <a:ln w="13901">
              <a:solidFill>
                <a:srgbClr val="E55753"/>
              </a:solidFill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6875387" y="2170928"/>
              <a:ext cx="1333908" cy="1390950"/>
            </a:xfrm>
            <a:custGeom>
              <a:avLst/>
              <a:gdLst/>
              <a:ahLst/>
              <a:cxnLst/>
              <a:rect l="0" t="0" r="0" b="0"/>
              <a:pathLst>
                <a:path w="1333908" h="1390950">
                  <a:moveTo>
                    <a:pt x="1333908" y="873458"/>
                  </a:moveTo>
                  <a:cubicBezTo>
                    <a:pt x="1228379" y="1198268"/>
                    <a:pt x="894626" y="1390950"/>
                    <a:pt x="560576" y="1319951"/>
                  </a:cubicBezTo>
                  <a:cubicBezTo>
                    <a:pt x="226517" y="1248943"/>
                    <a:pt x="0" y="937164"/>
                    <a:pt x="35698" y="597517"/>
                  </a:cubicBezTo>
                  <a:cubicBezTo>
                    <a:pt x="71397" y="257870"/>
                    <a:pt x="357783" y="0"/>
                    <a:pt x="699302" y="0"/>
                  </a:cubicBezTo>
                  <a:lnTo>
                    <a:pt x="699302" y="111210"/>
                  </a:lnTo>
                  <a:cubicBezTo>
                    <a:pt x="414705" y="111210"/>
                    <a:pt x="176046" y="326097"/>
                    <a:pt x="146297" y="609138"/>
                  </a:cubicBezTo>
                  <a:cubicBezTo>
                    <a:pt x="116548" y="892179"/>
                    <a:pt x="305320" y="1151995"/>
                    <a:pt x="583699" y="1211169"/>
                  </a:cubicBezTo>
                  <a:cubicBezTo>
                    <a:pt x="862078" y="1270342"/>
                    <a:pt x="1140198" y="1109763"/>
                    <a:pt x="1228147" y="839094"/>
                  </a:cubicBezTo>
                  <a:lnTo>
                    <a:pt x="1333908" y="873458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6875385" y="2170928"/>
              <a:ext cx="1333914" cy="1390954"/>
            </a:xfrm>
            <a:custGeom>
              <a:avLst/>
              <a:gdLst/>
              <a:ahLst/>
              <a:cxnLst/>
              <a:rect l="0" t="0" r="0" b="0"/>
              <a:pathLst>
                <a:path w="1333914" h="1390954">
                  <a:moveTo>
                    <a:pt x="1333914" y="873460"/>
                  </a:moveTo>
                  <a:cubicBezTo>
                    <a:pt x="1228379" y="1198264"/>
                    <a:pt x="894631" y="1390954"/>
                    <a:pt x="560575" y="1319948"/>
                  </a:cubicBezTo>
                  <a:cubicBezTo>
                    <a:pt x="226520" y="1248942"/>
                    <a:pt x="0" y="937164"/>
                    <a:pt x="35698" y="597516"/>
                  </a:cubicBezTo>
                  <a:cubicBezTo>
                    <a:pt x="71396" y="257869"/>
                    <a:pt x="357788" y="0"/>
                    <a:pt x="699307" y="0"/>
                  </a:cubicBezTo>
                  <a:moveTo>
                    <a:pt x="699307" y="111210"/>
                  </a:moveTo>
                  <a:cubicBezTo>
                    <a:pt x="414708" y="111210"/>
                    <a:pt x="176048" y="326101"/>
                    <a:pt x="146299" y="609141"/>
                  </a:cubicBezTo>
                  <a:cubicBezTo>
                    <a:pt x="116551" y="892181"/>
                    <a:pt x="305317" y="1151996"/>
                    <a:pt x="583697" y="1211167"/>
                  </a:cubicBezTo>
                  <a:cubicBezTo>
                    <a:pt x="862077" y="1270339"/>
                    <a:pt x="1140200" y="1109764"/>
                    <a:pt x="1228146" y="839094"/>
                  </a:cubicBezTo>
                </a:path>
              </a:pathLst>
            </a:custGeom>
            <a:noFill/>
            <a:ln w="13901">
              <a:solidFill>
                <a:srgbClr val="969696"/>
              </a:solidFill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7574692" y="2170928"/>
              <a:ext cx="700609" cy="873458"/>
            </a:xfrm>
            <a:custGeom>
              <a:avLst/>
              <a:gdLst/>
              <a:ahLst/>
              <a:cxnLst/>
              <a:rect l="0" t="0" r="0" b="0"/>
              <a:pathLst>
                <a:path w="700609" h="873458">
                  <a:moveTo>
                    <a:pt x="0" y="0"/>
                  </a:moveTo>
                  <a:cubicBezTo>
                    <a:pt x="213598" y="0"/>
                    <a:pt x="414278" y="102258"/>
                    <a:pt x="539826" y="275052"/>
                  </a:cubicBezTo>
                  <a:cubicBezTo>
                    <a:pt x="665374" y="447855"/>
                    <a:pt x="700609" y="670323"/>
                    <a:pt x="634605" y="873458"/>
                  </a:cubicBezTo>
                  <a:lnTo>
                    <a:pt x="528835" y="839094"/>
                  </a:lnTo>
                  <a:cubicBezTo>
                    <a:pt x="583838" y="669813"/>
                    <a:pt x="554478" y="484425"/>
                    <a:pt x="449856" y="340425"/>
                  </a:cubicBezTo>
                  <a:cubicBezTo>
                    <a:pt x="345235" y="196426"/>
                    <a:pt x="177992" y="111210"/>
                    <a:pt x="0" y="111210"/>
                  </a:cubicBezTo>
                  <a:lnTo>
                    <a:pt x="0" y="0"/>
                  </a:lnTo>
                </a:path>
              </a:pathLst>
            </a:custGeom>
            <a:solidFill>
              <a:srgbClr val="FFA09D"/>
            </a:solidFill>
            <a:ln>
              <a:noFill/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7574692" y="2170928"/>
              <a:ext cx="700611" cy="873460"/>
            </a:xfrm>
            <a:custGeom>
              <a:avLst/>
              <a:gdLst/>
              <a:ahLst/>
              <a:cxnLst/>
              <a:rect l="0" t="0" r="0" b="0"/>
              <a:pathLst>
                <a:path w="700611" h="873460">
                  <a:moveTo>
                    <a:pt x="0" y="0"/>
                  </a:moveTo>
                  <a:cubicBezTo>
                    <a:pt x="213594" y="0"/>
                    <a:pt x="414280" y="102254"/>
                    <a:pt x="539828" y="275056"/>
                  </a:cubicBezTo>
                  <a:cubicBezTo>
                    <a:pt x="665376" y="447858"/>
                    <a:pt x="700611" y="670320"/>
                    <a:pt x="634606" y="873460"/>
                  </a:cubicBezTo>
                  <a:lnTo>
                    <a:pt x="528838" y="839094"/>
                  </a:lnTo>
                  <a:cubicBezTo>
                    <a:pt x="583842" y="669810"/>
                    <a:pt x="554480" y="484425"/>
                    <a:pt x="449857" y="340424"/>
                  </a:cubicBezTo>
                  <a:cubicBezTo>
                    <a:pt x="345233" y="196422"/>
                    <a:pt x="177995" y="111210"/>
                    <a:pt x="0" y="111210"/>
                  </a:cubicBezTo>
                  <a:close/>
                </a:path>
              </a:pathLst>
            </a:custGeom>
            <a:noFill/>
            <a:ln w="13901">
              <a:solidFill>
                <a:srgbClr val="E55753"/>
              </a:solidFill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108948" y="1332213"/>
              <a:ext cx="2926134" cy="2419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 defTabSz="457200"/>
              <a:r>
                <a:rPr b="1">
                  <a:solidFill>
                    <a:srgbClr val="484848"/>
                  </a:solidFill>
                  <a:latin typeface="Roboto"/>
                </a:rPr>
                <a:t>Presentation Content Breakdown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387229" y="2722348"/>
              <a:ext cx="364179" cy="2419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 defTabSz="457200"/>
              <a:r>
                <a:rPr dirty="0">
                  <a:solidFill>
                    <a:srgbClr val="7F64EA"/>
                  </a:solidFill>
                  <a:latin typeface="Roboto"/>
                </a:rPr>
                <a:t>25%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389023" y="2722348"/>
              <a:ext cx="364179" cy="2419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 defTabSz="457200"/>
              <a:r>
                <a:rPr lang="en-US" dirty="0">
                  <a:solidFill>
                    <a:srgbClr val="BA5DE5"/>
                  </a:solidFill>
                  <a:latin typeface="Roboto"/>
                </a:rPr>
                <a:t>2</a:t>
              </a:r>
              <a:r>
                <a:rPr dirty="0">
                  <a:solidFill>
                    <a:srgbClr val="BA5DE5"/>
                  </a:solidFill>
                  <a:latin typeface="Roboto"/>
                </a:rPr>
                <a:t>5%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5390818" y="2722348"/>
              <a:ext cx="364179" cy="2419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 defTabSz="457200"/>
              <a:r>
                <a:rPr dirty="0">
                  <a:solidFill>
                    <a:srgbClr val="DE58A9"/>
                  </a:solidFill>
                  <a:latin typeface="Roboto"/>
                </a:rPr>
                <a:t>2</a:t>
              </a:r>
              <a:r>
                <a:rPr lang="en-US" dirty="0">
                  <a:solidFill>
                    <a:srgbClr val="DE58A9"/>
                  </a:solidFill>
                  <a:latin typeface="Roboto"/>
                </a:rPr>
                <a:t>5</a:t>
              </a:r>
              <a:r>
                <a:rPr dirty="0">
                  <a:solidFill>
                    <a:srgbClr val="DE58A9"/>
                  </a:solidFill>
                  <a:latin typeface="Roboto"/>
                </a:rPr>
                <a:t>%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392612" y="2722348"/>
              <a:ext cx="364179" cy="2419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 defTabSz="457200"/>
              <a:r>
                <a:rPr lang="en-US" dirty="0">
                  <a:solidFill>
                    <a:srgbClr val="E55753"/>
                  </a:solidFill>
                  <a:latin typeface="Roboto"/>
                </a:rPr>
                <a:t>25</a:t>
              </a:r>
              <a:r>
                <a:rPr dirty="0">
                  <a:solidFill>
                    <a:srgbClr val="E55753"/>
                  </a:solidFill>
                  <a:latin typeface="Roboto"/>
                </a:rPr>
                <a:t>%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051973" y="3635203"/>
              <a:ext cx="1034663" cy="37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 defTabSz="457200"/>
              <a:r>
                <a:rPr sz="1400" b="1" dirty="0">
                  <a:solidFill>
                    <a:srgbClr val="7F64EA"/>
                  </a:solidFill>
                  <a:latin typeface="Roboto"/>
                </a:rPr>
                <a:t>Fatima Naveed</a:t>
              </a:r>
              <a:r>
                <a:rPr sz="1400" dirty="0">
                  <a:solidFill>
                    <a:srgbClr val="7F64EA"/>
                  </a:solidFill>
                  <a:latin typeface="Roboto"/>
                </a:rPr>
                <a:t>
Presentation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3135603" y="3635203"/>
              <a:ext cx="870923" cy="37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 defTabSz="457200"/>
              <a:r>
                <a:rPr sz="1400" b="1" dirty="0">
                  <a:solidFill>
                    <a:srgbClr val="BA5DE5"/>
                  </a:solidFill>
                  <a:latin typeface="Roboto"/>
                </a:rPr>
                <a:t>Qurat Ul Ain</a:t>
              </a:r>
              <a:r>
                <a:rPr sz="1400" dirty="0">
                  <a:solidFill>
                    <a:srgbClr val="BA5DE5"/>
                  </a:solidFill>
                  <a:latin typeface="Roboto"/>
                </a:rPr>
                <a:t>
Presentation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137436" y="3635203"/>
              <a:ext cx="870923" cy="37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 defTabSz="457200"/>
              <a:r>
                <a:rPr sz="1400" b="1" dirty="0">
                  <a:solidFill>
                    <a:srgbClr val="DE58A9"/>
                  </a:solidFill>
                  <a:latin typeface="Roboto"/>
                </a:rPr>
                <a:t>Aliza Fatima</a:t>
              </a:r>
              <a:r>
                <a:rPr sz="1400" dirty="0">
                  <a:solidFill>
                    <a:srgbClr val="DE58A9"/>
                  </a:solidFill>
                  <a:latin typeface="Roboto"/>
                </a:rPr>
                <a:t>
Presentation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139222" y="3635203"/>
              <a:ext cx="870923" cy="37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 defTabSz="457200"/>
              <a:r>
                <a:rPr sz="1400" b="1" dirty="0">
                  <a:solidFill>
                    <a:srgbClr val="E55753"/>
                  </a:solidFill>
                  <a:latin typeface="Roboto"/>
                </a:rPr>
                <a:t>Maryam</a:t>
              </a:r>
              <a:r>
                <a:rPr sz="1400" dirty="0">
                  <a:solidFill>
                    <a:srgbClr val="E55753"/>
                  </a:solidFill>
                  <a:latin typeface="Roboto"/>
                </a:rPr>
                <a:t>
Presentation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2802829" y="4505582"/>
              <a:ext cx="1304833" cy="56450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defTabSz="457200"/>
              <a:r>
                <a:rPr lang="en-US" sz="1600" b="1" dirty="0">
                  <a:solidFill>
                    <a:srgbClr val="A455C9"/>
                  </a:solidFill>
                  <a:latin typeface="Roboto"/>
                </a:rPr>
                <a:t>5</a:t>
              </a:r>
              <a:r>
                <a:rPr lang="en-US" sz="1600" b="1" dirty="0">
                  <a:solidFill>
                    <a:srgbClr val="8064A2">
                      <a:lumMod val="75000"/>
                    </a:srgbClr>
                  </a:solidFill>
                  <a:latin typeface="Roboto"/>
                </a:rPr>
                <a:t>. </a:t>
              </a:r>
              <a:r>
                <a:rPr lang="en-US" sz="1600" b="1" dirty="0">
                  <a:solidFill>
                    <a:srgbClr val="8064A2">
                      <a:lumMod val="75000"/>
                    </a:srgbClr>
                  </a:solidFill>
                  <a:latin typeface="Calibri"/>
                </a:rPr>
                <a:t> STRUCTURE</a:t>
              </a:r>
            </a:p>
            <a:p>
              <a:pPr defTabSz="457200"/>
              <a:r>
                <a:rPr lang="en-US" sz="1600" b="1" dirty="0">
                  <a:solidFill>
                    <a:srgbClr val="8064A2">
                      <a:lumMod val="75000"/>
                    </a:srgbClr>
                  </a:solidFill>
                  <a:latin typeface="Calibri"/>
                </a:rPr>
                <a:t>6. MECHANISM</a:t>
              </a:r>
            </a:p>
            <a:p>
              <a:pPr algn="ctr" defTabSz="457200"/>
              <a:endParaRPr sz="1000" dirty="0">
                <a:solidFill>
                  <a:srgbClr val="A455C9"/>
                </a:solidFill>
                <a:latin typeface="Roboto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679622" y="4464650"/>
              <a:ext cx="1516142" cy="10752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marL="228600" indent="-228600" algn="ctr" defTabSz="457200">
                <a:buFontTx/>
                <a:buAutoNum type="arabicPeriod"/>
              </a:pPr>
              <a:r>
                <a:rPr lang="en-US" sz="1400" b="1" dirty="0">
                  <a:solidFill>
                    <a:srgbClr val="7862D1"/>
                  </a:solidFill>
                  <a:latin typeface="Roboto"/>
                </a:rPr>
                <a:t>BACKGROUND</a:t>
              </a:r>
            </a:p>
            <a:p>
              <a:pPr algn="ctr" defTabSz="457200"/>
              <a:r>
                <a:rPr lang="en-US" sz="1400" b="1" dirty="0">
                  <a:solidFill>
                    <a:srgbClr val="7862D1"/>
                  </a:solidFill>
                  <a:latin typeface="Roboto"/>
                </a:rPr>
                <a:t>2. INTRODUCTION</a:t>
              </a:r>
            </a:p>
            <a:p>
              <a:pPr algn="ctr" defTabSz="457200"/>
              <a:r>
                <a:rPr lang="en-US" sz="1400" b="1" dirty="0">
                  <a:solidFill>
                    <a:srgbClr val="7862D1"/>
                  </a:solidFill>
                  <a:latin typeface="Roboto"/>
                </a:rPr>
                <a:t>3. HISTORY &amp; DISCOVERY</a:t>
              </a:r>
            </a:p>
            <a:p>
              <a:pPr algn="ctr" defTabSz="457200"/>
              <a:r>
                <a:rPr lang="en-US" sz="1400" b="1" dirty="0">
                  <a:solidFill>
                    <a:srgbClr val="7862D1"/>
                  </a:solidFill>
                  <a:latin typeface="Roboto"/>
                </a:rPr>
                <a:t>4. PRINCIPLE </a:t>
              </a:r>
            </a:p>
            <a:p>
              <a:pPr marL="228600" indent="-228600" algn="ctr" defTabSz="457200">
                <a:buFontTx/>
                <a:buAutoNum type="arabicPeriod"/>
              </a:pPr>
              <a:endParaRPr sz="1000" dirty="0">
                <a:solidFill>
                  <a:srgbClr val="7862D1"/>
                </a:solidFill>
                <a:latin typeface="Roboto"/>
              </a:endParaRPr>
            </a:p>
          </p:txBody>
        </p:sp>
        <p:sp>
          <p:nvSpPr>
            <p:cNvPr id="40" name="Rounded Rectangle 4">
              <a:extLst>
                <a:ext uri="{FF2B5EF4-FFF2-40B4-BE49-F238E27FC236}">
                  <a16:creationId xmlns:a16="http://schemas.microsoft.com/office/drawing/2014/main" xmlns="" id="{78682937-3EAC-C810-8B8E-85734A35A827}"/>
                </a:ext>
              </a:extLst>
            </p:cNvPr>
            <p:cNvSpPr/>
            <p:nvPr/>
          </p:nvSpPr>
          <p:spPr>
            <a:xfrm>
              <a:off x="2898531" y="2115323"/>
              <a:ext cx="1334529" cy="1334529"/>
            </a:xfrm>
            <a:custGeom>
              <a:avLst/>
              <a:gdLst/>
              <a:ahLst/>
              <a:cxnLst/>
              <a:rect l="0" t="0" r="0" b="0"/>
              <a:pathLst>
                <a:path w="1334529" h="1334529">
                  <a:moveTo>
                    <a:pt x="1334529" y="667264"/>
                  </a:moveTo>
                  <a:cubicBezTo>
                    <a:pt x="1334529" y="1035785"/>
                    <a:pt x="1035785" y="1334529"/>
                    <a:pt x="667264" y="1334529"/>
                  </a:cubicBezTo>
                  <a:cubicBezTo>
                    <a:pt x="298744" y="1334529"/>
                    <a:pt x="0" y="1035785"/>
                    <a:pt x="0" y="667264"/>
                  </a:cubicBezTo>
                  <a:cubicBezTo>
                    <a:pt x="0" y="298744"/>
                    <a:pt x="298744" y="0"/>
                    <a:pt x="667264" y="0"/>
                  </a:cubicBezTo>
                  <a:moveTo>
                    <a:pt x="667264" y="111210"/>
                  </a:moveTo>
                  <a:cubicBezTo>
                    <a:pt x="360164" y="111210"/>
                    <a:pt x="111210" y="360164"/>
                    <a:pt x="111210" y="667264"/>
                  </a:cubicBezTo>
                  <a:cubicBezTo>
                    <a:pt x="111210" y="974365"/>
                    <a:pt x="360164" y="1223318"/>
                    <a:pt x="667264" y="1223318"/>
                  </a:cubicBezTo>
                  <a:cubicBezTo>
                    <a:pt x="974365" y="1223318"/>
                    <a:pt x="1223318" y="974365"/>
                    <a:pt x="1223318" y="667264"/>
                  </a:cubicBezTo>
                </a:path>
              </a:pathLst>
            </a:custGeom>
            <a:noFill/>
            <a:ln w="13901">
              <a:solidFill>
                <a:srgbClr val="969696"/>
              </a:solidFill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1" name="Rounded Rectangle 6">
              <a:extLst>
                <a:ext uri="{FF2B5EF4-FFF2-40B4-BE49-F238E27FC236}">
                  <a16:creationId xmlns:a16="http://schemas.microsoft.com/office/drawing/2014/main" xmlns="" id="{5C31229E-A6F0-AB54-1FF8-CDAEB7E38A7E}"/>
                </a:ext>
              </a:extLst>
            </p:cNvPr>
            <p:cNvSpPr/>
            <p:nvPr/>
          </p:nvSpPr>
          <p:spPr>
            <a:xfrm>
              <a:off x="3554431" y="2120767"/>
              <a:ext cx="667264" cy="667264"/>
            </a:xfrm>
            <a:custGeom>
              <a:avLst/>
              <a:gdLst/>
              <a:ahLst/>
              <a:cxnLst/>
              <a:rect l="0" t="0" r="0" b="0"/>
              <a:pathLst>
                <a:path w="667264" h="667264">
                  <a:moveTo>
                    <a:pt x="0" y="0"/>
                  </a:moveTo>
                  <a:cubicBezTo>
                    <a:pt x="368520" y="0"/>
                    <a:pt x="667264" y="298744"/>
                    <a:pt x="667264" y="667264"/>
                  </a:cubicBezTo>
                  <a:lnTo>
                    <a:pt x="556054" y="667264"/>
                  </a:lnTo>
                  <a:cubicBezTo>
                    <a:pt x="556054" y="360164"/>
                    <a:pt x="307100" y="111210"/>
                    <a:pt x="0" y="11121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13901">
              <a:solidFill>
                <a:srgbClr val="7F64EA"/>
              </a:solidFill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xmlns="" id="{61747780-1816-4D55-1D7B-CC128B0B1B84}"/>
                </a:ext>
              </a:extLst>
            </p:cNvPr>
            <p:cNvSpPr txBox="1"/>
            <p:nvPr/>
          </p:nvSpPr>
          <p:spPr>
            <a:xfrm>
              <a:off x="4794423" y="4558373"/>
              <a:ext cx="1779372" cy="99461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defTabSz="457200"/>
              <a:r>
                <a:rPr lang="en-US" sz="1600" b="1" dirty="0">
                  <a:solidFill>
                    <a:srgbClr val="FF33CC"/>
                  </a:solidFill>
                  <a:latin typeface="Roboto"/>
                </a:rPr>
                <a:t>7. </a:t>
              </a:r>
              <a:r>
                <a:rPr lang="en-US" sz="1600" b="1" dirty="0">
                  <a:solidFill>
                    <a:srgbClr val="FF33CC"/>
                  </a:solidFill>
                  <a:latin typeface="Calibri"/>
                </a:rPr>
                <a:t>DELIVERY METHODS</a:t>
              </a:r>
            </a:p>
            <a:p>
              <a:pPr defTabSz="457200"/>
              <a:r>
                <a:rPr lang="en-US" sz="1600" b="1" dirty="0">
                  <a:solidFill>
                    <a:srgbClr val="FF33CC"/>
                  </a:solidFill>
                  <a:latin typeface="Calibri"/>
                </a:rPr>
                <a:t>8. APPLICATIONS</a:t>
              </a:r>
            </a:p>
            <a:p>
              <a:pPr defTabSz="457200"/>
              <a:r>
                <a:rPr lang="en-US" sz="1600" b="1" dirty="0">
                  <a:solidFill>
                    <a:srgbClr val="FF33CC"/>
                  </a:solidFill>
                  <a:latin typeface="Calibri"/>
                </a:rPr>
                <a:t>9. CLINICAL TRIALS</a:t>
              </a:r>
            </a:p>
            <a:p>
              <a:pPr defTabSz="457200"/>
              <a:endParaRPr lang="en-US" sz="1600" dirty="0">
                <a:solidFill>
                  <a:srgbClr val="8064A2">
                    <a:lumMod val="75000"/>
                  </a:srgbClr>
                </a:solidFill>
                <a:latin typeface="Calibri"/>
              </a:endParaRPr>
            </a:p>
            <a:p>
              <a:pPr algn="ctr" defTabSz="457200"/>
              <a:endParaRPr sz="1000" dirty="0">
                <a:solidFill>
                  <a:srgbClr val="A455C9"/>
                </a:solidFill>
                <a:latin typeface="Roboto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xmlns="" id="{1657C944-913F-21E1-8751-EF80061BB609}"/>
                </a:ext>
              </a:extLst>
            </p:cNvPr>
            <p:cNvSpPr txBox="1"/>
            <p:nvPr/>
          </p:nvSpPr>
          <p:spPr>
            <a:xfrm>
              <a:off x="6685006" y="4604539"/>
              <a:ext cx="1850024" cy="16397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defTabSz="457200"/>
              <a:r>
                <a:rPr lang="en-US" sz="1600" b="1" dirty="0">
                  <a:solidFill>
                    <a:srgbClr val="C00000"/>
                  </a:solidFill>
                  <a:latin typeface="Roboto"/>
                </a:rPr>
                <a:t>10. </a:t>
              </a:r>
              <a:r>
                <a:rPr lang="en-US" sz="1600" b="1" dirty="0">
                  <a:solidFill>
                    <a:srgbClr val="C00000"/>
                  </a:solidFill>
                  <a:latin typeface="Calibri"/>
                </a:rPr>
                <a:t>LIMITATIONS &amp; CHALLENGES</a:t>
              </a:r>
            </a:p>
            <a:p>
              <a:pPr defTabSz="457200"/>
              <a:r>
                <a:rPr lang="en-US" sz="1600" b="1" dirty="0">
                  <a:solidFill>
                    <a:srgbClr val="C00000"/>
                  </a:solidFill>
                  <a:latin typeface="Calibri"/>
                </a:rPr>
                <a:t>11. ELSI</a:t>
              </a:r>
            </a:p>
            <a:p>
              <a:pPr defTabSz="457200"/>
              <a:r>
                <a:rPr lang="en-US" sz="1600" b="1" dirty="0">
                  <a:solidFill>
                    <a:srgbClr val="C00000"/>
                  </a:solidFill>
                  <a:latin typeface="Calibri"/>
                </a:rPr>
                <a:t>12. NEXT GENERATION SYSTEM</a:t>
              </a:r>
            </a:p>
            <a:p>
              <a:pPr defTabSz="457200"/>
              <a:r>
                <a:rPr lang="en-US" sz="1600" b="1" dirty="0">
                  <a:solidFill>
                    <a:srgbClr val="C00000"/>
                  </a:solidFill>
                  <a:latin typeface="Calibri"/>
                </a:rPr>
                <a:t>13. FUTURE ASPECTS</a:t>
              </a:r>
            </a:p>
            <a:p>
              <a:pPr defTabSz="457200"/>
              <a:endParaRPr lang="en-US" sz="1600" b="1" dirty="0">
                <a:solidFill>
                  <a:srgbClr val="8064A2">
                    <a:lumMod val="75000"/>
                  </a:srgbClr>
                </a:solidFill>
                <a:latin typeface="Calibri"/>
              </a:endParaRPr>
            </a:p>
            <a:p>
              <a:pPr algn="ctr" defTabSz="457200"/>
              <a:endParaRPr sz="1000" dirty="0">
                <a:solidFill>
                  <a:srgbClr val="A455C9"/>
                </a:solidFill>
                <a:latin typeface="Roboto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E07F388-67B2-982B-F9B8-389705CBC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INTRODUCTION: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CFBD527-9E07-12F4-D95E-D577E4B3DC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025" y="1922464"/>
            <a:ext cx="8986838" cy="3760891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CRISPR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(Clustered Regularly Interspaced Short Palindromic Repeats):</a:t>
            </a:r>
          </a:p>
          <a:p>
            <a:r>
              <a:rPr lang="en-US" dirty="0"/>
              <a:t> </a:t>
            </a:r>
            <a:r>
              <a:rPr lang="en-US" dirty="0" smtClean="0"/>
              <a:t>A </a:t>
            </a:r>
            <a:r>
              <a:rPr lang="en-US" dirty="0"/>
              <a:t>gene editing tool </a:t>
            </a:r>
            <a:endParaRPr lang="en-US" dirty="0" smtClean="0"/>
          </a:p>
          <a:p>
            <a:r>
              <a:rPr lang="en-US" dirty="0" smtClean="0"/>
              <a:t>First identified in bacteria . </a:t>
            </a:r>
          </a:p>
          <a:p>
            <a:r>
              <a:rPr lang="en-US" dirty="0" smtClean="0"/>
              <a:t>It is a type of Adaptive immune system in bacteria </a:t>
            </a:r>
          </a:p>
          <a:p>
            <a:r>
              <a:rPr lang="en-US" dirty="0" smtClean="0"/>
              <a:t>CRISPR system consist of </a:t>
            </a:r>
            <a:r>
              <a:rPr lang="en-US" dirty="0" err="1" smtClean="0"/>
              <a:t>crispr</a:t>
            </a:r>
            <a:r>
              <a:rPr lang="en-US" dirty="0" smtClean="0"/>
              <a:t>  locus in bacterial genome . </a:t>
            </a:r>
          </a:p>
          <a:p>
            <a:r>
              <a:rPr lang="en-US" dirty="0" err="1" smtClean="0"/>
              <a:t>Cas</a:t>
            </a:r>
            <a:r>
              <a:rPr lang="en-US" dirty="0" smtClean="0"/>
              <a:t> -9 is an enzyme . </a:t>
            </a:r>
            <a:endParaRPr lang="en-US" dirty="0"/>
          </a:p>
          <a:p>
            <a:pPr lvl="4"/>
            <a:endParaRPr lang="en-US" dirty="0"/>
          </a:p>
        </p:txBody>
      </p:sp>
      <p:pic>
        <p:nvPicPr>
          <p:cNvPr id="1027" name="Picture 3" descr="Anti-CRISPR proteins decrease off-target side effects of CRISPR-Cas9 -  Berkeley News">
            <a:extLst>
              <a:ext uri="{FF2B5EF4-FFF2-40B4-BE49-F238E27FC236}">
                <a16:creationId xmlns:a16="http://schemas.microsoft.com/office/drawing/2014/main" xmlns="" id="{5B21AE1D-2734-9A1C-55C0-586D75F9BE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10" b="3016"/>
          <a:stretch>
            <a:fillRect/>
          </a:stretch>
        </p:blipFill>
        <p:spPr bwMode="auto">
          <a:xfrm>
            <a:off x="9086850" y="3057525"/>
            <a:ext cx="3105150" cy="3286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9481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A0BEE6A-17B2-D661-5009-F840D8955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HISTORY &amp; DISCOVERY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5798F97C-3CE8-2384-AC4F-C71C42B18139}"/>
              </a:ext>
            </a:extLst>
          </p:cNvPr>
          <p:cNvGrpSpPr/>
          <p:nvPr/>
        </p:nvGrpSpPr>
        <p:grpSpPr>
          <a:xfrm>
            <a:off x="1543050" y="1543049"/>
            <a:ext cx="8972550" cy="4614863"/>
            <a:chOff x="613948" y="1535702"/>
            <a:chExt cx="7358316" cy="3519086"/>
          </a:xfrm>
        </p:grpSpPr>
        <p:sp>
          <p:nvSpPr>
            <p:cNvPr id="4" name="Rounded Rectangle 1">
              <a:extLst>
                <a:ext uri="{FF2B5EF4-FFF2-40B4-BE49-F238E27FC236}">
                  <a16:creationId xmlns:a16="http://schemas.microsoft.com/office/drawing/2014/main" xmlns="" id="{ECEB73FB-3B50-09C9-26F3-178436D7F0D4}"/>
                </a:ext>
              </a:extLst>
            </p:cNvPr>
            <p:cNvSpPr/>
            <p:nvPr/>
          </p:nvSpPr>
          <p:spPr>
            <a:xfrm>
              <a:off x="925805" y="2877157"/>
              <a:ext cx="746090" cy="452175"/>
            </a:xfrm>
            <a:custGeom>
              <a:avLst/>
              <a:gdLst/>
              <a:ahLst/>
              <a:cxnLst/>
              <a:rect l="0" t="0" r="0" b="0"/>
              <a:pathLst>
                <a:path w="746090" h="452175">
                  <a:moveTo>
                    <a:pt x="746090" y="0"/>
                  </a:moveTo>
                  <a:lnTo>
                    <a:pt x="474784" y="90435"/>
                  </a:lnTo>
                  <a:lnTo>
                    <a:pt x="474784" y="452175"/>
                  </a:lnTo>
                  <a:lnTo>
                    <a:pt x="0" y="452175"/>
                  </a:lnTo>
                  <a:lnTo>
                    <a:pt x="0" y="0"/>
                  </a:lnTo>
                  <a:lnTo>
                    <a:pt x="746090" y="0"/>
                  </a:lnTo>
                </a:path>
              </a:pathLst>
            </a:custGeom>
            <a:gradFill rotWithShape="1">
              <a:gsLst>
                <a:gs pos="0">
                  <a:srgbClr val="9CC2FF"/>
                </a:gs>
                <a:gs pos="100000">
                  <a:srgbClr val="4F92FF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 sz="1200"/>
            </a:p>
          </p:txBody>
        </p:sp>
        <p:sp>
          <p:nvSpPr>
            <p:cNvPr id="6" name="Rounded Rectangle 2">
              <a:extLst>
                <a:ext uri="{FF2B5EF4-FFF2-40B4-BE49-F238E27FC236}">
                  <a16:creationId xmlns:a16="http://schemas.microsoft.com/office/drawing/2014/main" xmlns="" id="{493A2110-B97B-31A9-077A-2C9919D1B972}"/>
                </a:ext>
              </a:extLst>
            </p:cNvPr>
            <p:cNvSpPr/>
            <p:nvPr/>
          </p:nvSpPr>
          <p:spPr>
            <a:xfrm>
              <a:off x="925805" y="2877157"/>
              <a:ext cx="746090" cy="452175"/>
            </a:xfrm>
            <a:custGeom>
              <a:avLst/>
              <a:gdLst/>
              <a:ahLst/>
              <a:cxnLst/>
              <a:rect l="0" t="0" r="0" b="0"/>
              <a:pathLst>
                <a:path w="746090" h="452175">
                  <a:moveTo>
                    <a:pt x="746090" y="0"/>
                  </a:moveTo>
                  <a:lnTo>
                    <a:pt x="474784" y="90435"/>
                  </a:lnTo>
                  <a:lnTo>
                    <a:pt x="474784" y="452175"/>
                  </a:lnTo>
                  <a:lnTo>
                    <a:pt x="0" y="452175"/>
                  </a:lnTo>
                  <a:lnTo>
                    <a:pt x="0" y="0"/>
                  </a:lnTo>
                  <a:lnTo>
                    <a:pt x="746090" y="0"/>
                  </a:lnTo>
                  <a:close/>
                </a:path>
              </a:pathLst>
            </a:custGeom>
            <a:noFill/>
            <a:ln w="11304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200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xmlns="" id="{18717855-CE55-B41B-7060-858213411DF7}"/>
                </a:ext>
              </a:extLst>
            </p:cNvPr>
            <p:cNvGrpSpPr/>
            <p:nvPr/>
          </p:nvGrpSpPr>
          <p:grpSpPr>
            <a:xfrm>
              <a:off x="1400589" y="2877157"/>
              <a:ext cx="746090" cy="542610"/>
              <a:chOff x="881742" y="1718268"/>
              <a:chExt cx="746090" cy="542610"/>
            </a:xfrm>
          </p:grpSpPr>
          <p:sp>
            <p:nvSpPr>
              <p:cNvPr id="126" name="Rounded Rectangle 3">
                <a:extLst>
                  <a:ext uri="{FF2B5EF4-FFF2-40B4-BE49-F238E27FC236}">
                    <a16:creationId xmlns:a16="http://schemas.microsoft.com/office/drawing/2014/main" xmlns="" id="{19399964-137B-6D78-E3D4-D58972B396E7}"/>
                  </a:ext>
                </a:extLst>
              </p:cNvPr>
              <p:cNvSpPr/>
              <p:nvPr/>
            </p:nvSpPr>
            <p:spPr>
              <a:xfrm>
                <a:off x="881742" y="1718268"/>
                <a:ext cx="271305" cy="90435"/>
              </a:xfrm>
              <a:custGeom>
                <a:avLst/>
                <a:gdLst/>
                <a:ahLst/>
                <a:cxnLst/>
                <a:rect l="0" t="0" r="0" b="0"/>
                <a:pathLst>
                  <a:path w="271305" h="90435">
                    <a:moveTo>
                      <a:pt x="271305" y="0"/>
                    </a:moveTo>
                    <a:lnTo>
                      <a:pt x="271305" y="90435"/>
                    </a:lnTo>
                    <a:lnTo>
                      <a:pt x="0" y="90435"/>
                    </a:lnTo>
                    <a:lnTo>
                      <a:pt x="271305" y="0"/>
                    </a:lnTo>
                  </a:path>
                </a:pathLst>
              </a:custGeom>
              <a:gradFill rotWithShape="1">
                <a:gsLst>
                  <a:gs pos="0">
                    <a:srgbClr val="7FDFFF"/>
                  </a:gs>
                  <a:gs pos="100000">
                    <a:srgbClr val="1AC6FF"/>
                  </a:gs>
                </a:gsLst>
                <a:lin ang="5400000" scaled="1"/>
              </a:gra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sz="1200"/>
              </a:p>
            </p:txBody>
          </p:sp>
          <p:sp>
            <p:nvSpPr>
              <p:cNvPr id="127" name="Rounded Rectangle 4">
                <a:extLst>
                  <a:ext uri="{FF2B5EF4-FFF2-40B4-BE49-F238E27FC236}">
                    <a16:creationId xmlns:a16="http://schemas.microsoft.com/office/drawing/2014/main" xmlns="" id="{B1FDBF63-1FEB-19F4-01F2-EBD66BEB0EB9}"/>
                  </a:ext>
                </a:extLst>
              </p:cNvPr>
              <p:cNvSpPr/>
              <p:nvPr/>
            </p:nvSpPr>
            <p:spPr>
              <a:xfrm>
                <a:off x="881742" y="1808703"/>
                <a:ext cx="746090" cy="452175"/>
              </a:xfrm>
              <a:custGeom>
                <a:avLst/>
                <a:gdLst/>
                <a:ahLst/>
                <a:cxnLst/>
                <a:rect l="0" t="0" r="0" b="0"/>
                <a:pathLst>
                  <a:path w="746090" h="452175">
                    <a:moveTo>
                      <a:pt x="746090" y="0"/>
                    </a:moveTo>
                    <a:lnTo>
                      <a:pt x="474784" y="90435"/>
                    </a:lnTo>
                    <a:lnTo>
                      <a:pt x="474784" y="452175"/>
                    </a:lnTo>
                    <a:lnTo>
                      <a:pt x="0" y="452175"/>
                    </a:lnTo>
                    <a:lnTo>
                      <a:pt x="0" y="0"/>
                    </a:lnTo>
                    <a:lnTo>
                      <a:pt x="746090" y="0"/>
                    </a:lnTo>
                  </a:path>
                </a:pathLst>
              </a:custGeom>
              <a:gradFill rotWithShape="1">
                <a:gsLst>
                  <a:gs pos="0">
                    <a:srgbClr val="7FDFFF"/>
                  </a:gs>
                  <a:gs pos="100000">
                    <a:srgbClr val="1AC6FF"/>
                  </a:gs>
                </a:gsLst>
                <a:lin ang="5400000" scaled="1"/>
              </a:gra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sz="120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xmlns="" id="{479455E4-E290-1706-AC19-FCB17F0D0726}"/>
                </a:ext>
              </a:extLst>
            </p:cNvPr>
            <p:cNvGrpSpPr/>
            <p:nvPr/>
          </p:nvGrpSpPr>
          <p:grpSpPr>
            <a:xfrm>
              <a:off x="1400589" y="2877157"/>
              <a:ext cx="746090" cy="542610"/>
              <a:chOff x="881742" y="1718268"/>
              <a:chExt cx="746090" cy="542610"/>
            </a:xfrm>
          </p:grpSpPr>
          <p:sp>
            <p:nvSpPr>
              <p:cNvPr id="124" name="Rounded Rectangle 6">
                <a:extLst>
                  <a:ext uri="{FF2B5EF4-FFF2-40B4-BE49-F238E27FC236}">
                    <a16:creationId xmlns:a16="http://schemas.microsoft.com/office/drawing/2014/main" xmlns="" id="{0085ED36-D2B9-6E75-E3B0-4B967CC3B992}"/>
                  </a:ext>
                </a:extLst>
              </p:cNvPr>
              <p:cNvSpPr/>
              <p:nvPr/>
            </p:nvSpPr>
            <p:spPr>
              <a:xfrm>
                <a:off x="881742" y="1718268"/>
                <a:ext cx="271305" cy="90435"/>
              </a:xfrm>
              <a:custGeom>
                <a:avLst/>
                <a:gdLst/>
                <a:ahLst/>
                <a:cxnLst/>
                <a:rect l="0" t="0" r="0" b="0"/>
                <a:pathLst>
                  <a:path w="271305" h="90435">
                    <a:moveTo>
                      <a:pt x="271305" y="0"/>
                    </a:moveTo>
                    <a:lnTo>
                      <a:pt x="271305" y="90435"/>
                    </a:lnTo>
                    <a:lnTo>
                      <a:pt x="0" y="90435"/>
                    </a:lnTo>
                    <a:lnTo>
                      <a:pt x="271305" y="0"/>
                    </a:lnTo>
                    <a:close/>
                  </a:path>
                </a:pathLst>
              </a:custGeom>
              <a:noFill/>
              <a:ln w="11304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 sz="1200"/>
              </a:p>
            </p:txBody>
          </p:sp>
          <p:sp>
            <p:nvSpPr>
              <p:cNvPr id="125" name="Rounded Rectangle 7">
                <a:extLst>
                  <a:ext uri="{FF2B5EF4-FFF2-40B4-BE49-F238E27FC236}">
                    <a16:creationId xmlns:a16="http://schemas.microsoft.com/office/drawing/2014/main" xmlns="" id="{6014B8F3-6610-C858-2AE6-A76717EC09A4}"/>
                  </a:ext>
                </a:extLst>
              </p:cNvPr>
              <p:cNvSpPr/>
              <p:nvPr/>
            </p:nvSpPr>
            <p:spPr>
              <a:xfrm>
                <a:off x="881742" y="1808703"/>
                <a:ext cx="746090" cy="452175"/>
              </a:xfrm>
              <a:custGeom>
                <a:avLst/>
                <a:gdLst/>
                <a:ahLst/>
                <a:cxnLst/>
                <a:rect l="0" t="0" r="0" b="0"/>
                <a:pathLst>
                  <a:path w="746090" h="452175">
                    <a:moveTo>
                      <a:pt x="746090" y="0"/>
                    </a:moveTo>
                    <a:lnTo>
                      <a:pt x="474784" y="90435"/>
                    </a:lnTo>
                    <a:lnTo>
                      <a:pt x="474784" y="452175"/>
                    </a:lnTo>
                    <a:lnTo>
                      <a:pt x="0" y="452175"/>
                    </a:lnTo>
                    <a:lnTo>
                      <a:pt x="0" y="0"/>
                    </a:lnTo>
                    <a:lnTo>
                      <a:pt x="746090" y="0"/>
                    </a:lnTo>
                    <a:close/>
                  </a:path>
                </a:pathLst>
              </a:custGeom>
              <a:noFill/>
              <a:ln w="11304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 sz="1200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xmlns="" id="{A9410FBE-5606-BC49-C56F-D5613E4C8B68}"/>
                </a:ext>
              </a:extLst>
            </p:cNvPr>
            <p:cNvGrpSpPr/>
            <p:nvPr/>
          </p:nvGrpSpPr>
          <p:grpSpPr>
            <a:xfrm>
              <a:off x="1875374" y="2967592"/>
              <a:ext cx="746090" cy="542610"/>
              <a:chOff x="1356527" y="1808703"/>
              <a:chExt cx="746090" cy="542610"/>
            </a:xfrm>
          </p:grpSpPr>
          <p:sp>
            <p:nvSpPr>
              <p:cNvPr id="122" name="Rounded Rectangle 9">
                <a:extLst>
                  <a:ext uri="{FF2B5EF4-FFF2-40B4-BE49-F238E27FC236}">
                    <a16:creationId xmlns:a16="http://schemas.microsoft.com/office/drawing/2014/main" xmlns="" id="{C8021410-06F1-CC81-ECE3-30D5C1F32C2A}"/>
                  </a:ext>
                </a:extLst>
              </p:cNvPr>
              <p:cNvSpPr/>
              <p:nvPr/>
            </p:nvSpPr>
            <p:spPr>
              <a:xfrm>
                <a:off x="1356527" y="1808703"/>
                <a:ext cx="271305" cy="90435"/>
              </a:xfrm>
              <a:custGeom>
                <a:avLst/>
                <a:gdLst/>
                <a:ahLst/>
                <a:cxnLst/>
                <a:rect l="0" t="0" r="0" b="0"/>
                <a:pathLst>
                  <a:path w="271305" h="90435">
                    <a:moveTo>
                      <a:pt x="271305" y="0"/>
                    </a:moveTo>
                    <a:lnTo>
                      <a:pt x="271305" y="90435"/>
                    </a:lnTo>
                    <a:lnTo>
                      <a:pt x="0" y="90435"/>
                    </a:lnTo>
                    <a:lnTo>
                      <a:pt x="271305" y="0"/>
                    </a:lnTo>
                  </a:path>
                </a:pathLst>
              </a:custGeom>
              <a:gradFill rotWithShape="1">
                <a:gsLst>
                  <a:gs pos="0">
                    <a:srgbClr val="83FAC1"/>
                  </a:gs>
                  <a:gs pos="100000">
                    <a:srgbClr val="44E095"/>
                  </a:gs>
                </a:gsLst>
                <a:lin ang="5400000" scaled="1"/>
              </a:gra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sz="1200"/>
              </a:p>
            </p:txBody>
          </p:sp>
          <p:sp>
            <p:nvSpPr>
              <p:cNvPr id="123" name="Rounded Rectangle 10">
                <a:extLst>
                  <a:ext uri="{FF2B5EF4-FFF2-40B4-BE49-F238E27FC236}">
                    <a16:creationId xmlns:a16="http://schemas.microsoft.com/office/drawing/2014/main" xmlns="" id="{90D78F7E-6438-BE8F-5BDE-2B382DD9E75D}"/>
                  </a:ext>
                </a:extLst>
              </p:cNvPr>
              <p:cNvSpPr/>
              <p:nvPr/>
            </p:nvSpPr>
            <p:spPr>
              <a:xfrm>
                <a:off x="1356527" y="1899138"/>
                <a:ext cx="746090" cy="452175"/>
              </a:xfrm>
              <a:custGeom>
                <a:avLst/>
                <a:gdLst/>
                <a:ahLst/>
                <a:cxnLst/>
                <a:rect l="0" t="0" r="0" b="0"/>
                <a:pathLst>
                  <a:path w="746090" h="452175">
                    <a:moveTo>
                      <a:pt x="746090" y="0"/>
                    </a:moveTo>
                    <a:lnTo>
                      <a:pt x="474784" y="90435"/>
                    </a:lnTo>
                    <a:lnTo>
                      <a:pt x="474784" y="452175"/>
                    </a:lnTo>
                    <a:lnTo>
                      <a:pt x="0" y="452175"/>
                    </a:lnTo>
                    <a:lnTo>
                      <a:pt x="0" y="0"/>
                    </a:lnTo>
                    <a:lnTo>
                      <a:pt x="746090" y="0"/>
                    </a:lnTo>
                  </a:path>
                </a:pathLst>
              </a:custGeom>
              <a:gradFill rotWithShape="1">
                <a:gsLst>
                  <a:gs pos="0">
                    <a:srgbClr val="83FAC1"/>
                  </a:gs>
                  <a:gs pos="100000">
                    <a:srgbClr val="44E095"/>
                  </a:gs>
                </a:gsLst>
                <a:lin ang="5400000" scaled="1"/>
              </a:gra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sz="120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xmlns="" id="{713ECB95-AFF6-D8C5-B388-1178EB1C699D}"/>
                </a:ext>
              </a:extLst>
            </p:cNvPr>
            <p:cNvGrpSpPr/>
            <p:nvPr/>
          </p:nvGrpSpPr>
          <p:grpSpPr>
            <a:xfrm>
              <a:off x="1875374" y="2967592"/>
              <a:ext cx="746090" cy="542610"/>
              <a:chOff x="1356527" y="1808703"/>
              <a:chExt cx="746090" cy="542610"/>
            </a:xfrm>
          </p:grpSpPr>
          <p:sp>
            <p:nvSpPr>
              <p:cNvPr id="120" name="Rounded Rectangle 12">
                <a:extLst>
                  <a:ext uri="{FF2B5EF4-FFF2-40B4-BE49-F238E27FC236}">
                    <a16:creationId xmlns:a16="http://schemas.microsoft.com/office/drawing/2014/main" xmlns="" id="{07457166-03A4-3117-520F-F021FDA8B1F8}"/>
                  </a:ext>
                </a:extLst>
              </p:cNvPr>
              <p:cNvSpPr/>
              <p:nvPr/>
            </p:nvSpPr>
            <p:spPr>
              <a:xfrm>
                <a:off x="1356527" y="1808703"/>
                <a:ext cx="271305" cy="90435"/>
              </a:xfrm>
              <a:custGeom>
                <a:avLst/>
                <a:gdLst/>
                <a:ahLst/>
                <a:cxnLst/>
                <a:rect l="0" t="0" r="0" b="0"/>
                <a:pathLst>
                  <a:path w="271305" h="90435">
                    <a:moveTo>
                      <a:pt x="271305" y="0"/>
                    </a:moveTo>
                    <a:lnTo>
                      <a:pt x="271305" y="90435"/>
                    </a:lnTo>
                    <a:lnTo>
                      <a:pt x="0" y="90435"/>
                    </a:lnTo>
                    <a:lnTo>
                      <a:pt x="271305" y="0"/>
                    </a:lnTo>
                    <a:close/>
                  </a:path>
                </a:pathLst>
              </a:custGeom>
              <a:noFill/>
              <a:ln w="11304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 sz="1200"/>
              </a:p>
            </p:txBody>
          </p:sp>
          <p:sp>
            <p:nvSpPr>
              <p:cNvPr id="121" name="Rounded Rectangle 13">
                <a:extLst>
                  <a:ext uri="{FF2B5EF4-FFF2-40B4-BE49-F238E27FC236}">
                    <a16:creationId xmlns:a16="http://schemas.microsoft.com/office/drawing/2014/main" xmlns="" id="{0484078D-4819-DD23-25DC-A7D8A35C44A0}"/>
                  </a:ext>
                </a:extLst>
              </p:cNvPr>
              <p:cNvSpPr/>
              <p:nvPr/>
            </p:nvSpPr>
            <p:spPr>
              <a:xfrm>
                <a:off x="1356527" y="1899138"/>
                <a:ext cx="746090" cy="452175"/>
              </a:xfrm>
              <a:custGeom>
                <a:avLst/>
                <a:gdLst/>
                <a:ahLst/>
                <a:cxnLst/>
                <a:rect l="0" t="0" r="0" b="0"/>
                <a:pathLst>
                  <a:path w="746090" h="452175">
                    <a:moveTo>
                      <a:pt x="746090" y="0"/>
                    </a:moveTo>
                    <a:lnTo>
                      <a:pt x="474784" y="90435"/>
                    </a:lnTo>
                    <a:lnTo>
                      <a:pt x="474784" y="452175"/>
                    </a:lnTo>
                    <a:lnTo>
                      <a:pt x="0" y="452175"/>
                    </a:lnTo>
                    <a:lnTo>
                      <a:pt x="0" y="0"/>
                    </a:lnTo>
                    <a:lnTo>
                      <a:pt x="746090" y="0"/>
                    </a:lnTo>
                    <a:close/>
                  </a:path>
                </a:pathLst>
              </a:custGeom>
              <a:noFill/>
              <a:ln w="11304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 sz="120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xmlns="" id="{367D634F-CBAF-C782-88D0-FEF3319C078B}"/>
                </a:ext>
              </a:extLst>
            </p:cNvPr>
            <p:cNvGrpSpPr/>
            <p:nvPr/>
          </p:nvGrpSpPr>
          <p:grpSpPr>
            <a:xfrm>
              <a:off x="2350159" y="3058027"/>
              <a:ext cx="746090" cy="542610"/>
              <a:chOff x="1831312" y="1899138"/>
              <a:chExt cx="746090" cy="542610"/>
            </a:xfrm>
          </p:grpSpPr>
          <p:sp>
            <p:nvSpPr>
              <p:cNvPr id="118" name="Rounded Rectangle 15">
                <a:extLst>
                  <a:ext uri="{FF2B5EF4-FFF2-40B4-BE49-F238E27FC236}">
                    <a16:creationId xmlns:a16="http://schemas.microsoft.com/office/drawing/2014/main" xmlns="" id="{2EDB5B2A-2AC3-E1FC-9966-7A2A1541BC74}"/>
                  </a:ext>
                </a:extLst>
              </p:cNvPr>
              <p:cNvSpPr/>
              <p:nvPr/>
            </p:nvSpPr>
            <p:spPr>
              <a:xfrm>
                <a:off x="1831312" y="1899138"/>
                <a:ext cx="271305" cy="90435"/>
              </a:xfrm>
              <a:custGeom>
                <a:avLst/>
                <a:gdLst/>
                <a:ahLst/>
                <a:cxnLst/>
                <a:rect l="0" t="0" r="0" b="0"/>
                <a:pathLst>
                  <a:path w="271305" h="90435">
                    <a:moveTo>
                      <a:pt x="271305" y="0"/>
                    </a:moveTo>
                    <a:lnTo>
                      <a:pt x="271305" y="90435"/>
                    </a:lnTo>
                    <a:lnTo>
                      <a:pt x="0" y="90435"/>
                    </a:lnTo>
                    <a:lnTo>
                      <a:pt x="271305" y="0"/>
                    </a:lnTo>
                  </a:path>
                </a:pathLst>
              </a:custGeom>
              <a:gradFill rotWithShape="1">
                <a:gsLst>
                  <a:gs pos="0">
                    <a:srgbClr val="CFF976"/>
                  </a:gs>
                  <a:gs pos="100000">
                    <a:srgbClr val="A8DD38"/>
                  </a:gs>
                </a:gsLst>
                <a:lin ang="5400000" scaled="1"/>
              </a:gra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sz="1200"/>
              </a:p>
            </p:txBody>
          </p:sp>
          <p:sp>
            <p:nvSpPr>
              <p:cNvPr id="119" name="Rounded Rectangle 16">
                <a:extLst>
                  <a:ext uri="{FF2B5EF4-FFF2-40B4-BE49-F238E27FC236}">
                    <a16:creationId xmlns:a16="http://schemas.microsoft.com/office/drawing/2014/main" xmlns="" id="{221D954E-F42E-F53C-6C04-D6FC86BF1BA2}"/>
                  </a:ext>
                </a:extLst>
              </p:cNvPr>
              <p:cNvSpPr/>
              <p:nvPr/>
            </p:nvSpPr>
            <p:spPr>
              <a:xfrm>
                <a:off x="1831312" y="1989573"/>
                <a:ext cx="746090" cy="452175"/>
              </a:xfrm>
              <a:custGeom>
                <a:avLst/>
                <a:gdLst/>
                <a:ahLst/>
                <a:cxnLst/>
                <a:rect l="0" t="0" r="0" b="0"/>
                <a:pathLst>
                  <a:path w="746090" h="452175">
                    <a:moveTo>
                      <a:pt x="746090" y="0"/>
                    </a:moveTo>
                    <a:lnTo>
                      <a:pt x="474784" y="90435"/>
                    </a:lnTo>
                    <a:lnTo>
                      <a:pt x="474784" y="452175"/>
                    </a:lnTo>
                    <a:lnTo>
                      <a:pt x="0" y="452175"/>
                    </a:lnTo>
                    <a:lnTo>
                      <a:pt x="0" y="0"/>
                    </a:lnTo>
                    <a:lnTo>
                      <a:pt x="746090" y="0"/>
                    </a:lnTo>
                  </a:path>
                </a:pathLst>
              </a:custGeom>
              <a:gradFill rotWithShape="1">
                <a:gsLst>
                  <a:gs pos="0">
                    <a:srgbClr val="CFF976"/>
                  </a:gs>
                  <a:gs pos="100000">
                    <a:srgbClr val="A8DD38"/>
                  </a:gs>
                </a:gsLst>
                <a:lin ang="5400000" scaled="1"/>
              </a:gra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sz="120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xmlns="" id="{1CEF3116-4E4C-8CD4-C0AA-EF0343B8A791}"/>
                </a:ext>
              </a:extLst>
            </p:cNvPr>
            <p:cNvGrpSpPr/>
            <p:nvPr/>
          </p:nvGrpSpPr>
          <p:grpSpPr>
            <a:xfrm>
              <a:off x="2350159" y="3058027"/>
              <a:ext cx="746090" cy="542610"/>
              <a:chOff x="1831312" y="1899138"/>
              <a:chExt cx="746090" cy="542610"/>
            </a:xfrm>
          </p:grpSpPr>
          <p:sp>
            <p:nvSpPr>
              <p:cNvPr id="116" name="Rounded Rectangle 18">
                <a:extLst>
                  <a:ext uri="{FF2B5EF4-FFF2-40B4-BE49-F238E27FC236}">
                    <a16:creationId xmlns:a16="http://schemas.microsoft.com/office/drawing/2014/main" xmlns="" id="{05E9A047-E006-E7AC-6253-1FD7E7AF37B1}"/>
                  </a:ext>
                </a:extLst>
              </p:cNvPr>
              <p:cNvSpPr/>
              <p:nvPr/>
            </p:nvSpPr>
            <p:spPr>
              <a:xfrm>
                <a:off x="1831312" y="1899138"/>
                <a:ext cx="271305" cy="90435"/>
              </a:xfrm>
              <a:custGeom>
                <a:avLst/>
                <a:gdLst/>
                <a:ahLst/>
                <a:cxnLst/>
                <a:rect l="0" t="0" r="0" b="0"/>
                <a:pathLst>
                  <a:path w="271305" h="90435">
                    <a:moveTo>
                      <a:pt x="271305" y="0"/>
                    </a:moveTo>
                    <a:lnTo>
                      <a:pt x="271305" y="90435"/>
                    </a:lnTo>
                    <a:lnTo>
                      <a:pt x="0" y="90435"/>
                    </a:lnTo>
                    <a:lnTo>
                      <a:pt x="271305" y="0"/>
                    </a:lnTo>
                    <a:close/>
                  </a:path>
                </a:pathLst>
              </a:custGeom>
              <a:noFill/>
              <a:ln w="11304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 sz="1200"/>
              </a:p>
            </p:txBody>
          </p:sp>
          <p:sp>
            <p:nvSpPr>
              <p:cNvPr id="117" name="Rounded Rectangle 19">
                <a:extLst>
                  <a:ext uri="{FF2B5EF4-FFF2-40B4-BE49-F238E27FC236}">
                    <a16:creationId xmlns:a16="http://schemas.microsoft.com/office/drawing/2014/main" xmlns="" id="{17D1D8B8-3EB7-2147-D553-E3C00DCC5B66}"/>
                  </a:ext>
                </a:extLst>
              </p:cNvPr>
              <p:cNvSpPr/>
              <p:nvPr/>
            </p:nvSpPr>
            <p:spPr>
              <a:xfrm>
                <a:off x="1831312" y="1989573"/>
                <a:ext cx="746090" cy="452175"/>
              </a:xfrm>
              <a:custGeom>
                <a:avLst/>
                <a:gdLst/>
                <a:ahLst/>
                <a:cxnLst/>
                <a:rect l="0" t="0" r="0" b="0"/>
                <a:pathLst>
                  <a:path w="746090" h="452175">
                    <a:moveTo>
                      <a:pt x="746090" y="0"/>
                    </a:moveTo>
                    <a:lnTo>
                      <a:pt x="474784" y="90435"/>
                    </a:lnTo>
                    <a:lnTo>
                      <a:pt x="474784" y="452175"/>
                    </a:lnTo>
                    <a:lnTo>
                      <a:pt x="0" y="452175"/>
                    </a:lnTo>
                    <a:lnTo>
                      <a:pt x="0" y="0"/>
                    </a:lnTo>
                    <a:lnTo>
                      <a:pt x="746090" y="0"/>
                    </a:lnTo>
                    <a:close/>
                  </a:path>
                </a:pathLst>
              </a:custGeom>
              <a:noFill/>
              <a:ln w="11304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 sz="1200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xmlns="" id="{C1216197-0A6E-EC22-6F0C-2CBFD8EF45BF}"/>
                </a:ext>
              </a:extLst>
            </p:cNvPr>
            <p:cNvGrpSpPr/>
            <p:nvPr/>
          </p:nvGrpSpPr>
          <p:grpSpPr>
            <a:xfrm>
              <a:off x="2824943" y="3148462"/>
              <a:ext cx="746090" cy="542610"/>
              <a:chOff x="2306096" y="1989573"/>
              <a:chExt cx="746090" cy="542610"/>
            </a:xfrm>
          </p:grpSpPr>
          <p:sp>
            <p:nvSpPr>
              <p:cNvPr id="114" name="Rounded Rectangle 21">
                <a:extLst>
                  <a:ext uri="{FF2B5EF4-FFF2-40B4-BE49-F238E27FC236}">
                    <a16:creationId xmlns:a16="http://schemas.microsoft.com/office/drawing/2014/main" xmlns="" id="{1DF8F176-01D0-514F-8439-CB2F7690FAD2}"/>
                  </a:ext>
                </a:extLst>
              </p:cNvPr>
              <p:cNvSpPr/>
              <p:nvPr/>
            </p:nvSpPr>
            <p:spPr>
              <a:xfrm>
                <a:off x="2306096" y="1989573"/>
                <a:ext cx="271305" cy="90435"/>
              </a:xfrm>
              <a:custGeom>
                <a:avLst/>
                <a:gdLst/>
                <a:ahLst/>
                <a:cxnLst/>
                <a:rect l="0" t="0" r="0" b="0"/>
                <a:pathLst>
                  <a:path w="271305" h="90435">
                    <a:moveTo>
                      <a:pt x="271305" y="0"/>
                    </a:moveTo>
                    <a:lnTo>
                      <a:pt x="271305" y="90435"/>
                    </a:lnTo>
                    <a:lnTo>
                      <a:pt x="0" y="90435"/>
                    </a:lnTo>
                    <a:lnTo>
                      <a:pt x="271305" y="0"/>
                    </a:lnTo>
                  </a:path>
                </a:pathLst>
              </a:custGeom>
              <a:gradFill rotWithShape="1">
                <a:gsLst>
                  <a:gs pos="0">
                    <a:srgbClr val="FFEF63"/>
                  </a:gs>
                  <a:gs pos="100000">
                    <a:srgbClr val="FFE60A"/>
                  </a:gs>
                </a:gsLst>
                <a:lin ang="5400000" scaled="1"/>
              </a:gra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sz="1200"/>
              </a:p>
            </p:txBody>
          </p:sp>
          <p:sp>
            <p:nvSpPr>
              <p:cNvPr id="115" name="Rounded Rectangle 22">
                <a:extLst>
                  <a:ext uri="{FF2B5EF4-FFF2-40B4-BE49-F238E27FC236}">
                    <a16:creationId xmlns:a16="http://schemas.microsoft.com/office/drawing/2014/main" xmlns="" id="{5778529D-AD97-10D8-7AF3-BFE61D50359E}"/>
                  </a:ext>
                </a:extLst>
              </p:cNvPr>
              <p:cNvSpPr/>
              <p:nvPr/>
            </p:nvSpPr>
            <p:spPr>
              <a:xfrm>
                <a:off x="2306096" y="2080008"/>
                <a:ext cx="746090" cy="452175"/>
              </a:xfrm>
              <a:custGeom>
                <a:avLst/>
                <a:gdLst/>
                <a:ahLst/>
                <a:cxnLst/>
                <a:rect l="0" t="0" r="0" b="0"/>
                <a:pathLst>
                  <a:path w="746090" h="452175">
                    <a:moveTo>
                      <a:pt x="746090" y="0"/>
                    </a:moveTo>
                    <a:lnTo>
                      <a:pt x="474784" y="90435"/>
                    </a:lnTo>
                    <a:lnTo>
                      <a:pt x="474784" y="452175"/>
                    </a:lnTo>
                    <a:lnTo>
                      <a:pt x="0" y="452175"/>
                    </a:lnTo>
                    <a:lnTo>
                      <a:pt x="0" y="0"/>
                    </a:lnTo>
                    <a:lnTo>
                      <a:pt x="746090" y="0"/>
                    </a:lnTo>
                  </a:path>
                </a:pathLst>
              </a:custGeom>
              <a:gradFill rotWithShape="1">
                <a:gsLst>
                  <a:gs pos="0">
                    <a:srgbClr val="FFEF63"/>
                  </a:gs>
                  <a:gs pos="100000">
                    <a:srgbClr val="FFE60A"/>
                  </a:gs>
                </a:gsLst>
                <a:lin ang="5400000" scaled="1"/>
              </a:gra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sz="120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xmlns="" id="{EFDAD0DD-9515-ACF3-EE36-0741EDEDB5BF}"/>
                </a:ext>
              </a:extLst>
            </p:cNvPr>
            <p:cNvGrpSpPr/>
            <p:nvPr/>
          </p:nvGrpSpPr>
          <p:grpSpPr>
            <a:xfrm>
              <a:off x="2824943" y="3148462"/>
              <a:ext cx="746090" cy="542610"/>
              <a:chOff x="2306096" y="1989573"/>
              <a:chExt cx="746090" cy="542610"/>
            </a:xfrm>
          </p:grpSpPr>
          <p:sp>
            <p:nvSpPr>
              <p:cNvPr id="112" name="Rounded Rectangle 24">
                <a:extLst>
                  <a:ext uri="{FF2B5EF4-FFF2-40B4-BE49-F238E27FC236}">
                    <a16:creationId xmlns:a16="http://schemas.microsoft.com/office/drawing/2014/main" xmlns="" id="{C4DF9491-A2DB-D753-3D60-AEFFB6C810B3}"/>
                  </a:ext>
                </a:extLst>
              </p:cNvPr>
              <p:cNvSpPr/>
              <p:nvPr/>
            </p:nvSpPr>
            <p:spPr>
              <a:xfrm>
                <a:off x="2306096" y="1989573"/>
                <a:ext cx="271305" cy="90435"/>
              </a:xfrm>
              <a:custGeom>
                <a:avLst/>
                <a:gdLst/>
                <a:ahLst/>
                <a:cxnLst/>
                <a:rect l="0" t="0" r="0" b="0"/>
                <a:pathLst>
                  <a:path w="271305" h="90435">
                    <a:moveTo>
                      <a:pt x="271305" y="0"/>
                    </a:moveTo>
                    <a:lnTo>
                      <a:pt x="271305" y="90435"/>
                    </a:lnTo>
                    <a:lnTo>
                      <a:pt x="0" y="90435"/>
                    </a:lnTo>
                    <a:lnTo>
                      <a:pt x="271305" y="0"/>
                    </a:lnTo>
                    <a:close/>
                  </a:path>
                </a:pathLst>
              </a:custGeom>
              <a:noFill/>
              <a:ln w="11304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 sz="1200"/>
              </a:p>
            </p:txBody>
          </p:sp>
          <p:sp>
            <p:nvSpPr>
              <p:cNvPr id="113" name="Rounded Rectangle 25">
                <a:extLst>
                  <a:ext uri="{FF2B5EF4-FFF2-40B4-BE49-F238E27FC236}">
                    <a16:creationId xmlns:a16="http://schemas.microsoft.com/office/drawing/2014/main" xmlns="" id="{B117F733-0EC8-4CFF-D7F4-92C818EBD29D}"/>
                  </a:ext>
                </a:extLst>
              </p:cNvPr>
              <p:cNvSpPr/>
              <p:nvPr/>
            </p:nvSpPr>
            <p:spPr>
              <a:xfrm>
                <a:off x="2306096" y="2080008"/>
                <a:ext cx="746090" cy="452175"/>
              </a:xfrm>
              <a:custGeom>
                <a:avLst/>
                <a:gdLst/>
                <a:ahLst/>
                <a:cxnLst/>
                <a:rect l="0" t="0" r="0" b="0"/>
                <a:pathLst>
                  <a:path w="746090" h="452175">
                    <a:moveTo>
                      <a:pt x="746090" y="0"/>
                    </a:moveTo>
                    <a:lnTo>
                      <a:pt x="474784" y="90435"/>
                    </a:lnTo>
                    <a:lnTo>
                      <a:pt x="474784" y="452175"/>
                    </a:lnTo>
                    <a:lnTo>
                      <a:pt x="0" y="452175"/>
                    </a:lnTo>
                    <a:lnTo>
                      <a:pt x="0" y="0"/>
                    </a:lnTo>
                    <a:lnTo>
                      <a:pt x="746090" y="0"/>
                    </a:lnTo>
                    <a:close/>
                  </a:path>
                </a:pathLst>
              </a:custGeom>
              <a:noFill/>
              <a:ln w="11304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 sz="1200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xmlns="" id="{7813BAF7-81D9-8DBE-C9BB-D2BCABB47F09}"/>
                </a:ext>
              </a:extLst>
            </p:cNvPr>
            <p:cNvGrpSpPr/>
            <p:nvPr/>
          </p:nvGrpSpPr>
          <p:grpSpPr>
            <a:xfrm>
              <a:off x="3299728" y="3238897"/>
              <a:ext cx="746090" cy="542610"/>
              <a:chOff x="2780881" y="2080008"/>
              <a:chExt cx="746090" cy="542610"/>
            </a:xfrm>
          </p:grpSpPr>
          <p:sp>
            <p:nvSpPr>
              <p:cNvPr id="110" name="Rounded Rectangle 27">
                <a:extLst>
                  <a:ext uri="{FF2B5EF4-FFF2-40B4-BE49-F238E27FC236}">
                    <a16:creationId xmlns:a16="http://schemas.microsoft.com/office/drawing/2014/main" xmlns="" id="{D3DB0B93-484D-912C-DD6B-B159FE442761}"/>
                  </a:ext>
                </a:extLst>
              </p:cNvPr>
              <p:cNvSpPr/>
              <p:nvPr/>
            </p:nvSpPr>
            <p:spPr>
              <a:xfrm>
                <a:off x="2780881" y="2080008"/>
                <a:ext cx="271305" cy="90435"/>
              </a:xfrm>
              <a:custGeom>
                <a:avLst/>
                <a:gdLst/>
                <a:ahLst/>
                <a:cxnLst/>
                <a:rect l="0" t="0" r="0" b="0"/>
                <a:pathLst>
                  <a:path w="271305" h="90435">
                    <a:moveTo>
                      <a:pt x="271305" y="0"/>
                    </a:moveTo>
                    <a:lnTo>
                      <a:pt x="271305" y="90435"/>
                    </a:lnTo>
                    <a:lnTo>
                      <a:pt x="0" y="90435"/>
                    </a:lnTo>
                    <a:lnTo>
                      <a:pt x="271305" y="0"/>
                    </a:lnTo>
                  </a:path>
                </a:pathLst>
              </a:custGeom>
              <a:gradFill rotWithShape="1">
                <a:gsLst>
                  <a:gs pos="0">
                    <a:srgbClr val="FFBF84"/>
                  </a:gs>
                  <a:gs pos="100000">
                    <a:srgbClr val="F99539"/>
                  </a:gs>
                </a:gsLst>
                <a:lin ang="5400000" scaled="1"/>
              </a:gra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sz="1200"/>
              </a:p>
            </p:txBody>
          </p:sp>
          <p:sp>
            <p:nvSpPr>
              <p:cNvPr id="111" name="Rounded Rectangle 28">
                <a:extLst>
                  <a:ext uri="{FF2B5EF4-FFF2-40B4-BE49-F238E27FC236}">
                    <a16:creationId xmlns:a16="http://schemas.microsoft.com/office/drawing/2014/main" xmlns="" id="{32E53C98-AD87-A63F-4669-40ABD2BF1B50}"/>
                  </a:ext>
                </a:extLst>
              </p:cNvPr>
              <p:cNvSpPr/>
              <p:nvPr/>
            </p:nvSpPr>
            <p:spPr>
              <a:xfrm>
                <a:off x="2780881" y="2170443"/>
                <a:ext cx="746090" cy="452175"/>
              </a:xfrm>
              <a:custGeom>
                <a:avLst/>
                <a:gdLst/>
                <a:ahLst/>
                <a:cxnLst/>
                <a:rect l="0" t="0" r="0" b="0"/>
                <a:pathLst>
                  <a:path w="746090" h="452175">
                    <a:moveTo>
                      <a:pt x="746090" y="0"/>
                    </a:moveTo>
                    <a:lnTo>
                      <a:pt x="474784" y="90435"/>
                    </a:lnTo>
                    <a:lnTo>
                      <a:pt x="474784" y="452175"/>
                    </a:lnTo>
                    <a:lnTo>
                      <a:pt x="0" y="452175"/>
                    </a:lnTo>
                    <a:lnTo>
                      <a:pt x="0" y="0"/>
                    </a:lnTo>
                    <a:lnTo>
                      <a:pt x="746090" y="0"/>
                    </a:lnTo>
                  </a:path>
                </a:pathLst>
              </a:custGeom>
              <a:gradFill rotWithShape="1">
                <a:gsLst>
                  <a:gs pos="0">
                    <a:srgbClr val="FFBF84"/>
                  </a:gs>
                  <a:gs pos="100000">
                    <a:srgbClr val="F99539"/>
                  </a:gs>
                </a:gsLst>
                <a:lin ang="5400000" scaled="1"/>
              </a:gra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sz="1200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xmlns="" id="{099763C5-8CD1-0D9E-1926-01F3DD98BE22}"/>
                </a:ext>
              </a:extLst>
            </p:cNvPr>
            <p:cNvGrpSpPr/>
            <p:nvPr/>
          </p:nvGrpSpPr>
          <p:grpSpPr>
            <a:xfrm>
              <a:off x="3299728" y="3238897"/>
              <a:ext cx="746090" cy="542610"/>
              <a:chOff x="2780881" y="2080008"/>
              <a:chExt cx="746090" cy="542610"/>
            </a:xfrm>
          </p:grpSpPr>
          <p:sp>
            <p:nvSpPr>
              <p:cNvPr id="108" name="Rounded Rectangle 30">
                <a:extLst>
                  <a:ext uri="{FF2B5EF4-FFF2-40B4-BE49-F238E27FC236}">
                    <a16:creationId xmlns:a16="http://schemas.microsoft.com/office/drawing/2014/main" xmlns="" id="{CD7234EF-DA93-4606-3C7F-2E7AEEADA34E}"/>
                  </a:ext>
                </a:extLst>
              </p:cNvPr>
              <p:cNvSpPr/>
              <p:nvPr/>
            </p:nvSpPr>
            <p:spPr>
              <a:xfrm>
                <a:off x="2780881" y="2080008"/>
                <a:ext cx="271305" cy="90435"/>
              </a:xfrm>
              <a:custGeom>
                <a:avLst/>
                <a:gdLst/>
                <a:ahLst/>
                <a:cxnLst/>
                <a:rect l="0" t="0" r="0" b="0"/>
                <a:pathLst>
                  <a:path w="271305" h="90435">
                    <a:moveTo>
                      <a:pt x="271305" y="0"/>
                    </a:moveTo>
                    <a:lnTo>
                      <a:pt x="271305" y="90435"/>
                    </a:lnTo>
                    <a:lnTo>
                      <a:pt x="0" y="90435"/>
                    </a:lnTo>
                    <a:lnTo>
                      <a:pt x="271305" y="0"/>
                    </a:lnTo>
                    <a:close/>
                  </a:path>
                </a:pathLst>
              </a:custGeom>
              <a:noFill/>
              <a:ln w="11304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 sz="1200"/>
              </a:p>
            </p:txBody>
          </p:sp>
          <p:sp>
            <p:nvSpPr>
              <p:cNvPr id="109" name="Rounded Rectangle 31">
                <a:extLst>
                  <a:ext uri="{FF2B5EF4-FFF2-40B4-BE49-F238E27FC236}">
                    <a16:creationId xmlns:a16="http://schemas.microsoft.com/office/drawing/2014/main" xmlns="" id="{241563C9-9C99-F66A-C97A-4083DAF5AED6}"/>
                  </a:ext>
                </a:extLst>
              </p:cNvPr>
              <p:cNvSpPr/>
              <p:nvPr/>
            </p:nvSpPr>
            <p:spPr>
              <a:xfrm>
                <a:off x="2780881" y="2170443"/>
                <a:ext cx="746090" cy="452175"/>
              </a:xfrm>
              <a:custGeom>
                <a:avLst/>
                <a:gdLst/>
                <a:ahLst/>
                <a:cxnLst/>
                <a:rect l="0" t="0" r="0" b="0"/>
                <a:pathLst>
                  <a:path w="746090" h="452175">
                    <a:moveTo>
                      <a:pt x="746090" y="0"/>
                    </a:moveTo>
                    <a:lnTo>
                      <a:pt x="474784" y="90435"/>
                    </a:lnTo>
                    <a:lnTo>
                      <a:pt x="474784" y="452175"/>
                    </a:lnTo>
                    <a:lnTo>
                      <a:pt x="0" y="452175"/>
                    </a:lnTo>
                    <a:lnTo>
                      <a:pt x="0" y="0"/>
                    </a:lnTo>
                    <a:lnTo>
                      <a:pt x="746090" y="0"/>
                    </a:lnTo>
                    <a:close/>
                  </a:path>
                </a:pathLst>
              </a:custGeom>
              <a:noFill/>
              <a:ln w="11304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 sz="1200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xmlns="" id="{EB4EE486-AD28-6E3E-F9C8-C65F2CC26F54}"/>
                </a:ext>
              </a:extLst>
            </p:cNvPr>
            <p:cNvGrpSpPr/>
            <p:nvPr/>
          </p:nvGrpSpPr>
          <p:grpSpPr>
            <a:xfrm>
              <a:off x="3774512" y="3329332"/>
              <a:ext cx="746090" cy="542611"/>
              <a:chOff x="3255665" y="2170443"/>
              <a:chExt cx="746090" cy="542611"/>
            </a:xfrm>
          </p:grpSpPr>
          <p:sp>
            <p:nvSpPr>
              <p:cNvPr id="106" name="Rounded Rectangle 33">
                <a:extLst>
                  <a:ext uri="{FF2B5EF4-FFF2-40B4-BE49-F238E27FC236}">
                    <a16:creationId xmlns:a16="http://schemas.microsoft.com/office/drawing/2014/main" xmlns="" id="{379AD5F3-02AF-ADC9-61A3-29163038B952}"/>
                  </a:ext>
                </a:extLst>
              </p:cNvPr>
              <p:cNvSpPr/>
              <p:nvPr/>
            </p:nvSpPr>
            <p:spPr>
              <a:xfrm>
                <a:off x="3255665" y="2170443"/>
                <a:ext cx="271305" cy="90435"/>
              </a:xfrm>
              <a:custGeom>
                <a:avLst/>
                <a:gdLst/>
                <a:ahLst/>
                <a:cxnLst/>
                <a:rect l="0" t="0" r="0" b="0"/>
                <a:pathLst>
                  <a:path w="271305" h="90435">
                    <a:moveTo>
                      <a:pt x="271305" y="0"/>
                    </a:moveTo>
                    <a:lnTo>
                      <a:pt x="271305" y="90435"/>
                    </a:lnTo>
                    <a:lnTo>
                      <a:pt x="0" y="90435"/>
                    </a:lnTo>
                    <a:lnTo>
                      <a:pt x="271305" y="0"/>
                    </a:lnTo>
                  </a:path>
                </a:pathLst>
              </a:custGeom>
              <a:gradFill rotWithShape="1">
                <a:gsLst>
                  <a:gs pos="0">
                    <a:srgbClr val="FFA6A3"/>
                  </a:gs>
                  <a:gs pos="100000">
                    <a:srgbClr val="FD6A65"/>
                  </a:gs>
                </a:gsLst>
                <a:lin ang="5400000" scaled="1"/>
              </a:gra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sz="1200"/>
              </a:p>
            </p:txBody>
          </p:sp>
          <p:sp>
            <p:nvSpPr>
              <p:cNvPr id="107" name="Rounded Rectangle 34">
                <a:extLst>
                  <a:ext uri="{FF2B5EF4-FFF2-40B4-BE49-F238E27FC236}">
                    <a16:creationId xmlns:a16="http://schemas.microsoft.com/office/drawing/2014/main" xmlns="" id="{803996CE-C280-8B60-77C4-031FFC784BA3}"/>
                  </a:ext>
                </a:extLst>
              </p:cNvPr>
              <p:cNvSpPr/>
              <p:nvPr/>
            </p:nvSpPr>
            <p:spPr>
              <a:xfrm>
                <a:off x="3255665" y="2260879"/>
                <a:ext cx="746090" cy="452175"/>
              </a:xfrm>
              <a:custGeom>
                <a:avLst/>
                <a:gdLst/>
                <a:ahLst/>
                <a:cxnLst/>
                <a:rect l="0" t="0" r="0" b="0"/>
                <a:pathLst>
                  <a:path w="746090" h="452175">
                    <a:moveTo>
                      <a:pt x="746090" y="0"/>
                    </a:moveTo>
                    <a:lnTo>
                      <a:pt x="474784" y="90435"/>
                    </a:lnTo>
                    <a:lnTo>
                      <a:pt x="474784" y="452175"/>
                    </a:lnTo>
                    <a:lnTo>
                      <a:pt x="0" y="452175"/>
                    </a:lnTo>
                    <a:lnTo>
                      <a:pt x="0" y="0"/>
                    </a:lnTo>
                    <a:lnTo>
                      <a:pt x="746090" y="0"/>
                    </a:lnTo>
                  </a:path>
                </a:pathLst>
              </a:custGeom>
              <a:gradFill rotWithShape="1">
                <a:gsLst>
                  <a:gs pos="0">
                    <a:srgbClr val="FFA6A3"/>
                  </a:gs>
                  <a:gs pos="100000">
                    <a:srgbClr val="FD6A65"/>
                  </a:gs>
                </a:gsLst>
                <a:lin ang="5400000" scaled="1"/>
              </a:gra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sz="1200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xmlns="" id="{23D4CCE1-B00B-25BA-64B3-F8C9E932637E}"/>
                </a:ext>
              </a:extLst>
            </p:cNvPr>
            <p:cNvGrpSpPr/>
            <p:nvPr/>
          </p:nvGrpSpPr>
          <p:grpSpPr>
            <a:xfrm>
              <a:off x="3774512" y="3329332"/>
              <a:ext cx="746090" cy="542611"/>
              <a:chOff x="3255665" y="2170443"/>
              <a:chExt cx="746090" cy="542611"/>
            </a:xfrm>
          </p:grpSpPr>
          <p:sp>
            <p:nvSpPr>
              <p:cNvPr id="104" name="Rounded Rectangle 36">
                <a:extLst>
                  <a:ext uri="{FF2B5EF4-FFF2-40B4-BE49-F238E27FC236}">
                    <a16:creationId xmlns:a16="http://schemas.microsoft.com/office/drawing/2014/main" xmlns="" id="{13BE2A6D-8046-FA4E-7BF9-4414CE135884}"/>
                  </a:ext>
                </a:extLst>
              </p:cNvPr>
              <p:cNvSpPr/>
              <p:nvPr/>
            </p:nvSpPr>
            <p:spPr>
              <a:xfrm>
                <a:off x="3255665" y="2170443"/>
                <a:ext cx="271305" cy="90435"/>
              </a:xfrm>
              <a:custGeom>
                <a:avLst/>
                <a:gdLst/>
                <a:ahLst/>
                <a:cxnLst/>
                <a:rect l="0" t="0" r="0" b="0"/>
                <a:pathLst>
                  <a:path w="271305" h="90435">
                    <a:moveTo>
                      <a:pt x="271305" y="0"/>
                    </a:moveTo>
                    <a:lnTo>
                      <a:pt x="271305" y="90435"/>
                    </a:lnTo>
                    <a:lnTo>
                      <a:pt x="0" y="90435"/>
                    </a:lnTo>
                    <a:lnTo>
                      <a:pt x="271305" y="0"/>
                    </a:lnTo>
                    <a:close/>
                  </a:path>
                </a:pathLst>
              </a:custGeom>
              <a:noFill/>
              <a:ln w="11304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 sz="1200"/>
              </a:p>
            </p:txBody>
          </p:sp>
          <p:sp>
            <p:nvSpPr>
              <p:cNvPr id="105" name="Rounded Rectangle 37">
                <a:extLst>
                  <a:ext uri="{FF2B5EF4-FFF2-40B4-BE49-F238E27FC236}">
                    <a16:creationId xmlns:a16="http://schemas.microsoft.com/office/drawing/2014/main" xmlns="" id="{6A5CC2F4-4A10-CDD3-27B7-736193BEBC38}"/>
                  </a:ext>
                </a:extLst>
              </p:cNvPr>
              <p:cNvSpPr/>
              <p:nvPr/>
            </p:nvSpPr>
            <p:spPr>
              <a:xfrm>
                <a:off x="3255665" y="2260879"/>
                <a:ext cx="746090" cy="452175"/>
              </a:xfrm>
              <a:custGeom>
                <a:avLst/>
                <a:gdLst/>
                <a:ahLst/>
                <a:cxnLst/>
                <a:rect l="0" t="0" r="0" b="0"/>
                <a:pathLst>
                  <a:path w="746090" h="452175">
                    <a:moveTo>
                      <a:pt x="746090" y="0"/>
                    </a:moveTo>
                    <a:lnTo>
                      <a:pt x="474784" y="90435"/>
                    </a:lnTo>
                    <a:lnTo>
                      <a:pt x="474784" y="452175"/>
                    </a:lnTo>
                    <a:lnTo>
                      <a:pt x="0" y="452175"/>
                    </a:lnTo>
                    <a:lnTo>
                      <a:pt x="0" y="0"/>
                    </a:lnTo>
                    <a:lnTo>
                      <a:pt x="746090" y="0"/>
                    </a:lnTo>
                    <a:close/>
                  </a:path>
                </a:pathLst>
              </a:custGeom>
              <a:noFill/>
              <a:ln w="11304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 sz="1200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xmlns="" id="{FADEE2E4-5997-5DE1-7F6C-4688F7B1BF8B}"/>
                </a:ext>
              </a:extLst>
            </p:cNvPr>
            <p:cNvGrpSpPr/>
            <p:nvPr/>
          </p:nvGrpSpPr>
          <p:grpSpPr>
            <a:xfrm>
              <a:off x="4249297" y="3419768"/>
              <a:ext cx="746090" cy="542610"/>
              <a:chOff x="3730450" y="2260879"/>
              <a:chExt cx="746090" cy="542610"/>
            </a:xfrm>
          </p:grpSpPr>
          <p:sp>
            <p:nvSpPr>
              <p:cNvPr id="102" name="Rounded Rectangle 39">
                <a:extLst>
                  <a:ext uri="{FF2B5EF4-FFF2-40B4-BE49-F238E27FC236}">
                    <a16:creationId xmlns:a16="http://schemas.microsoft.com/office/drawing/2014/main" xmlns="" id="{DEE4B034-D39A-A925-2350-118DF475EB03}"/>
                  </a:ext>
                </a:extLst>
              </p:cNvPr>
              <p:cNvSpPr/>
              <p:nvPr/>
            </p:nvSpPr>
            <p:spPr>
              <a:xfrm>
                <a:off x="3730450" y="2260879"/>
                <a:ext cx="271305" cy="90435"/>
              </a:xfrm>
              <a:custGeom>
                <a:avLst/>
                <a:gdLst/>
                <a:ahLst/>
                <a:cxnLst/>
                <a:rect l="0" t="0" r="0" b="0"/>
                <a:pathLst>
                  <a:path w="271305" h="90435">
                    <a:moveTo>
                      <a:pt x="271305" y="0"/>
                    </a:moveTo>
                    <a:lnTo>
                      <a:pt x="271305" y="90435"/>
                    </a:lnTo>
                    <a:lnTo>
                      <a:pt x="0" y="90435"/>
                    </a:lnTo>
                    <a:lnTo>
                      <a:pt x="271305" y="0"/>
                    </a:lnTo>
                  </a:path>
                </a:pathLst>
              </a:custGeom>
              <a:gradFill rotWithShape="1">
                <a:gsLst>
                  <a:gs pos="0">
                    <a:srgbClr val="FFA1DA"/>
                  </a:gs>
                  <a:gs pos="100000">
                    <a:srgbClr val="F669BE"/>
                  </a:gs>
                </a:gsLst>
                <a:lin ang="5400000" scaled="1"/>
              </a:gra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sz="1200"/>
              </a:p>
            </p:txBody>
          </p:sp>
          <p:sp>
            <p:nvSpPr>
              <p:cNvPr id="103" name="Rounded Rectangle 40">
                <a:extLst>
                  <a:ext uri="{FF2B5EF4-FFF2-40B4-BE49-F238E27FC236}">
                    <a16:creationId xmlns:a16="http://schemas.microsoft.com/office/drawing/2014/main" xmlns="" id="{9CD3C8EC-B9BB-3291-DA0C-226B7F1B32D3}"/>
                  </a:ext>
                </a:extLst>
              </p:cNvPr>
              <p:cNvSpPr/>
              <p:nvPr/>
            </p:nvSpPr>
            <p:spPr>
              <a:xfrm>
                <a:off x="3730450" y="2351314"/>
                <a:ext cx="746090" cy="452175"/>
              </a:xfrm>
              <a:custGeom>
                <a:avLst/>
                <a:gdLst/>
                <a:ahLst/>
                <a:cxnLst/>
                <a:rect l="0" t="0" r="0" b="0"/>
                <a:pathLst>
                  <a:path w="746090" h="452175">
                    <a:moveTo>
                      <a:pt x="746090" y="0"/>
                    </a:moveTo>
                    <a:lnTo>
                      <a:pt x="474784" y="90435"/>
                    </a:lnTo>
                    <a:lnTo>
                      <a:pt x="474784" y="452175"/>
                    </a:lnTo>
                    <a:lnTo>
                      <a:pt x="0" y="452175"/>
                    </a:lnTo>
                    <a:lnTo>
                      <a:pt x="0" y="0"/>
                    </a:lnTo>
                    <a:lnTo>
                      <a:pt x="746090" y="0"/>
                    </a:lnTo>
                  </a:path>
                </a:pathLst>
              </a:custGeom>
              <a:gradFill rotWithShape="1">
                <a:gsLst>
                  <a:gs pos="0">
                    <a:srgbClr val="FFA1DA"/>
                  </a:gs>
                  <a:gs pos="100000">
                    <a:srgbClr val="F669BE"/>
                  </a:gs>
                </a:gsLst>
                <a:lin ang="5400000" scaled="1"/>
              </a:gra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sz="1200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xmlns="" id="{27C9B53D-2ECC-5F33-FE70-7B4AE4320F79}"/>
                </a:ext>
              </a:extLst>
            </p:cNvPr>
            <p:cNvGrpSpPr/>
            <p:nvPr/>
          </p:nvGrpSpPr>
          <p:grpSpPr>
            <a:xfrm>
              <a:off x="4249297" y="3419768"/>
              <a:ext cx="746090" cy="542610"/>
              <a:chOff x="3730450" y="2260879"/>
              <a:chExt cx="746090" cy="542610"/>
            </a:xfrm>
          </p:grpSpPr>
          <p:sp>
            <p:nvSpPr>
              <p:cNvPr id="100" name="Rounded Rectangle 42">
                <a:extLst>
                  <a:ext uri="{FF2B5EF4-FFF2-40B4-BE49-F238E27FC236}">
                    <a16:creationId xmlns:a16="http://schemas.microsoft.com/office/drawing/2014/main" xmlns="" id="{831DA628-C10A-8452-825A-2CC117E48873}"/>
                  </a:ext>
                </a:extLst>
              </p:cNvPr>
              <p:cNvSpPr/>
              <p:nvPr/>
            </p:nvSpPr>
            <p:spPr>
              <a:xfrm>
                <a:off x="3730450" y="2260879"/>
                <a:ext cx="271305" cy="90435"/>
              </a:xfrm>
              <a:custGeom>
                <a:avLst/>
                <a:gdLst/>
                <a:ahLst/>
                <a:cxnLst/>
                <a:rect l="0" t="0" r="0" b="0"/>
                <a:pathLst>
                  <a:path w="271305" h="90435">
                    <a:moveTo>
                      <a:pt x="271305" y="0"/>
                    </a:moveTo>
                    <a:lnTo>
                      <a:pt x="271305" y="90435"/>
                    </a:lnTo>
                    <a:lnTo>
                      <a:pt x="0" y="90435"/>
                    </a:lnTo>
                    <a:lnTo>
                      <a:pt x="271305" y="0"/>
                    </a:lnTo>
                    <a:close/>
                  </a:path>
                </a:pathLst>
              </a:custGeom>
              <a:noFill/>
              <a:ln w="11304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 sz="1200"/>
              </a:p>
            </p:txBody>
          </p:sp>
          <p:sp>
            <p:nvSpPr>
              <p:cNvPr id="101" name="Rounded Rectangle 43">
                <a:extLst>
                  <a:ext uri="{FF2B5EF4-FFF2-40B4-BE49-F238E27FC236}">
                    <a16:creationId xmlns:a16="http://schemas.microsoft.com/office/drawing/2014/main" xmlns="" id="{75AF2CB0-7EC9-EFBA-A38D-7D61FDBDCC8E}"/>
                  </a:ext>
                </a:extLst>
              </p:cNvPr>
              <p:cNvSpPr/>
              <p:nvPr/>
            </p:nvSpPr>
            <p:spPr>
              <a:xfrm>
                <a:off x="3730450" y="2351314"/>
                <a:ext cx="746090" cy="452175"/>
              </a:xfrm>
              <a:custGeom>
                <a:avLst/>
                <a:gdLst/>
                <a:ahLst/>
                <a:cxnLst/>
                <a:rect l="0" t="0" r="0" b="0"/>
                <a:pathLst>
                  <a:path w="746090" h="452175">
                    <a:moveTo>
                      <a:pt x="746090" y="0"/>
                    </a:moveTo>
                    <a:lnTo>
                      <a:pt x="474784" y="90435"/>
                    </a:lnTo>
                    <a:lnTo>
                      <a:pt x="474784" y="452175"/>
                    </a:lnTo>
                    <a:lnTo>
                      <a:pt x="0" y="452175"/>
                    </a:lnTo>
                    <a:lnTo>
                      <a:pt x="0" y="0"/>
                    </a:lnTo>
                    <a:lnTo>
                      <a:pt x="746090" y="0"/>
                    </a:lnTo>
                    <a:close/>
                  </a:path>
                </a:pathLst>
              </a:custGeom>
              <a:noFill/>
              <a:ln w="11304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 sz="1200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xmlns="" id="{A3708A7B-120B-54BE-C1C9-65390E2F5398}"/>
                </a:ext>
              </a:extLst>
            </p:cNvPr>
            <p:cNvGrpSpPr/>
            <p:nvPr/>
          </p:nvGrpSpPr>
          <p:grpSpPr>
            <a:xfrm>
              <a:off x="4724082" y="3510203"/>
              <a:ext cx="746090" cy="542610"/>
              <a:chOff x="4205235" y="2351314"/>
              <a:chExt cx="746090" cy="542610"/>
            </a:xfrm>
          </p:grpSpPr>
          <p:sp>
            <p:nvSpPr>
              <p:cNvPr id="98" name="Rounded Rectangle 45">
                <a:extLst>
                  <a:ext uri="{FF2B5EF4-FFF2-40B4-BE49-F238E27FC236}">
                    <a16:creationId xmlns:a16="http://schemas.microsoft.com/office/drawing/2014/main" xmlns="" id="{C5CEADCE-99C5-6EB4-439D-A3B682C23892}"/>
                  </a:ext>
                </a:extLst>
              </p:cNvPr>
              <p:cNvSpPr/>
              <p:nvPr/>
            </p:nvSpPr>
            <p:spPr>
              <a:xfrm>
                <a:off x="4205235" y="2351314"/>
                <a:ext cx="271305" cy="90435"/>
              </a:xfrm>
              <a:custGeom>
                <a:avLst/>
                <a:gdLst/>
                <a:ahLst/>
                <a:cxnLst/>
                <a:rect l="0" t="0" r="0" b="0"/>
                <a:pathLst>
                  <a:path w="271305" h="90435">
                    <a:moveTo>
                      <a:pt x="271305" y="0"/>
                    </a:moveTo>
                    <a:lnTo>
                      <a:pt x="271305" y="90435"/>
                    </a:lnTo>
                    <a:lnTo>
                      <a:pt x="0" y="90435"/>
                    </a:lnTo>
                    <a:lnTo>
                      <a:pt x="271305" y="0"/>
                    </a:lnTo>
                  </a:path>
                </a:pathLst>
              </a:custGeom>
              <a:gradFill rotWithShape="1">
                <a:gsLst>
                  <a:gs pos="0">
                    <a:srgbClr val="E4A9FF"/>
                  </a:gs>
                  <a:gs pos="100000">
                    <a:srgbClr val="CD6AFB"/>
                  </a:gs>
                </a:gsLst>
                <a:lin ang="5400000" scaled="1"/>
              </a:gra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sz="1200"/>
              </a:p>
            </p:txBody>
          </p:sp>
          <p:sp>
            <p:nvSpPr>
              <p:cNvPr id="99" name="Rounded Rectangle 46">
                <a:extLst>
                  <a:ext uri="{FF2B5EF4-FFF2-40B4-BE49-F238E27FC236}">
                    <a16:creationId xmlns:a16="http://schemas.microsoft.com/office/drawing/2014/main" xmlns="" id="{051FA836-2E5F-6957-6B6A-9AD738515B0B}"/>
                  </a:ext>
                </a:extLst>
              </p:cNvPr>
              <p:cNvSpPr/>
              <p:nvPr/>
            </p:nvSpPr>
            <p:spPr>
              <a:xfrm>
                <a:off x="4205235" y="2441749"/>
                <a:ext cx="746090" cy="452175"/>
              </a:xfrm>
              <a:custGeom>
                <a:avLst/>
                <a:gdLst/>
                <a:ahLst/>
                <a:cxnLst/>
                <a:rect l="0" t="0" r="0" b="0"/>
                <a:pathLst>
                  <a:path w="746090" h="452175">
                    <a:moveTo>
                      <a:pt x="746090" y="0"/>
                    </a:moveTo>
                    <a:lnTo>
                      <a:pt x="474784" y="90435"/>
                    </a:lnTo>
                    <a:lnTo>
                      <a:pt x="474784" y="452175"/>
                    </a:lnTo>
                    <a:lnTo>
                      <a:pt x="0" y="452175"/>
                    </a:lnTo>
                    <a:lnTo>
                      <a:pt x="0" y="0"/>
                    </a:lnTo>
                    <a:lnTo>
                      <a:pt x="746090" y="0"/>
                    </a:lnTo>
                  </a:path>
                </a:pathLst>
              </a:custGeom>
              <a:gradFill rotWithShape="1">
                <a:gsLst>
                  <a:gs pos="0">
                    <a:srgbClr val="E4A9FF"/>
                  </a:gs>
                  <a:gs pos="100000">
                    <a:srgbClr val="CD6AFB"/>
                  </a:gs>
                </a:gsLst>
                <a:lin ang="5400000" scaled="1"/>
              </a:gra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sz="1200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xmlns="" id="{AF3D924E-E828-7BD2-74FB-4A75C715EFC8}"/>
                </a:ext>
              </a:extLst>
            </p:cNvPr>
            <p:cNvGrpSpPr/>
            <p:nvPr/>
          </p:nvGrpSpPr>
          <p:grpSpPr>
            <a:xfrm>
              <a:off x="4724082" y="3510203"/>
              <a:ext cx="746090" cy="542610"/>
              <a:chOff x="4205235" y="2351314"/>
              <a:chExt cx="746090" cy="542610"/>
            </a:xfrm>
          </p:grpSpPr>
          <p:sp>
            <p:nvSpPr>
              <p:cNvPr id="96" name="Rounded Rectangle 48">
                <a:extLst>
                  <a:ext uri="{FF2B5EF4-FFF2-40B4-BE49-F238E27FC236}">
                    <a16:creationId xmlns:a16="http://schemas.microsoft.com/office/drawing/2014/main" xmlns="" id="{6F7CCDA4-0FF6-4D25-5E2F-247CC8923E51}"/>
                  </a:ext>
                </a:extLst>
              </p:cNvPr>
              <p:cNvSpPr/>
              <p:nvPr/>
            </p:nvSpPr>
            <p:spPr>
              <a:xfrm>
                <a:off x="4205235" y="2351314"/>
                <a:ext cx="271305" cy="90435"/>
              </a:xfrm>
              <a:custGeom>
                <a:avLst/>
                <a:gdLst/>
                <a:ahLst/>
                <a:cxnLst/>
                <a:rect l="0" t="0" r="0" b="0"/>
                <a:pathLst>
                  <a:path w="271305" h="90435">
                    <a:moveTo>
                      <a:pt x="271305" y="0"/>
                    </a:moveTo>
                    <a:lnTo>
                      <a:pt x="271305" y="90435"/>
                    </a:lnTo>
                    <a:lnTo>
                      <a:pt x="0" y="90435"/>
                    </a:lnTo>
                    <a:lnTo>
                      <a:pt x="271305" y="0"/>
                    </a:lnTo>
                    <a:close/>
                  </a:path>
                </a:pathLst>
              </a:custGeom>
              <a:noFill/>
              <a:ln w="11304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 sz="1200"/>
              </a:p>
            </p:txBody>
          </p:sp>
          <p:sp>
            <p:nvSpPr>
              <p:cNvPr id="97" name="Rounded Rectangle 49">
                <a:extLst>
                  <a:ext uri="{FF2B5EF4-FFF2-40B4-BE49-F238E27FC236}">
                    <a16:creationId xmlns:a16="http://schemas.microsoft.com/office/drawing/2014/main" xmlns="" id="{009AFEDC-90B5-CB14-F0E8-56A19F395A74}"/>
                  </a:ext>
                </a:extLst>
              </p:cNvPr>
              <p:cNvSpPr/>
              <p:nvPr/>
            </p:nvSpPr>
            <p:spPr>
              <a:xfrm>
                <a:off x="4205235" y="2441749"/>
                <a:ext cx="746090" cy="452175"/>
              </a:xfrm>
              <a:custGeom>
                <a:avLst/>
                <a:gdLst/>
                <a:ahLst/>
                <a:cxnLst/>
                <a:rect l="0" t="0" r="0" b="0"/>
                <a:pathLst>
                  <a:path w="746090" h="452175">
                    <a:moveTo>
                      <a:pt x="746090" y="0"/>
                    </a:moveTo>
                    <a:lnTo>
                      <a:pt x="474784" y="90435"/>
                    </a:lnTo>
                    <a:lnTo>
                      <a:pt x="474784" y="452175"/>
                    </a:lnTo>
                    <a:lnTo>
                      <a:pt x="0" y="452175"/>
                    </a:lnTo>
                    <a:lnTo>
                      <a:pt x="0" y="0"/>
                    </a:lnTo>
                    <a:lnTo>
                      <a:pt x="746090" y="0"/>
                    </a:lnTo>
                    <a:close/>
                  </a:path>
                </a:pathLst>
              </a:custGeom>
              <a:noFill/>
              <a:ln w="11304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 sz="120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xmlns="" id="{FEDF3A3B-56D2-B7E5-5857-E3CC064190D2}"/>
                </a:ext>
              </a:extLst>
            </p:cNvPr>
            <p:cNvGrpSpPr/>
            <p:nvPr/>
          </p:nvGrpSpPr>
          <p:grpSpPr>
            <a:xfrm>
              <a:off x="5198866" y="3600638"/>
              <a:ext cx="746090" cy="542610"/>
              <a:chOff x="4680019" y="2441749"/>
              <a:chExt cx="746090" cy="542610"/>
            </a:xfrm>
          </p:grpSpPr>
          <p:sp>
            <p:nvSpPr>
              <p:cNvPr id="94" name="Rounded Rectangle 51">
                <a:extLst>
                  <a:ext uri="{FF2B5EF4-FFF2-40B4-BE49-F238E27FC236}">
                    <a16:creationId xmlns:a16="http://schemas.microsoft.com/office/drawing/2014/main" xmlns="" id="{E69043CF-2560-9BD6-09CC-4D38C67E408B}"/>
                  </a:ext>
                </a:extLst>
              </p:cNvPr>
              <p:cNvSpPr/>
              <p:nvPr/>
            </p:nvSpPr>
            <p:spPr>
              <a:xfrm>
                <a:off x="4680019" y="2441749"/>
                <a:ext cx="271305" cy="90435"/>
              </a:xfrm>
              <a:custGeom>
                <a:avLst/>
                <a:gdLst/>
                <a:ahLst/>
                <a:cxnLst/>
                <a:rect l="0" t="0" r="0" b="0"/>
                <a:pathLst>
                  <a:path w="271305" h="90435">
                    <a:moveTo>
                      <a:pt x="271305" y="0"/>
                    </a:moveTo>
                    <a:lnTo>
                      <a:pt x="271305" y="90435"/>
                    </a:lnTo>
                    <a:lnTo>
                      <a:pt x="0" y="90435"/>
                    </a:lnTo>
                    <a:lnTo>
                      <a:pt x="271305" y="0"/>
                    </a:lnTo>
                  </a:path>
                </a:pathLst>
              </a:custGeom>
              <a:gradFill rotWithShape="1">
                <a:gsLst>
                  <a:gs pos="0">
                    <a:srgbClr val="BCABFF"/>
                  </a:gs>
                  <a:gs pos="100000">
                    <a:srgbClr val="886AFF"/>
                  </a:gs>
                </a:gsLst>
                <a:lin ang="5400000" scaled="1"/>
              </a:gra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sz="1200"/>
              </a:p>
            </p:txBody>
          </p:sp>
          <p:sp>
            <p:nvSpPr>
              <p:cNvPr id="95" name="Rounded Rectangle 52">
                <a:extLst>
                  <a:ext uri="{FF2B5EF4-FFF2-40B4-BE49-F238E27FC236}">
                    <a16:creationId xmlns:a16="http://schemas.microsoft.com/office/drawing/2014/main" xmlns="" id="{209E9DF9-3B8C-976F-CE1E-37A8D5972FE3}"/>
                  </a:ext>
                </a:extLst>
              </p:cNvPr>
              <p:cNvSpPr/>
              <p:nvPr/>
            </p:nvSpPr>
            <p:spPr>
              <a:xfrm>
                <a:off x="4680019" y="2532184"/>
                <a:ext cx="746090" cy="452175"/>
              </a:xfrm>
              <a:custGeom>
                <a:avLst/>
                <a:gdLst/>
                <a:ahLst/>
                <a:cxnLst/>
                <a:rect l="0" t="0" r="0" b="0"/>
                <a:pathLst>
                  <a:path w="746090" h="452175">
                    <a:moveTo>
                      <a:pt x="746090" y="0"/>
                    </a:moveTo>
                    <a:lnTo>
                      <a:pt x="474784" y="90435"/>
                    </a:lnTo>
                    <a:lnTo>
                      <a:pt x="474784" y="452175"/>
                    </a:lnTo>
                    <a:lnTo>
                      <a:pt x="0" y="452175"/>
                    </a:lnTo>
                    <a:lnTo>
                      <a:pt x="0" y="0"/>
                    </a:lnTo>
                    <a:lnTo>
                      <a:pt x="746090" y="0"/>
                    </a:lnTo>
                  </a:path>
                </a:pathLst>
              </a:custGeom>
              <a:gradFill rotWithShape="1">
                <a:gsLst>
                  <a:gs pos="0">
                    <a:srgbClr val="BCABFF"/>
                  </a:gs>
                  <a:gs pos="100000">
                    <a:srgbClr val="886AFF"/>
                  </a:gs>
                </a:gsLst>
                <a:lin ang="5400000" scaled="1"/>
              </a:gra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sz="120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xmlns="" id="{8A43E307-0849-6828-4F9E-C60EC34B9A40}"/>
                </a:ext>
              </a:extLst>
            </p:cNvPr>
            <p:cNvGrpSpPr/>
            <p:nvPr/>
          </p:nvGrpSpPr>
          <p:grpSpPr>
            <a:xfrm>
              <a:off x="5198866" y="3600638"/>
              <a:ext cx="746090" cy="542610"/>
              <a:chOff x="4680019" y="2441749"/>
              <a:chExt cx="746090" cy="542610"/>
            </a:xfrm>
          </p:grpSpPr>
          <p:sp>
            <p:nvSpPr>
              <p:cNvPr id="92" name="Rounded Rectangle 54">
                <a:extLst>
                  <a:ext uri="{FF2B5EF4-FFF2-40B4-BE49-F238E27FC236}">
                    <a16:creationId xmlns:a16="http://schemas.microsoft.com/office/drawing/2014/main" xmlns="" id="{6729FD64-1949-5407-D347-3A23446D7C97}"/>
                  </a:ext>
                </a:extLst>
              </p:cNvPr>
              <p:cNvSpPr/>
              <p:nvPr/>
            </p:nvSpPr>
            <p:spPr>
              <a:xfrm>
                <a:off x="4680019" y="2441749"/>
                <a:ext cx="271305" cy="90435"/>
              </a:xfrm>
              <a:custGeom>
                <a:avLst/>
                <a:gdLst/>
                <a:ahLst/>
                <a:cxnLst/>
                <a:rect l="0" t="0" r="0" b="0"/>
                <a:pathLst>
                  <a:path w="271305" h="90435">
                    <a:moveTo>
                      <a:pt x="271305" y="0"/>
                    </a:moveTo>
                    <a:lnTo>
                      <a:pt x="271305" y="90435"/>
                    </a:lnTo>
                    <a:lnTo>
                      <a:pt x="0" y="90435"/>
                    </a:lnTo>
                    <a:lnTo>
                      <a:pt x="271305" y="0"/>
                    </a:lnTo>
                    <a:close/>
                  </a:path>
                </a:pathLst>
              </a:custGeom>
              <a:noFill/>
              <a:ln w="11304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 sz="1200"/>
              </a:p>
            </p:txBody>
          </p:sp>
          <p:sp>
            <p:nvSpPr>
              <p:cNvPr id="93" name="Rounded Rectangle 55">
                <a:extLst>
                  <a:ext uri="{FF2B5EF4-FFF2-40B4-BE49-F238E27FC236}">
                    <a16:creationId xmlns:a16="http://schemas.microsoft.com/office/drawing/2014/main" xmlns="" id="{B7C97428-5C97-FCFA-8700-D0B47BEE327B}"/>
                  </a:ext>
                </a:extLst>
              </p:cNvPr>
              <p:cNvSpPr/>
              <p:nvPr/>
            </p:nvSpPr>
            <p:spPr>
              <a:xfrm>
                <a:off x="4680019" y="2532184"/>
                <a:ext cx="746090" cy="452175"/>
              </a:xfrm>
              <a:custGeom>
                <a:avLst/>
                <a:gdLst/>
                <a:ahLst/>
                <a:cxnLst/>
                <a:rect l="0" t="0" r="0" b="0"/>
                <a:pathLst>
                  <a:path w="746090" h="452175">
                    <a:moveTo>
                      <a:pt x="746090" y="0"/>
                    </a:moveTo>
                    <a:lnTo>
                      <a:pt x="474784" y="90435"/>
                    </a:lnTo>
                    <a:lnTo>
                      <a:pt x="474784" y="452175"/>
                    </a:lnTo>
                    <a:lnTo>
                      <a:pt x="0" y="452175"/>
                    </a:lnTo>
                    <a:lnTo>
                      <a:pt x="0" y="0"/>
                    </a:lnTo>
                    <a:lnTo>
                      <a:pt x="746090" y="0"/>
                    </a:lnTo>
                    <a:close/>
                  </a:path>
                </a:pathLst>
              </a:custGeom>
              <a:noFill/>
              <a:ln w="11304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 sz="120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xmlns="" id="{77CBDFF2-6278-92DC-5097-124B71321E42}"/>
                </a:ext>
              </a:extLst>
            </p:cNvPr>
            <p:cNvGrpSpPr/>
            <p:nvPr/>
          </p:nvGrpSpPr>
          <p:grpSpPr>
            <a:xfrm>
              <a:off x="5673651" y="3691073"/>
              <a:ext cx="746090" cy="542610"/>
              <a:chOff x="5154804" y="2532184"/>
              <a:chExt cx="746090" cy="542610"/>
            </a:xfrm>
          </p:grpSpPr>
          <p:sp>
            <p:nvSpPr>
              <p:cNvPr id="90" name="Rounded Rectangle 57">
                <a:extLst>
                  <a:ext uri="{FF2B5EF4-FFF2-40B4-BE49-F238E27FC236}">
                    <a16:creationId xmlns:a16="http://schemas.microsoft.com/office/drawing/2014/main" xmlns="" id="{3A4A1CC5-53D2-BC4A-EF1C-1DC8611508B6}"/>
                  </a:ext>
                </a:extLst>
              </p:cNvPr>
              <p:cNvSpPr/>
              <p:nvPr/>
            </p:nvSpPr>
            <p:spPr>
              <a:xfrm>
                <a:off x="5154804" y="2532184"/>
                <a:ext cx="271305" cy="90435"/>
              </a:xfrm>
              <a:custGeom>
                <a:avLst/>
                <a:gdLst/>
                <a:ahLst/>
                <a:cxnLst/>
                <a:rect l="0" t="0" r="0" b="0"/>
                <a:pathLst>
                  <a:path w="271305" h="90435">
                    <a:moveTo>
                      <a:pt x="271305" y="0"/>
                    </a:moveTo>
                    <a:lnTo>
                      <a:pt x="271305" y="90435"/>
                    </a:lnTo>
                    <a:lnTo>
                      <a:pt x="0" y="90435"/>
                    </a:lnTo>
                    <a:lnTo>
                      <a:pt x="271305" y="0"/>
                    </a:lnTo>
                  </a:path>
                </a:pathLst>
              </a:custGeom>
              <a:gradFill rotWithShape="1">
                <a:gsLst>
                  <a:gs pos="0">
                    <a:srgbClr val="C8C8C8"/>
                  </a:gs>
                  <a:gs pos="100000">
                    <a:srgbClr val="A3A3A3"/>
                  </a:gs>
                </a:gsLst>
                <a:lin ang="5400000" scaled="1"/>
              </a:gra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sz="1200"/>
              </a:p>
            </p:txBody>
          </p:sp>
          <p:sp>
            <p:nvSpPr>
              <p:cNvPr id="91" name="Rounded Rectangle 58">
                <a:extLst>
                  <a:ext uri="{FF2B5EF4-FFF2-40B4-BE49-F238E27FC236}">
                    <a16:creationId xmlns:a16="http://schemas.microsoft.com/office/drawing/2014/main" xmlns="" id="{029EECB6-74CB-2215-21D7-A726150D4D7D}"/>
                  </a:ext>
                </a:extLst>
              </p:cNvPr>
              <p:cNvSpPr/>
              <p:nvPr/>
            </p:nvSpPr>
            <p:spPr>
              <a:xfrm>
                <a:off x="5154804" y="2622619"/>
                <a:ext cx="746090" cy="452175"/>
              </a:xfrm>
              <a:custGeom>
                <a:avLst/>
                <a:gdLst/>
                <a:ahLst/>
                <a:cxnLst/>
                <a:rect l="0" t="0" r="0" b="0"/>
                <a:pathLst>
                  <a:path w="746090" h="452175">
                    <a:moveTo>
                      <a:pt x="746090" y="0"/>
                    </a:moveTo>
                    <a:lnTo>
                      <a:pt x="474784" y="90435"/>
                    </a:lnTo>
                    <a:lnTo>
                      <a:pt x="474784" y="452175"/>
                    </a:lnTo>
                    <a:lnTo>
                      <a:pt x="0" y="452175"/>
                    </a:lnTo>
                    <a:lnTo>
                      <a:pt x="0" y="0"/>
                    </a:lnTo>
                    <a:lnTo>
                      <a:pt x="746090" y="0"/>
                    </a:lnTo>
                  </a:path>
                </a:pathLst>
              </a:custGeom>
              <a:gradFill rotWithShape="1">
                <a:gsLst>
                  <a:gs pos="0">
                    <a:srgbClr val="C8C8C8"/>
                  </a:gs>
                  <a:gs pos="100000">
                    <a:srgbClr val="A3A3A3"/>
                  </a:gs>
                </a:gsLst>
                <a:lin ang="5400000" scaled="1"/>
              </a:gra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sz="120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xmlns="" id="{FD408CAC-543E-83BD-E81A-94BA38709EB4}"/>
                </a:ext>
              </a:extLst>
            </p:cNvPr>
            <p:cNvGrpSpPr/>
            <p:nvPr/>
          </p:nvGrpSpPr>
          <p:grpSpPr>
            <a:xfrm>
              <a:off x="5673651" y="3691073"/>
              <a:ext cx="746090" cy="542610"/>
              <a:chOff x="5154804" y="2532184"/>
              <a:chExt cx="746090" cy="542610"/>
            </a:xfrm>
          </p:grpSpPr>
          <p:sp>
            <p:nvSpPr>
              <p:cNvPr id="88" name="Rounded Rectangle 60">
                <a:extLst>
                  <a:ext uri="{FF2B5EF4-FFF2-40B4-BE49-F238E27FC236}">
                    <a16:creationId xmlns:a16="http://schemas.microsoft.com/office/drawing/2014/main" xmlns="" id="{07DD176A-A965-F975-ABB4-C5C72BCF0879}"/>
                  </a:ext>
                </a:extLst>
              </p:cNvPr>
              <p:cNvSpPr/>
              <p:nvPr/>
            </p:nvSpPr>
            <p:spPr>
              <a:xfrm>
                <a:off x="5154804" y="2532184"/>
                <a:ext cx="271305" cy="90435"/>
              </a:xfrm>
              <a:custGeom>
                <a:avLst/>
                <a:gdLst/>
                <a:ahLst/>
                <a:cxnLst/>
                <a:rect l="0" t="0" r="0" b="0"/>
                <a:pathLst>
                  <a:path w="271305" h="90435">
                    <a:moveTo>
                      <a:pt x="271305" y="0"/>
                    </a:moveTo>
                    <a:lnTo>
                      <a:pt x="271305" y="90435"/>
                    </a:lnTo>
                    <a:lnTo>
                      <a:pt x="0" y="90435"/>
                    </a:lnTo>
                    <a:lnTo>
                      <a:pt x="271305" y="0"/>
                    </a:lnTo>
                    <a:close/>
                  </a:path>
                </a:pathLst>
              </a:custGeom>
              <a:noFill/>
              <a:ln w="11304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 sz="1200"/>
              </a:p>
            </p:txBody>
          </p:sp>
          <p:sp>
            <p:nvSpPr>
              <p:cNvPr id="89" name="Rounded Rectangle 61">
                <a:extLst>
                  <a:ext uri="{FF2B5EF4-FFF2-40B4-BE49-F238E27FC236}">
                    <a16:creationId xmlns:a16="http://schemas.microsoft.com/office/drawing/2014/main" xmlns="" id="{ACC31066-813E-9B62-13DD-8DA7870AB34C}"/>
                  </a:ext>
                </a:extLst>
              </p:cNvPr>
              <p:cNvSpPr/>
              <p:nvPr/>
            </p:nvSpPr>
            <p:spPr>
              <a:xfrm>
                <a:off x="5154804" y="2622619"/>
                <a:ext cx="746090" cy="452175"/>
              </a:xfrm>
              <a:custGeom>
                <a:avLst/>
                <a:gdLst/>
                <a:ahLst/>
                <a:cxnLst/>
                <a:rect l="0" t="0" r="0" b="0"/>
                <a:pathLst>
                  <a:path w="746090" h="452175">
                    <a:moveTo>
                      <a:pt x="746090" y="0"/>
                    </a:moveTo>
                    <a:lnTo>
                      <a:pt x="474784" y="90435"/>
                    </a:lnTo>
                    <a:lnTo>
                      <a:pt x="474784" y="452175"/>
                    </a:lnTo>
                    <a:lnTo>
                      <a:pt x="0" y="452175"/>
                    </a:lnTo>
                    <a:lnTo>
                      <a:pt x="0" y="0"/>
                    </a:lnTo>
                    <a:lnTo>
                      <a:pt x="746090" y="0"/>
                    </a:lnTo>
                    <a:close/>
                  </a:path>
                </a:pathLst>
              </a:custGeom>
              <a:noFill/>
              <a:ln w="11304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 sz="120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xmlns="" id="{DABC990E-3B9D-0786-D353-DB4799DE1D6B}"/>
                </a:ext>
              </a:extLst>
            </p:cNvPr>
            <p:cNvGrpSpPr/>
            <p:nvPr/>
          </p:nvGrpSpPr>
          <p:grpSpPr>
            <a:xfrm>
              <a:off x="6148436" y="3781508"/>
              <a:ext cx="746090" cy="542610"/>
              <a:chOff x="5629589" y="2622619"/>
              <a:chExt cx="746090" cy="542610"/>
            </a:xfrm>
            <a:solidFill>
              <a:schemeClr val="bg1">
                <a:lumMod val="95000"/>
              </a:schemeClr>
            </a:solidFill>
          </p:grpSpPr>
          <p:sp>
            <p:nvSpPr>
              <p:cNvPr id="86" name="Rounded Rectangle 63">
                <a:extLst>
                  <a:ext uri="{FF2B5EF4-FFF2-40B4-BE49-F238E27FC236}">
                    <a16:creationId xmlns:a16="http://schemas.microsoft.com/office/drawing/2014/main" xmlns="" id="{489E3BAF-35B5-5F0F-8C81-8C84E03AA124}"/>
                  </a:ext>
                </a:extLst>
              </p:cNvPr>
              <p:cNvSpPr/>
              <p:nvPr/>
            </p:nvSpPr>
            <p:spPr>
              <a:xfrm>
                <a:off x="5629589" y="2622619"/>
                <a:ext cx="271305" cy="90435"/>
              </a:xfrm>
              <a:custGeom>
                <a:avLst/>
                <a:gdLst/>
                <a:ahLst/>
                <a:cxnLst/>
                <a:rect l="0" t="0" r="0" b="0"/>
                <a:pathLst>
                  <a:path w="271305" h="90435">
                    <a:moveTo>
                      <a:pt x="271305" y="0"/>
                    </a:moveTo>
                    <a:lnTo>
                      <a:pt x="271305" y="90435"/>
                    </a:lnTo>
                    <a:lnTo>
                      <a:pt x="0" y="90435"/>
                    </a:lnTo>
                    <a:lnTo>
                      <a:pt x="271305" y="0"/>
                    </a:lnTo>
                  </a:path>
                </a:pathLst>
              </a:custGeom>
              <a:grpFill/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sz="1200"/>
              </a:p>
            </p:txBody>
          </p:sp>
          <p:sp>
            <p:nvSpPr>
              <p:cNvPr id="87" name="Rounded Rectangle 64">
                <a:extLst>
                  <a:ext uri="{FF2B5EF4-FFF2-40B4-BE49-F238E27FC236}">
                    <a16:creationId xmlns:a16="http://schemas.microsoft.com/office/drawing/2014/main" xmlns="" id="{457D42F9-AC4C-800F-839B-6B9239CFEC17}"/>
                  </a:ext>
                </a:extLst>
              </p:cNvPr>
              <p:cNvSpPr/>
              <p:nvPr/>
            </p:nvSpPr>
            <p:spPr>
              <a:xfrm>
                <a:off x="5629589" y="2713054"/>
                <a:ext cx="746090" cy="452175"/>
              </a:xfrm>
              <a:custGeom>
                <a:avLst/>
                <a:gdLst/>
                <a:ahLst/>
                <a:cxnLst/>
                <a:rect l="0" t="0" r="0" b="0"/>
                <a:pathLst>
                  <a:path w="746090" h="452175">
                    <a:moveTo>
                      <a:pt x="746090" y="0"/>
                    </a:moveTo>
                    <a:lnTo>
                      <a:pt x="474784" y="90435"/>
                    </a:lnTo>
                    <a:lnTo>
                      <a:pt x="474784" y="452175"/>
                    </a:lnTo>
                    <a:lnTo>
                      <a:pt x="0" y="452175"/>
                    </a:lnTo>
                    <a:lnTo>
                      <a:pt x="0" y="0"/>
                    </a:lnTo>
                    <a:lnTo>
                      <a:pt x="746090" y="0"/>
                    </a:lnTo>
                  </a:path>
                </a:pathLst>
              </a:custGeom>
              <a:grpFill/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sz="120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xmlns="" id="{FFE0ECAA-0E48-0727-3923-EED2A622F259}"/>
                </a:ext>
              </a:extLst>
            </p:cNvPr>
            <p:cNvGrpSpPr/>
            <p:nvPr/>
          </p:nvGrpSpPr>
          <p:grpSpPr>
            <a:xfrm>
              <a:off x="6148436" y="3781508"/>
              <a:ext cx="746090" cy="542610"/>
              <a:chOff x="5629589" y="2622619"/>
              <a:chExt cx="746090" cy="542610"/>
            </a:xfrm>
          </p:grpSpPr>
          <p:sp>
            <p:nvSpPr>
              <p:cNvPr id="84" name="Rounded Rectangle 66">
                <a:extLst>
                  <a:ext uri="{FF2B5EF4-FFF2-40B4-BE49-F238E27FC236}">
                    <a16:creationId xmlns:a16="http://schemas.microsoft.com/office/drawing/2014/main" xmlns="" id="{CB97E16E-7F80-CEF9-F7E7-86EA145FE210}"/>
                  </a:ext>
                </a:extLst>
              </p:cNvPr>
              <p:cNvSpPr/>
              <p:nvPr/>
            </p:nvSpPr>
            <p:spPr>
              <a:xfrm>
                <a:off x="5629589" y="2622619"/>
                <a:ext cx="271305" cy="90435"/>
              </a:xfrm>
              <a:custGeom>
                <a:avLst/>
                <a:gdLst/>
                <a:ahLst/>
                <a:cxnLst/>
                <a:rect l="0" t="0" r="0" b="0"/>
                <a:pathLst>
                  <a:path w="271305" h="90435">
                    <a:moveTo>
                      <a:pt x="271305" y="0"/>
                    </a:moveTo>
                    <a:lnTo>
                      <a:pt x="271305" y="90435"/>
                    </a:lnTo>
                    <a:lnTo>
                      <a:pt x="0" y="90435"/>
                    </a:lnTo>
                    <a:lnTo>
                      <a:pt x="271305" y="0"/>
                    </a:lnTo>
                    <a:close/>
                  </a:path>
                </a:pathLst>
              </a:custGeom>
              <a:noFill/>
              <a:ln w="11304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 sz="1200"/>
              </a:p>
            </p:txBody>
          </p:sp>
          <p:sp>
            <p:nvSpPr>
              <p:cNvPr id="85" name="Rounded Rectangle 67">
                <a:extLst>
                  <a:ext uri="{FF2B5EF4-FFF2-40B4-BE49-F238E27FC236}">
                    <a16:creationId xmlns:a16="http://schemas.microsoft.com/office/drawing/2014/main" xmlns="" id="{FC1BF1A9-F140-C6AF-C8A7-2D0FC5E68EFA}"/>
                  </a:ext>
                </a:extLst>
              </p:cNvPr>
              <p:cNvSpPr/>
              <p:nvPr/>
            </p:nvSpPr>
            <p:spPr>
              <a:xfrm>
                <a:off x="5629589" y="2713054"/>
                <a:ext cx="746090" cy="452175"/>
              </a:xfrm>
              <a:custGeom>
                <a:avLst/>
                <a:gdLst/>
                <a:ahLst/>
                <a:cxnLst/>
                <a:rect l="0" t="0" r="0" b="0"/>
                <a:pathLst>
                  <a:path w="746090" h="452175">
                    <a:moveTo>
                      <a:pt x="746090" y="0"/>
                    </a:moveTo>
                    <a:lnTo>
                      <a:pt x="474784" y="90435"/>
                    </a:lnTo>
                    <a:lnTo>
                      <a:pt x="474784" y="452175"/>
                    </a:lnTo>
                    <a:lnTo>
                      <a:pt x="0" y="452175"/>
                    </a:lnTo>
                    <a:lnTo>
                      <a:pt x="0" y="0"/>
                    </a:lnTo>
                    <a:lnTo>
                      <a:pt x="746090" y="0"/>
                    </a:lnTo>
                    <a:close/>
                  </a:path>
                </a:pathLst>
              </a:custGeom>
              <a:noFill/>
              <a:ln w="11304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 sz="120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xmlns="" id="{170C8510-82AC-A509-CDF7-29303F0F6430}"/>
                </a:ext>
              </a:extLst>
            </p:cNvPr>
            <p:cNvGrpSpPr/>
            <p:nvPr/>
          </p:nvGrpSpPr>
          <p:grpSpPr>
            <a:xfrm>
              <a:off x="6709265" y="3903428"/>
              <a:ext cx="746090" cy="542610"/>
              <a:chOff x="6579158" y="2803490"/>
              <a:chExt cx="746090" cy="542610"/>
            </a:xfrm>
          </p:grpSpPr>
          <p:sp>
            <p:nvSpPr>
              <p:cNvPr id="82" name="Rounded Rectangle 75">
                <a:extLst>
                  <a:ext uri="{FF2B5EF4-FFF2-40B4-BE49-F238E27FC236}">
                    <a16:creationId xmlns:a16="http://schemas.microsoft.com/office/drawing/2014/main" xmlns="" id="{C032D85A-C067-13DC-D07D-4D25C0BBE5C7}"/>
                  </a:ext>
                </a:extLst>
              </p:cNvPr>
              <p:cNvSpPr/>
              <p:nvPr/>
            </p:nvSpPr>
            <p:spPr>
              <a:xfrm>
                <a:off x="6579158" y="2803490"/>
                <a:ext cx="271305" cy="90435"/>
              </a:xfrm>
              <a:custGeom>
                <a:avLst/>
                <a:gdLst/>
                <a:ahLst/>
                <a:cxnLst/>
                <a:rect l="0" t="0" r="0" b="0"/>
                <a:pathLst>
                  <a:path w="271305" h="90435">
                    <a:moveTo>
                      <a:pt x="271305" y="0"/>
                    </a:moveTo>
                    <a:lnTo>
                      <a:pt x="271305" y="90435"/>
                    </a:lnTo>
                    <a:lnTo>
                      <a:pt x="0" y="90435"/>
                    </a:lnTo>
                    <a:lnTo>
                      <a:pt x="271305" y="0"/>
                    </a:lnTo>
                  </a:path>
                </a:pathLst>
              </a:custGeom>
              <a:gradFill rotWithShape="1">
                <a:gsLst>
                  <a:gs pos="0">
                    <a:srgbClr val="FFA1DA"/>
                  </a:gs>
                  <a:gs pos="100000">
                    <a:srgbClr val="F669BE"/>
                  </a:gs>
                </a:gsLst>
                <a:lin ang="5400000" scaled="1"/>
              </a:gra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sz="1200"/>
              </a:p>
            </p:txBody>
          </p:sp>
          <p:sp>
            <p:nvSpPr>
              <p:cNvPr id="83" name="Rounded Rectangle 76">
                <a:extLst>
                  <a:ext uri="{FF2B5EF4-FFF2-40B4-BE49-F238E27FC236}">
                    <a16:creationId xmlns:a16="http://schemas.microsoft.com/office/drawing/2014/main" xmlns="" id="{726842B7-2C81-B261-6BE1-F6DA31905DE2}"/>
                  </a:ext>
                </a:extLst>
              </p:cNvPr>
              <p:cNvSpPr/>
              <p:nvPr/>
            </p:nvSpPr>
            <p:spPr>
              <a:xfrm>
                <a:off x="6579158" y="2893925"/>
                <a:ext cx="746090" cy="452175"/>
              </a:xfrm>
              <a:custGeom>
                <a:avLst/>
                <a:gdLst/>
                <a:ahLst/>
                <a:cxnLst/>
                <a:rect l="0" t="0" r="0" b="0"/>
                <a:pathLst>
                  <a:path w="746090" h="452175">
                    <a:moveTo>
                      <a:pt x="746090" y="0"/>
                    </a:moveTo>
                    <a:lnTo>
                      <a:pt x="474784" y="90435"/>
                    </a:lnTo>
                    <a:lnTo>
                      <a:pt x="474784" y="452175"/>
                    </a:lnTo>
                    <a:lnTo>
                      <a:pt x="0" y="452175"/>
                    </a:lnTo>
                    <a:lnTo>
                      <a:pt x="0" y="0"/>
                    </a:lnTo>
                    <a:lnTo>
                      <a:pt x="746090" y="0"/>
                    </a:lnTo>
                  </a:path>
                </a:pathLst>
              </a:custGeom>
              <a:gradFill rotWithShape="1">
                <a:gsLst>
                  <a:gs pos="0">
                    <a:srgbClr val="FFA1DA"/>
                  </a:gs>
                  <a:gs pos="100000">
                    <a:srgbClr val="F669BE"/>
                  </a:gs>
                </a:gsLst>
                <a:lin ang="5400000" scaled="1"/>
              </a:gra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sz="1200"/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xmlns="" id="{04BDDC91-8CF4-9FEF-5161-43BC6BE648DB}"/>
                </a:ext>
              </a:extLst>
            </p:cNvPr>
            <p:cNvGrpSpPr/>
            <p:nvPr/>
          </p:nvGrpSpPr>
          <p:grpSpPr>
            <a:xfrm>
              <a:off x="6709265" y="3903428"/>
              <a:ext cx="746090" cy="542610"/>
              <a:chOff x="6579158" y="2803490"/>
              <a:chExt cx="746090" cy="542610"/>
            </a:xfrm>
          </p:grpSpPr>
          <p:sp>
            <p:nvSpPr>
              <p:cNvPr id="80" name="Rounded Rectangle 78">
                <a:extLst>
                  <a:ext uri="{FF2B5EF4-FFF2-40B4-BE49-F238E27FC236}">
                    <a16:creationId xmlns:a16="http://schemas.microsoft.com/office/drawing/2014/main" xmlns="" id="{4328E3FE-937E-6305-A625-CF43ABE7EE75}"/>
                  </a:ext>
                </a:extLst>
              </p:cNvPr>
              <p:cNvSpPr/>
              <p:nvPr/>
            </p:nvSpPr>
            <p:spPr>
              <a:xfrm>
                <a:off x="6579158" y="2803490"/>
                <a:ext cx="271305" cy="90435"/>
              </a:xfrm>
              <a:custGeom>
                <a:avLst/>
                <a:gdLst/>
                <a:ahLst/>
                <a:cxnLst/>
                <a:rect l="0" t="0" r="0" b="0"/>
                <a:pathLst>
                  <a:path w="271305" h="90435">
                    <a:moveTo>
                      <a:pt x="271305" y="0"/>
                    </a:moveTo>
                    <a:lnTo>
                      <a:pt x="271305" y="90435"/>
                    </a:lnTo>
                    <a:lnTo>
                      <a:pt x="0" y="90435"/>
                    </a:lnTo>
                    <a:lnTo>
                      <a:pt x="271305" y="0"/>
                    </a:lnTo>
                    <a:close/>
                  </a:path>
                </a:pathLst>
              </a:custGeom>
              <a:noFill/>
              <a:ln w="11304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 sz="1200"/>
              </a:p>
            </p:txBody>
          </p:sp>
          <p:sp>
            <p:nvSpPr>
              <p:cNvPr id="81" name="Rounded Rectangle 79">
                <a:extLst>
                  <a:ext uri="{FF2B5EF4-FFF2-40B4-BE49-F238E27FC236}">
                    <a16:creationId xmlns:a16="http://schemas.microsoft.com/office/drawing/2014/main" xmlns="" id="{E578D84D-61EA-97B5-8A77-ABF9A5868B05}"/>
                  </a:ext>
                </a:extLst>
              </p:cNvPr>
              <p:cNvSpPr/>
              <p:nvPr/>
            </p:nvSpPr>
            <p:spPr>
              <a:xfrm>
                <a:off x="6579158" y="2893925"/>
                <a:ext cx="746090" cy="452175"/>
              </a:xfrm>
              <a:custGeom>
                <a:avLst/>
                <a:gdLst/>
                <a:ahLst/>
                <a:cxnLst/>
                <a:rect l="0" t="0" r="0" b="0"/>
                <a:pathLst>
                  <a:path w="746090" h="452175">
                    <a:moveTo>
                      <a:pt x="746090" y="0"/>
                    </a:moveTo>
                    <a:lnTo>
                      <a:pt x="474784" y="90435"/>
                    </a:lnTo>
                    <a:lnTo>
                      <a:pt x="474784" y="452175"/>
                    </a:lnTo>
                    <a:lnTo>
                      <a:pt x="0" y="452175"/>
                    </a:lnTo>
                    <a:lnTo>
                      <a:pt x="0" y="0"/>
                    </a:lnTo>
                    <a:lnTo>
                      <a:pt x="746090" y="0"/>
                    </a:lnTo>
                    <a:close/>
                  </a:path>
                </a:pathLst>
              </a:custGeom>
              <a:noFill/>
              <a:ln w="11304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 sz="1200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xmlns="" id="{B937EDEC-E6A6-E54B-4BC7-E8BD117409D9}"/>
                </a:ext>
              </a:extLst>
            </p:cNvPr>
            <p:cNvGrpSpPr/>
            <p:nvPr/>
          </p:nvGrpSpPr>
          <p:grpSpPr>
            <a:xfrm>
              <a:off x="7184049" y="3993863"/>
              <a:ext cx="746090" cy="604784"/>
              <a:chOff x="7053942" y="2893925"/>
              <a:chExt cx="746090" cy="604784"/>
            </a:xfrm>
          </p:grpSpPr>
          <p:sp>
            <p:nvSpPr>
              <p:cNvPr id="78" name="Rounded Rectangle 81">
                <a:extLst>
                  <a:ext uri="{FF2B5EF4-FFF2-40B4-BE49-F238E27FC236}">
                    <a16:creationId xmlns:a16="http://schemas.microsoft.com/office/drawing/2014/main" xmlns="" id="{CBEB1240-89DF-CA72-ED9F-16796496B788}"/>
                  </a:ext>
                </a:extLst>
              </p:cNvPr>
              <p:cNvSpPr/>
              <p:nvPr/>
            </p:nvSpPr>
            <p:spPr>
              <a:xfrm>
                <a:off x="7053942" y="2893925"/>
                <a:ext cx="271305" cy="90435"/>
              </a:xfrm>
              <a:custGeom>
                <a:avLst/>
                <a:gdLst/>
                <a:ahLst/>
                <a:cxnLst/>
                <a:rect l="0" t="0" r="0" b="0"/>
                <a:pathLst>
                  <a:path w="271305" h="90435">
                    <a:moveTo>
                      <a:pt x="271305" y="0"/>
                    </a:moveTo>
                    <a:lnTo>
                      <a:pt x="271305" y="90435"/>
                    </a:lnTo>
                    <a:lnTo>
                      <a:pt x="0" y="90435"/>
                    </a:lnTo>
                    <a:lnTo>
                      <a:pt x="271305" y="0"/>
                    </a:lnTo>
                  </a:path>
                </a:pathLst>
              </a:custGeom>
              <a:gradFill rotWithShape="1">
                <a:gsLst>
                  <a:gs pos="0">
                    <a:srgbClr val="CFF976"/>
                  </a:gs>
                  <a:gs pos="100000">
                    <a:srgbClr val="A8DD38"/>
                  </a:gs>
                </a:gsLst>
                <a:lin ang="5400000" scaled="1"/>
              </a:gra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sz="1200"/>
              </a:p>
            </p:txBody>
          </p:sp>
          <p:sp>
            <p:nvSpPr>
              <p:cNvPr id="79" name="Rounded Rectangle 82">
                <a:extLst>
                  <a:ext uri="{FF2B5EF4-FFF2-40B4-BE49-F238E27FC236}">
                    <a16:creationId xmlns:a16="http://schemas.microsoft.com/office/drawing/2014/main" xmlns="" id="{C0377A70-8268-9F74-BD1B-DE010FF3E958}"/>
                  </a:ext>
                </a:extLst>
              </p:cNvPr>
              <p:cNvSpPr/>
              <p:nvPr/>
            </p:nvSpPr>
            <p:spPr>
              <a:xfrm>
                <a:off x="7053942" y="2922110"/>
                <a:ext cx="746090" cy="576599"/>
              </a:xfrm>
              <a:custGeom>
                <a:avLst/>
                <a:gdLst/>
                <a:ahLst/>
                <a:cxnLst/>
                <a:rect l="0" t="0" r="0" b="0"/>
                <a:pathLst>
                  <a:path w="746090" h="576599">
                    <a:moveTo>
                      <a:pt x="476970" y="576599"/>
                    </a:moveTo>
                    <a:lnTo>
                      <a:pt x="476970" y="514425"/>
                    </a:lnTo>
                    <a:lnTo>
                      <a:pt x="0" y="514425"/>
                    </a:lnTo>
                    <a:lnTo>
                      <a:pt x="0" y="62249"/>
                    </a:lnTo>
                    <a:lnTo>
                      <a:pt x="476970" y="62249"/>
                    </a:lnTo>
                    <a:lnTo>
                      <a:pt x="476970" y="0"/>
                    </a:lnTo>
                    <a:lnTo>
                      <a:pt x="746090" y="288337"/>
                    </a:lnTo>
                    <a:lnTo>
                      <a:pt x="476970" y="576599"/>
                    </a:lnTo>
                  </a:path>
                </a:pathLst>
              </a:custGeom>
              <a:gradFill rotWithShape="1">
                <a:gsLst>
                  <a:gs pos="0">
                    <a:srgbClr val="CFF976"/>
                  </a:gs>
                  <a:gs pos="100000">
                    <a:srgbClr val="A8DD38"/>
                  </a:gs>
                </a:gsLst>
                <a:lin ang="5400000" scaled="1"/>
              </a:gra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sz="1200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xmlns="" id="{71214E80-37EF-7380-196C-7BD240FF4232}"/>
                </a:ext>
              </a:extLst>
            </p:cNvPr>
            <p:cNvGrpSpPr/>
            <p:nvPr/>
          </p:nvGrpSpPr>
          <p:grpSpPr>
            <a:xfrm>
              <a:off x="7184049" y="3993863"/>
              <a:ext cx="746090" cy="604786"/>
              <a:chOff x="7053942" y="2893925"/>
              <a:chExt cx="746090" cy="604786"/>
            </a:xfrm>
          </p:grpSpPr>
          <p:sp>
            <p:nvSpPr>
              <p:cNvPr id="76" name="Rounded Rectangle 84">
                <a:extLst>
                  <a:ext uri="{FF2B5EF4-FFF2-40B4-BE49-F238E27FC236}">
                    <a16:creationId xmlns:a16="http://schemas.microsoft.com/office/drawing/2014/main" xmlns="" id="{A1D5732D-1FAE-DEDE-7FA8-64BB679AD8A4}"/>
                  </a:ext>
                </a:extLst>
              </p:cNvPr>
              <p:cNvSpPr/>
              <p:nvPr/>
            </p:nvSpPr>
            <p:spPr>
              <a:xfrm>
                <a:off x="7053942" y="2893925"/>
                <a:ext cx="271305" cy="90435"/>
              </a:xfrm>
              <a:custGeom>
                <a:avLst/>
                <a:gdLst/>
                <a:ahLst/>
                <a:cxnLst/>
                <a:rect l="0" t="0" r="0" b="0"/>
                <a:pathLst>
                  <a:path w="271305" h="90435">
                    <a:moveTo>
                      <a:pt x="271305" y="0"/>
                    </a:moveTo>
                    <a:lnTo>
                      <a:pt x="271305" y="90435"/>
                    </a:lnTo>
                    <a:lnTo>
                      <a:pt x="0" y="90435"/>
                    </a:lnTo>
                    <a:lnTo>
                      <a:pt x="271305" y="0"/>
                    </a:lnTo>
                    <a:close/>
                  </a:path>
                </a:pathLst>
              </a:custGeom>
              <a:noFill/>
              <a:ln w="11304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 sz="1200"/>
              </a:p>
            </p:txBody>
          </p:sp>
          <p:sp>
            <p:nvSpPr>
              <p:cNvPr id="77" name="Rounded Rectangle 85">
                <a:extLst>
                  <a:ext uri="{FF2B5EF4-FFF2-40B4-BE49-F238E27FC236}">
                    <a16:creationId xmlns:a16="http://schemas.microsoft.com/office/drawing/2014/main" xmlns="" id="{698B371D-64E8-4748-5C22-6F0A258AEF65}"/>
                  </a:ext>
                </a:extLst>
              </p:cNvPr>
              <p:cNvSpPr/>
              <p:nvPr/>
            </p:nvSpPr>
            <p:spPr>
              <a:xfrm>
                <a:off x="7053942" y="2922112"/>
                <a:ext cx="746090" cy="576599"/>
              </a:xfrm>
              <a:custGeom>
                <a:avLst/>
                <a:gdLst/>
                <a:ahLst/>
                <a:cxnLst/>
                <a:rect l="0" t="0" r="0" b="0"/>
                <a:pathLst>
                  <a:path w="746090" h="576599">
                    <a:moveTo>
                      <a:pt x="476970" y="576599"/>
                    </a:moveTo>
                    <a:lnTo>
                      <a:pt x="476970" y="514425"/>
                    </a:lnTo>
                    <a:lnTo>
                      <a:pt x="0" y="514425"/>
                    </a:lnTo>
                    <a:lnTo>
                      <a:pt x="0" y="62249"/>
                    </a:lnTo>
                    <a:lnTo>
                      <a:pt x="476970" y="62249"/>
                    </a:lnTo>
                    <a:lnTo>
                      <a:pt x="476970" y="0"/>
                    </a:lnTo>
                    <a:lnTo>
                      <a:pt x="746090" y="288337"/>
                    </a:lnTo>
                    <a:lnTo>
                      <a:pt x="476970" y="576599"/>
                    </a:lnTo>
                    <a:close/>
                  </a:path>
                </a:pathLst>
              </a:custGeom>
              <a:noFill/>
              <a:ln w="11304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 sz="1200"/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xmlns="" id="{2D1C5BD3-49C0-8F3C-CEE0-8F9609FDCBF9}"/>
                </a:ext>
              </a:extLst>
            </p:cNvPr>
            <p:cNvSpPr txBox="1"/>
            <p:nvPr/>
          </p:nvSpPr>
          <p:spPr>
            <a:xfrm>
              <a:off x="3311797" y="1535702"/>
              <a:ext cx="2734083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200" b="1" dirty="0">
                  <a:solidFill>
                    <a:srgbClr val="484848"/>
                  </a:solidFill>
                </a:rPr>
                <a:t>CRISPR Technology Development Timeline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xmlns="" id="{9263464A-0477-8FF6-FC34-650F9BEE338E}"/>
                </a:ext>
              </a:extLst>
            </p:cNvPr>
            <p:cNvSpPr txBox="1"/>
            <p:nvPr/>
          </p:nvSpPr>
          <p:spPr>
            <a:xfrm>
              <a:off x="6096473" y="3120233"/>
              <a:ext cx="718018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200" b="1" dirty="0">
                  <a:solidFill>
                    <a:srgbClr val="969696"/>
                  </a:solidFill>
                </a:rPr>
                <a:t>Cas12a
Discovered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xmlns="" id="{3DD61FB5-C71E-6AB5-AF34-CCB072E08FD4}"/>
                </a:ext>
              </a:extLst>
            </p:cNvPr>
            <p:cNvSpPr txBox="1"/>
            <p:nvPr/>
          </p:nvSpPr>
          <p:spPr>
            <a:xfrm>
              <a:off x="1474034" y="3119133"/>
              <a:ext cx="357021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200">
                  <a:solidFill>
                    <a:srgbClr val="484848"/>
                  </a:solidFill>
                </a:rPr>
                <a:t>1995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xmlns="" id="{D2A1CA08-88B5-A5C4-52FD-2C199586C671}"/>
                </a:ext>
              </a:extLst>
            </p:cNvPr>
            <p:cNvSpPr txBox="1"/>
            <p:nvPr/>
          </p:nvSpPr>
          <p:spPr>
            <a:xfrm>
              <a:off x="1940890" y="3219173"/>
              <a:ext cx="359073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200">
                  <a:solidFill>
                    <a:srgbClr val="484848"/>
                  </a:solidFill>
                </a:rPr>
                <a:t>2002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xmlns="" id="{8F0807D9-DC13-C0E0-35C1-431BFA0CCC9F}"/>
                </a:ext>
              </a:extLst>
            </p:cNvPr>
            <p:cNvSpPr txBox="1"/>
            <p:nvPr/>
          </p:nvSpPr>
          <p:spPr>
            <a:xfrm>
              <a:off x="2416082" y="3319214"/>
              <a:ext cx="359073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200">
                  <a:solidFill>
                    <a:srgbClr val="484848"/>
                  </a:solidFill>
                </a:rPr>
                <a:t>2005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xmlns="" id="{861DCF5B-F603-DFAB-8937-4925CDB62F9A}"/>
                </a:ext>
              </a:extLst>
            </p:cNvPr>
            <p:cNvSpPr txBox="1"/>
            <p:nvPr/>
          </p:nvSpPr>
          <p:spPr>
            <a:xfrm>
              <a:off x="1023852" y="3035766"/>
              <a:ext cx="350865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200" dirty="0">
                  <a:solidFill>
                    <a:srgbClr val="484848"/>
                  </a:solidFill>
                </a:rPr>
                <a:t>1987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xmlns="" id="{CCC6B41B-05A1-63E5-B896-A057BAE6EA49}"/>
                </a:ext>
              </a:extLst>
            </p:cNvPr>
            <p:cNvSpPr txBox="1"/>
            <p:nvPr/>
          </p:nvSpPr>
          <p:spPr>
            <a:xfrm>
              <a:off x="2891274" y="3394244"/>
              <a:ext cx="350417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200">
                  <a:solidFill>
                    <a:srgbClr val="484848"/>
                  </a:solidFill>
                </a:rPr>
                <a:t>2007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xmlns="" id="{B309A378-AB57-5E5E-9247-8A3D35CB749C}"/>
                </a:ext>
              </a:extLst>
            </p:cNvPr>
            <p:cNvSpPr txBox="1"/>
            <p:nvPr/>
          </p:nvSpPr>
          <p:spPr>
            <a:xfrm>
              <a:off x="3358130" y="3485948"/>
              <a:ext cx="359073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200">
                  <a:solidFill>
                    <a:srgbClr val="484848"/>
                  </a:solidFill>
                </a:rPr>
                <a:t>2008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xmlns="" id="{BF7A73EB-E554-C64B-7C40-1480C5D2F210}"/>
                </a:ext>
              </a:extLst>
            </p:cNvPr>
            <p:cNvSpPr txBox="1"/>
            <p:nvPr/>
          </p:nvSpPr>
          <p:spPr>
            <a:xfrm>
              <a:off x="613948" y="2345383"/>
              <a:ext cx="816827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200" b="1" dirty="0">
                  <a:solidFill>
                    <a:srgbClr val="4E88E7"/>
                  </a:solidFill>
                </a:rPr>
                <a:t>First CRISPR
Report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xmlns="" id="{AD1561B4-AC5B-D818-F579-7273EFD3A593}"/>
                </a:ext>
              </a:extLst>
            </p:cNvPr>
            <p:cNvSpPr txBox="1"/>
            <p:nvPr/>
          </p:nvSpPr>
          <p:spPr>
            <a:xfrm>
              <a:off x="3824985" y="3485948"/>
              <a:ext cx="407638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200" dirty="0">
                  <a:solidFill>
                    <a:srgbClr val="484848"/>
                  </a:solidFill>
                </a:rPr>
                <a:t>2010</a:t>
              </a:r>
              <a:r>
                <a:rPr lang="en-US" sz="1200" dirty="0">
                  <a:solidFill>
                    <a:srgbClr val="484848"/>
                  </a:solidFill>
                </a:rPr>
                <a:t>-2011</a:t>
              </a:r>
              <a:endParaRPr sz="1200" dirty="0">
                <a:solidFill>
                  <a:srgbClr val="484848"/>
                </a:solidFill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xmlns="" id="{14CC16B4-8132-247D-3FFD-B898A68E1383}"/>
                </a:ext>
              </a:extLst>
            </p:cNvPr>
            <p:cNvSpPr txBox="1"/>
            <p:nvPr/>
          </p:nvSpPr>
          <p:spPr>
            <a:xfrm>
              <a:off x="1864966" y="2540203"/>
              <a:ext cx="85241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200" b="1" dirty="0">
                  <a:solidFill>
                    <a:srgbClr val="3CC583"/>
                  </a:solidFill>
                </a:rPr>
                <a:t>CRISPR Term
Coined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xmlns="" id="{031244EF-6F5D-D104-1DD8-28DE364E1D16}"/>
                </a:ext>
              </a:extLst>
            </p:cNvPr>
            <p:cNvSpPr txBox="1"/>
            <p:nvPr/>
          </p:nvSpPr>
          <p:spPr>
            <a:xfrm>
              <a:off x="7254246" y="3436069"/>
              <a:ext cx="718018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200" b="1" dirty="0" err="1">
                  <a:solidFill>
                    <a:srgbClr val="92BD39"/>
                  </a:solidFill>
                </a:rPr>
                <a:t>vfCRISPR</a:t>
              </a:r>
              <a:r>
                <a:rPr sz="1200" b="1" dirty="0">
                  <a:solidFill>
                    <a:srgbClr val="92BD39"/>
                  </a:solidFill>
                </a:rPr>
                <a:t>
Discovered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xmlns="" id="{3DECC7C6-1B78-C07A-41D6-A8FD771090EE}"/>
                </a:ext>
              </a:extLst>
            </p:cNvPr>
            <p:cNvSpPr txBox="1"/>
            <p:nvPr/>
          </p:nvSpPr>
          <p:spPr>
            <a:xfrm>
              <a:off x="4300178" y="3677692"/>
              <a:ext cx="353238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200">
                  <a:solidFill>
                    <a:srgbClr val="484848"/>
                  </a:solidFill>
                </a:rPr>
                <a:t>2012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xmlns="" id="{EF35923B-E489-D5AC-A1C1-13597D36D049}"/>
                </a:ext>
              </a:extLst>
            </p:cNvPr>
            <p:cNvSpPr txBox="1"/>
            <p:nvPr/>
          </p:nvSpPr>
          <p:spPr>
            <a:xfrm>
              <a:off x="4790894" y="2934467"/>
              <a:ext cx="1032334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200" b="1" dirty="0">
                  <a:solidFill>
                    <a:srgbClr val="BA5DE5"/>
                  </a:solidFill>
                </a:rPr>
                <a:t>Genome Editing
in Mammalian
Cells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xmlns="" id="{2FF66703-D24F-08FF-187E-A4219C9C7712}"/>
                </a:ext>
              </a:extLst>
            </p:cNvPr>
            <p:cNvSpPr txBox="1"/>
            <p:nvPr/>
          </p:nvSpPr>
          <p:spPr>
            <a:xfrm>
              <a:off x="1049345" y="3579276"/>
              <a:ext cx="876971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200" b="1" dirty="0">
                  <a:solidFill>
                    <a:srgbClr val="1EABDA"/>
                  </a:solidFill>
                </a:rPr>
                <a:t>Similar
Sequences in
Archaea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xmlns="" id="{273AC4BA-CB7D-3F9A-6EF7-B5D58B7AAD73}"/>
                </a:ext>
              </a:extLst>
            </p:cNvPr>
            <p:cNvSpPr txBox="1"/>
            <p:nvPr/>
          </p:nvSpPr>
          <p:spPr>
            <a:xfrm>
              <a:off x="4800381" y="3752723"/>
              <a:ext cx="351891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200">
                  <a:solidFill>
                    <a:srgbClr val="484848"/>
                  </a:solidFill>
                </a:rPr>
                <a:t>2013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xmlns="" id="{BD267E5D-A092-DFE7-866D-929F3E3F31ED}"/>
                </a:ext>
              </a:extLst>
            </p:cNvPr>
            <p:cNvSpPr txBox="1"/>
            <p:nvPr/>
          </p:nvSpPr>
          <p:spPr>
            <a:xfrm>
              <a:off x="2717380" y="2658680"/>
              <a:ext cx="10064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200" b="1" dirty="0">
                  <a:solidFill>
                    <a:srgbClr val="E0CB15"/>
                  </a:solidFill>
                </a:rPr>
                <a:t>Adaptive
Immunity Proof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xmlns="" id="{8A00D16A-7D9A-3DB5-C1AA-CC6CFB1985B8}"/>
                </a:ext>
              </a:extLst>
            </p:cNvPr>
            <p:cNvSpPr txBox="1"/>
            <p:nvPr/>
          </p:nvSpPr>
          <p:spPr>
            <a:xfrm>
              <a:off x="2081210" y="3805401"/>
              <a:ext cx="977127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200" b="1" dirty="0">
                  <a:solidFill>
                    <a:srgbClr val="92BD39"/>
                  </a:solidFill>
                </a:rPr>
                <a:t>Spacers Match
Viral DNA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xmlns="" id="{B566C4C5-9690-AB8D-9ED9-4CC2463A954F}"/>
                </a:ext>
              </a:extLst>
            </p:cNvPr>
            <p:cNvSpPr txBox="1"/>
            <p:nvPr/>
          </p:nvSpPr>
          <p:spPr>
            <a:xfrm>
              <a:off x="5267236" y="3852763"/>
              <a:ext cx="34830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200">
                  <a:solidFill>
                    <a:srgbClr val="484848"/>
                  </a:solidFill>
                </a:rPr>
                <a:t>2014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xmlns="" id="{BD5BDB3F-AC7F-652E-AAEC-D870B7660D2D}"/>
                </a:ext>
              </a:extLst>
            </p:cNvPr>
            <p:cNvSpPr txBox="1"/>
            <p:nvPr/>
          </p:nvSpPr>
          <p:spPr>
            <a:xfrm>
              <a:off x="5734092" y="3944467"/>
              <a:ext cx="351058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200">
                  <a:solidFill>
                    <a:srgbClr val="484848"/>
                  </a:solidFill>
                </a:rPr>
                <a:t>2015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xmlns="" id="{DAE5DEE4-1149-4223-8038-92964523236A}"/>
                </a:ext>
              </a:extLst>
            </p:cNvPr>
            <p:cNvSpPr txBox="1"/>
            <p:nvPr/>
          </p:nvSpPr>
          <p:spPr>
            <a:xfrm>
              <a:off x="3896425" y="2835781"/>
              <a:ext cx="622158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en-GB" sz="1200" b="1" dirty="0">
                  <a:solidFill>
                    <a:srgbClr val="E55753"/>
                  </a:solidFill>
                </a:rPr>
                <a:t>T</a:t>
              </a:r>
              <a:r>
                <a:rPr sz="1200" b="1" dirty="0">
                  <a:solidFill>
                    <a:srgbClr val="E55753"/>
                  </a:solidFill>
                </a:rPr>
                <a:t>racrRNA
Identified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xmlns="" id="{B4DC1F4A-DAAE-F8CE-1058-1F6C09674BA6}"/>
                </a:ext>
              </a:extLst>
            </p:cNvPr>
            <p:cNvSpPr txBox="1"/>
            <p:nvPr/>
          </p:nvSpPr>
          <p:spPr>
            <a:xfrm>
              <a:off x="6192611" y="4019497"/>
              <a:ext cx="34798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200" dirty="0">
                  <a:solidFill>
                    <a:srgbClr val="484848"/>
                  </a:solidFill>
                </a:rPr>
                <a:t>2016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xmlns="" id="{0A64AA39-FEDE-39A4-3B21-73128C9D02F2}"/>
                </a:ext>
              </a:extLst>
            </p:cNvPr>
            <p:cNvSpPr txBox="1"/>
            <p:nvPr/>
          </p:nvSpPr>
          <p:spPr>
            <a:xfrm>
              <a:off x="2958387" y="3995615"/>
              <a:ext cx="993863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200" b="1" dirty="0">
                  <a:solidFill>
                    <a:srgbClr val="DE8431"/>
                  </a:solidFill>
                </a:rPr>
                <a:t>crRNA Function
Discovered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xmlns="" id="{9007CFD1-4DFB-3B0F-2F34-BD3F98BA54B9}"/>
                </a:ext>
              </a:extLst>
            </p:cNvPr>
            <p:cNvSpPr txBox="1"/>
            <p:nvPr/>
          </p:nvSpPr>
          <p:spPr>
            <a:xfrm>
              <a:off x="6770929" y="4143953"/>
              <a:ext cx="351186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200" dirty="0">
                  <a:solidFill>
                    <a:srgbClr val="484848"/>
                  </a:solidFill>
                </a:rPr>
                <a:t>2019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xmlns="" id="{6DDF762B-C47E-2E47-5AD7-5E27CFF0C5B1}"/>
                </a:ext>
              </a:extLst>
            </p:cNvPr>
            <p:cNvSpPr txBox="1"/>
            <p:nvPr/>
          </p:nvSpPr>
          <p:spPr>
            <a:xfrm>
              <a:off x="3977330" y="4151580"/>
              <a:ext cx="975203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200" b="1">
                  <a:solidFill>
                    <a:srgbClr val="DE58A9"/>
                  </a:solidFill>
                </a:rPr>
                <a:t>sgRNA Created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xmlns="" id="{9422E0A9-867F-1583-9C86-05DCFA6870EB}"/>
                </a:ext>
              </a:extLst>
            </p:cNvPr>
            <p:cNvSpPr txBox="1"/>
            <p:nvPr/>
          </p:nvSpPr>
          <p:spPr>
            <a:xfrm>
              <a:off x="7246121" y="4235658"/>
              <a:ext cx="359073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200">
                  <a:solidFill>
                    <a:srgbClr val="484848"/>
                  </a:solidFill>
                </a:rPr>
                <a:t>2020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xmlns="" id="{6B8CC407-6866-94D5-FCB7-89A6D315361D}"/>
                </a:ext>
              </a:extLst>
            </p:cNvPr>
            <p:cNvSpPr txBox="1"/>
            <p:nvPr/>
          </p:nvSpPr>
          <p:spPr>
            <a:xfrm>
              <a:off x="4948946" y="4343324"/>
              <a:ext cx="928139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200" b="1" dirty="0">
                  <a:solidFill>
                    <a:srgbClr val="7F64EA"/>
                  </a:solidFill>
                </a:rPr>
                <a:t>Genome-Wide
Screening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xmlns="" id="{C2EAB909-92DE-62AC-DC95-C04FFC1531C5}"/>
                </a:ext>
              </a:extLst>
            </p:cNvPr>
            <p:cNvSpPr txBox="1"/>
            <p:nvPr/>
          </p:nvSpPr>
          <p:spPr>
            <a:xfrm>
              <a:off x="5957163" y="4504989"/>
              <a:ext cx="819327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200" b="1" dirty="0">
                  <a:solidFill>
                    <a:srgbClr val="969696"/>
                  </a:solidFill>
                </a:rPr>
                <a:t>Base Editors
Invented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xmlns="" id="{0BE62EB7-7D48-0D8A-69E0-3BF5A6A7D68E}"/>
                </a:ext>
              </a:extLst>
            </p:cNvPr>
            <p:cNvSpPr txBox="1"/>
            <p:nvPr/>
          </p:nvSpPr>
          <p:spPr>
            <a:xfrm>
              <a:off x="6884946" y="4685456"/>
              <a:ext cx="86363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200" b="1" dirty="0" err="1">
                  <a:solidFill>
                    <a:srgbClr val="DE58A9"/>
                  </a:solidFill>
                </a:rPr>
                <a:t>nCATS</a:t>
              </a:r>
              <a:r>
                <a:rPr sz="1200" b="1" dirty="0">
                  <a:solidFill>
                    <a:srgbClr val="DE58A9"/>
                  </a:solidFill>
                </a:rPr>
                <a:t>
Development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17313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AED739BE-2030-E692-2570-56F512A531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596" y="569118"/>
            <a:ext cx="9086808" cy="5719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754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D8E0319-4F1B-DFBB-C56D-7C847B016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PRINCIPLE: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B1EF064E-B449-A9DF-97EF-5A4907F41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625" y="1417638"/>
            <a:ext cx="9810750" cy="516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059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9BE9832-8E54-E704-6FC2-E8099C28A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698"/>
            <a:ext cx="10972800" cy="1143000"/>
          </a:xfrm>
        </p:spPr>
        <p:txBody>
          <a:bodyPr/>
          <a:lstStyle/>
          <a:p>
            <a:r>
              <a:rPr lang="en-US" b="1" dirty="0"/>
              <a:t>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61B043E-15F1-B398-C8E2-9335D841F4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228" y="1166698"/>
            <a:ext cx="7745184" cy="494415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CRISPR-Cas system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consists of two main components:</a:t>
            </a:r>
          </a:p>
          <a:p>
            <a:pPr lvl="1"/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CRISPR-associated (Cas) proteins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→ catalytic effectors</a:t>
            </a:r>
          </a:p>
          <a:p>
            <a:pPr lvl="1"/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CRISPR locus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→ genetic memory of past foreign DNA exposure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CRISPR locus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contains:</a:t>
            </a:r>
          </a:p>
          <a:p>
            <a:pPr lvl="1"/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Conserved repeat sequences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(25–35 bp)</a:t>
            </a:r>
          </a:p>
          <a:p>
            <a:pPr lvl="1"/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Unique spacer sequences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(30–40 bp) derived from viruses, plasmids, or mobile genetic elements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An 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AT-rich leader sequence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is located upstream of the CRISPR array and is involved in: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CRISPR transcription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Spacer acquisition</a:t>
            </a:r>
          </a:p>
          <a:p>
            <a:r>
              <a:rPr lang="en-US" sz="2000" b="1" dirty="0" err="1">
                <a:latin typeface="Calibri" panose="020F0502020204030204" pitchFamily="34" charset="0"/>
                <a:cs typeface="Calibri" panose="020F0502020204030204" pitchFamily="34" charset="0"/>
              </a:rPr>
              <a:t>cas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 genes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, located adjacent to the CRISPR array, encode proteins required for: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Spacer acquisition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crRNA processing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Target DNA cleavage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5C8456B2-14EB-AE6C-B0DE-7D5F742B07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9475" y="4507366"/>
            <a:ext cx="4962525" cy="2091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683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BE54A1A-E988-884F-506D-D8A54BF61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Cas9 Protein and Guide RNA Complex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1F7CD74-A7BD-0055-E080-F1EE4DB2BA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025" y="1543050"/>
            <a:ext cx="6652475" cy="5314949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Cas9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is the most widely used nuclease for genome editing</a:t>
            </a:r>
          </a:p>
          <a:p>
            <a:pPr lvl="1"/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Derived from </a:t>
            </a:r>
            <a:r>
              <a:rPr lang="en-US" sz="3200" i="1" dirty="0">
                <a:latin typeface="Calibri" panose="020F0502020204030204" pitchFamily="34" charset="0"/>
                <a:cs typeface="Calibri" panose="020F0502020204030204" pitchFamily="34" charset="0"/>
              </a:rPr>
              <a:t>Streptococcus pyogenes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SpCas9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lvl="1"/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Large multidomain DNA endonuclease (~1368 amino acids)</a:t>
            </a:r>
          </a:p>
          <a:p>
            <a:pPr lvl="1"/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Functions as a </a:t>
            </a: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molecular “genetic scissor”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In the native bacterial system, Cas9 associates with two RNAs:</a:t>
            </a:r>
          </a:p>
          <a:p>
            <a:pPr lvl="1"/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crRNA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 → provides target DNA specificity</a:t>
            </a:r>
          </a:p>
          <a:p>
            <a:pPr lvl="1"/>
            <a:r>
              <a:rPr lang="en-US" sz="3200" b="1" dirty="0" err="1">
                <a:latin typeface="Calibri" panose="020F0502020204030204" pitchFamily="34" charset="0"/>
                <a:cs typeface="Calibri" panose="020F0502020204030204" pitchFamily="34" charset="0"/>
              </a:rPr>
              <a:t>tracrRNA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 → essential for Cas9 activation (Type II system)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For genome editing applications:</a:t>
            </a:r>
          </a:p>
          <a:p>
            <a:pPr lvl="1"/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crRNA and </a:t>
            </a:r>
            <a:r>
              <a:rPr lang="en-US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tracrRNA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 are fused into a </a:t>
            </a: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single-guide RNA (sgRNA)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sgRNA structure:</a:t>
            </a:r>
          </a:p>
          <a:p>
            <a:pPr lvl="2"/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Constant scaffold region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 → Cas9 binding</a:t>
            </a:r>
          </a:p>
          <a:p>
            <a:pPr lvl="2"/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20-nt guide sequence (5′ end)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 → target DNA recognition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757C82F-522F-3EFB-43B3-78EE6597E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4413" y="2228850"/>
            <a:ext cx="5277587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1048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C6BD8C8-81D0-8812-B43A-ACF476793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Structural Domains and Classification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BDF5B3E-DC6C-8FB1-BBE1-B884D731A5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94114"/>
            <a:ext cx="10058400" cy="468924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Cas9 protein is organized into 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two major lobes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lvl="1"/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Recognition (REC) lobe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→ guide RNA and target DNA binding</a:t>
            </a:r>
          </a:p>
          <a:p>
            <a:pPr lvl="1"/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Nuclease (NUC) lobe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→ DNA cleavage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NUC lobe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contains key catalytic domains:</a:t>
            </a:r>
          </a:p>
          <a:p>
            <a:pPr lvl="1"/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HNH domain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→ cleaves the DNA strand complementary to sgRNA</a:t>
            </a:r>
          </a:p>
          <a:p>
            <a:pPr lvl="1"/>
            <a:r>
              <a:rPr lang="en-US" sz="2000" b="1" dirty="0" err="1">
                <a:latin typeface="Calibri" panose="020F0502020204030204" pitchFamily="34" charset="0"/>
                <a:cs typeface="Calibri" panose="020F0502020204030204" pitchFamily="34" charset="0"/>
              </a:rPr>
              <a:t>RuvC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-like domain (</a:t>
            </a:r>
            <a:r>
              <a:rPr lang="en-US" sz="2000" b="1" dirty="0" err="1">
                <a:latin typeface="Calibri" panose="020F0502020204030204" pitchFamily="34" charset="0"/>
                <a:cs typeface="Calibri" panose="020F0502020204030204" pitchFamily="34" charset="0"/>
              </a:rPr>
              <a:t>RuvC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 I–III)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→ cleaves the non-complementary strand</a:t>
            </a:r>
          </a:p>
          <a:p>
            <a:pPr lvl="1"/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PAM-interacting (PI) domain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→ recognizes PAM and initiates DNA binding</a:t>
            </a:r>
          </a:p>
          <a:p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CRISPR-Cas systems classification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lvl="1"/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Class 1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→ multi-protein effector complexes</a:t>
            </a:r>
          </a:p>
          <a:p>
            <a:pPr lvl="1"/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Class 2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→ single effector protein (e.g., Cas9)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Based on Cas protein homology, systems are divided into:</a:t>
            </a:r>
          </a:p>
          <a:p>
            <a:pPr lvl="1"/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Type I, Type II, and Type III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Cas9 is the signature nuclease of Type II systems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28256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89FE753-8434-D94F-296B-2901BE4F1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MECHANISM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ECD1A83-FC04-2CC4-C284-715126C47C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92504"/>
            <a:ext cx="8596668" cy="3880773"/>
          </a:xfrm>
        </p:spPr>
        <p:txBody>
          <a:bodyPr/>
          <a:lstStyle/>
          <a:p>
            <a:pPr marL="0" indent="0">
              <a:buNone/>
            </a:pP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CRISPR–Cas9 is an </a:t>
            </a: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adaptive immune system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in bacteria</a:t>
            </a:r>
          </a:p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Provides </a:t>
            </a: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sequence-specific defense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against viruses and plasmids</a:t>
            </a:r>
          </a:p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Mechanism occurs in </a:t>
            </a: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three main stages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Adaptation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Expression &amp; Maturation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Interference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94686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1FE389D-5EFB-DCE9-3EC3-A4B35B573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1. Adaptation (Spacer Acquisition)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D48E2A7-6164-B8AA-BCFF-2300173977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5289233" cy="376089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Invading DNA is recognized as </a:t>
            </a:r>
            <a:r>
              <a:rPr lang="en-US" sz="2200" b="1" dirty="0">
                <a:latin typeface="Calibri" panose="020F0502020204030204" pitchFamily="34" charset="0"/>
                <a:cs typeface="Calibri" panose="020F0502020204030204" pitchFamily="34" charset="0"/>
              </a:rPr>
              <a:t>foreign</a:t>
            </a:r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 dirty="0">
                <a:latin typeface="Calibri" panose="020F0502020204030204" pitchFamily="34" charset="0"/>
                <a:cs typeface="Calibri" panose="020F0502020204030204" pitchFamily="34" charset="0"/>
              </a:rPr>
              <a:t>Cas1–Cas2 complex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excises short DNA fragments (protospacers)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Protospacers are integrated into the </a:t>
            </a:r>
            <a:r>
              <a:rPr lang="en-US" sz="2200" b="1" dirty="0">
                <a:latin typeface="Calibri" panose="020F0502020204030204" pitchFamily="34" charset="0"/>
                <a:cs typeface="Calibri" panose="020F0502020204030204" pitchFamily="34" charset="0"/>
              </a:rPr>
              <a:t>CRISPR array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as spacers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Spacer acquisition creates </a:t>
            </a:r>
            <a:r>
              <a:rPr lang="en-US" sz="2200" b="1" dirty="0">
                <a:latin typeface="Calibri" panose="020F0502020204030204" pitchFamily="34" charset="0"/>
                <a:cs typeface="Calibri" panose="020F0502020204030204" pitchFamily="34" charset="0"/>
              </a:rPr>
              <a:t>immune memory</a:t>
            </a:r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PAM sequence helps distinguish </a:t>
            </a:r>
            <a:r>
              <a:rPr lang="en-US" sz="2200" b="1" dirty="0">
                <a:latin typeface="Calibri" panose="020F0502020204030204" pitchFamily="34" charset="0"/>
                <a:cs typeface="Calibri" panose="020F0502020204030204" pitchFamily="34" charset="0"/>
              </a:rPr>
              <a:t>self vs non-self DNA</a:t>
            </a:r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433A86B9-858E-B17A-37DC-83117C1FE9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35" t="1963" r="3406"/>
          <a:stretch>
            <a:fillRect/>
          </a:stretch>
        </p:blipFill>
        <p:spPr>
          <a:xfrm>
            <a:off x="6386513" y="1923098"/>
            <a:ext cx="5805487" cy="4449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3238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E98AD04-36DE-96B1-D12A-BF2EB6D46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2. Expression &amp; Maturation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129FFCB-0F35-BC9C-EECA-39B676D280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4534" y="1417638"/>
            <a:ext cx="4998720" cy="3760891"/>
          </a:xfrm>
        </p:spPr>
        <p:txBody>
          <a:bodyPr>
            <a:noAutofit/>
          </a:bodyPr>
          <a:lstStyle/>
          <a:p>
            <a:pPr>
              <a:buNone/>
            </a:pPr>
            <a:endParaRPr lang="en-US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CRISPR array is transcribed into </a:t>
            </a:r>
            <a:r>
              <a:rPr lang="en-US" sz="2200" b="1" dirty="0">
                <a:latin typeface="Calibri" panose="020F0502020204030204" pitchFamily="34" charset="0"/>
                <a:cs typeface="Calibri" panose="020F0502020204030204" pitchFamily="34" charset="0"/>
              </a:rPr>
              <a:t>pre-crRNA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The biological term for converting the CRISPR array(DNA) into RNA is known as CRISPR RNA biogenesis.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 dirty="0" err="1">
                <a:latin typeface="Calibri" panose="020F0502020204030204" pitchFamily="34" charset="0"/>
                <a:cs typeface="Calibri" panose="020F0502020204030204" pitchFamily="34" charset="0"/>
              </a:rPr>
              <a:t>cas</a:t>
            </a:r>
            <a:r>
              <a:rPr lang="en-US" sz="2200" b="1" dirty="0">
                <a:latin typeface="Calibri" panose="020F0502020204030204" pitchFamily="34" charset="0"/>
                <a:cs typeface="Calibri" panose="020F0502020204030204" pitchFamily="34" charset="0"/>
              </a:rPr>
              <a:t> genes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are expressed simultaneously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In type II systems: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b="1" dirty="0" err="1">
                <a:latin typeface="Calibri" panose="020F0502020204030204" pitchFamily="34" charset="0"/>
                <a:cs typeface="Calibri" panose="020F0502020204030204" pitchFamily="34" charset="0"/>
              </a:rPr>
              <a:t>tracrRNA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binds pre-crRNA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Processed by </a:t>
            </a:r>
            <a:r>
              <a:rPr lang="en-US" sz="2200" b="1" dirty="0">
                <a:latin typeface="Calibri" panose="020F0502020204030204" pitchFamily="34" charset="0"/>
                <a:cs typeface="Calibri" panose="020F0502020204030204" pitchFamily="34" charset="0"/>
              </a:rPr>
              <a:t>RNase III and Cas9</a:t>
            </a:r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Produces </a:t>
            </a:r>
            <a:r>
              <a:rPr lang="en-US" sz="2200" b="1" dirty="0">
                <a:latin typeface="Calibri" panose="020F0502020204030204" pitchFamily="34" charset="0"/>
                <a:cs typeface="Calibri" panose="020F0502020204030204" pitchFamily="34" charset="0"/>
              </a:rPr>
              <a:t>mature crRNA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for target recognition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A22B2813-44C9-FDAD-4F19-F0A5F952D1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34" t="5717" r="6052" b="2808"/>
          <a:stretch>
            <a:fillRect/>
          </a:stretch>
        </p:blipFill>
        <p:spPr>
          <a:xfrm>
            <a:off x="6096000" y="2365376"/>
            <a:ext cx="6096000" cy="4043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3503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6568786-6D58-61D1-9676-18737FC41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05" y="91259"/>
            <a:ext cx="7524206" cy="1450757"/>
          </a:xfrm>
        </p:spPr>
        <p:txBody>
          <a:bodyPr/>
          <a:lstStyle/>
          <a:p>
            <a:r>
              <a:rPr lang="en-US" b="1" dirty="0"/>
              <a:t>3.Interference (Target Cleavage):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CC00693-2F15-1E6A-E4B7-FC33C7D94A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254" y="1779589"/>
            <a:ext cx="8596668" cy="3880773"/>
          </a:xfrm>
        </p:spPr>
        <p:txBody>
          <a:bodyPr/>
          <a:lstStyle/>
          <a:p>
            <a:pPr>
              <a:buNone/>
            </a:pPr>
            <a:endParaRPr lang="en-US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crRNA–</a:t>
            </a:r>
            <a:r>
              <a:rPr lang="en-US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tracrRNA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–Cas9 complex scans DNA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 dirty="0">
                <a:latin typeface="Calibri" panose="020F0502020204030204" pitchFamily="34" charset="0"/>
                <a:cs typeface="Calibri" panose="020F0502020204030204" pitchFamily="34" charset="0"/>
              </a:rPr>
              <a:t>PAM recognition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initiates target binding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crRNA pairs with complementary target DNA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Cas9 cleaves DNA using: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b="1" dirty="0">
                <a:latin typeface="Calibri" panose="020F0502020204030204" pitchFamily="34" charset="0"/>
                <a:cs typeface="Calibri" panose="020F0502020204030204" pitchFamily="34" charset="0"/>
              </a:rPr>
              <a:t>HNH domain(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Cuts the </a:t>
            </a:r>
            <a:r>
              <a:rPr lang="en-US" sz="2200" b="1" dirty="0">
                <a:latin typeface="Calibri" panose="020F0502020204030204" pitchFamily="34" charset="0"/>
                <a:cs typeface="Calibri" panose="020F0502020204030204" pitchFamily="34" charset="0"/>
              </a:rPr>
              <a:t>target DNA strand)</a:t>
            </a:r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b="1" dirty="0" err="1">
                <a:latin typeface="Calibri" panose="020F0502020204030204" pitchFamily="34" charset="0"/>
                <a:cs typeface="Calibri" panose="020F0502020204030204" pitchFamily="34" charset="0"/>
              </a:rPr>
              <a:t>RuvC</a:t>
            </a:r>
            <a:r>
              <a:rPr lang="en-US" sz="2200" b="1" dirty="0">
                <a:latin typeface="Calibri" panose="020F0502020204030204" pitchFamily="34" charset="0"/>
                <a:cs typeface="Calibri" panose="020F0502020204030204" pitchFamily="34" charset="0"/>
              </a:rPr>
              <a:t> domain(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Cuts the </a:t>
            </a:r>
            <a:r>
              <a:rPr lang="en-US" sz="2200" b="1" dirty="0">
                <a:latin typeface="Calibri" panose="020F0502020204030204" pitchFamily="34" charset="0"/>
                <a:cs typeface="Calibri" panose="020F0502020204030204" pitchFamily="34" charset="0"/>
              </a:rPr>
              <a:t>non-target DNA strand)</a:t>
            </a:r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Results in </a:t>
            </a:r>
            <a:r>
              <a:rPr lang="en-US" sz="2200" b="1" dirty="0">
                <a:latin typeface="Calibri" panose="020F0502020204030204" pitchFamily="34" charset="0"/>
                <a:cs typeface="Calibri" panose="020F0502020204030204" pitchFamily="34" charset="0"/>
              </a:rPr>
              <a:t>double-strand break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of foreign DNA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FD69C78A-99E4-7825-0F97-81E6BBFB05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821" t="2377" r="2386"/>
          <a:stretch>
            <a:fillRect/>
          </a:stretch>
        </p:blipFill>
        <p:spPr>
          <a:xfrm>
            <a:off x="7491413" y="3180540"/>
            <a:ext cx="4700587" cy="32165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10C10400-A05D-0FC1-04E2-5B2AD56035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5171" y="91259"/>
            <a:ext cx="5166829" cy="2934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0041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ain graphic">
            <a:extLst>
              <a:ext uri="{FF2B5EF4-FFF2-40B4-BE49-F238E27FC236}">
                <a16:creationId xmlns:a16="http://schemas.microsoft.com/office/drawing/2014/main" xmlns="" id="{C2D0F74F-9B3C-9D63-F50F-C9E2B611CF0A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2162175" y="87086"/>
            <a:ext cx="7258049" cy="631507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558849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877D71D-B047-86C1-A35F-C1008DEE0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889000"/>
            <a:ext cx="10972800" cy="1143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DNA Double-Strand Break (DSB) Repair in CRISPR–Cas9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BAA4DDD-CD98-481A-7E78-5FC4D5906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60500"/>
            <a:ext cx="6062663" cy="5057774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endParaRPr lang="en-US" b="1" dirty="0"/>
          </a:p>
          <a:p>
            <a:r>
              <a:rPr lang="en-US" dirty="0"/>
              <a:t>CRISPR–Cas9 introduces site-specific DNA double-strand breaks (DSBs)</a:t>
            </a:r>
          </a:p>
          <a:p>
            <a:r>
              <a:rPr lang="en-US" dirty="0"/>
              <a:t>DSBs are repaired by endogenous cellular pathways</a:t>
            </a:r>
          </a:p>
          <a:p>
            <a:r>
              <a:rPr lang="en-US" dirty="0"/>
              <a:t>Two major repair mechanisms operate in eukaryotic cells:</a:t>
            </a:r>
          </a:p>
          <a:p>
            <a:pPr lvl="1"/>
            <a:r>
              <a:rPr lang="en-US" b="1" dirty="0"/>
              <a:t>Non-homologous end joining (NHEJ)</a:t>
            </a:r>
            <a:endParaRPr lang="en-US" dirty="0"/>
          </a:p>
          <a:p>
            <a:pPr lvl="1"/>
            <a:r>
              <a:rPr lang="en-US" b="1" dirty="0"/>
              <a:t>Homology-directed repair (HDR)</a:t>
            </a:r>
            <a:endParaRPr lang="en-US" dirty="0"/>
          </a:p>
          <a:p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xmlns="" id="{1A1726C4-3133-C126-BB14-C4BC777E11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2263" y="1974850"/>
            <a:ext cx="5548312" cy="3843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4215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F46BAFC-D54E-8694-3C32-A89E4E1BB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2" y="846138"/>
            <a:ext cx="109728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1. </a:t>
            </a:r>
            <a:r>
              <a:rPr lang="en-US" b="1" dirty="0"/>
              <a:t>Non-Homologous End Joining (NHEJ)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26976A8-B1F9-C193-2C6A-5583145257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Predominant and most active DSB repair pathway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Operates throughout all phases of the cell cycle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Repairs DNA by directly ligating broken ends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Error-prone; generates insertions or deletions (indels)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Indels often cause frameshift mutations → gene knockout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Widely used for loss-of-function genome editing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50377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2D4F6E3-7E0A-7FBC-4E7E-DC39407A2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2. </a:t>
            </a:r>
            <a:r>
              <a:rPr lang="en-US" b="1" dirty="0">
                <a:latin typeface="+mn-lt"/>
              </a:rPr>
              <a:t>Homology-Directed Repair (HDR) 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8A38317-FE37-0D96-7A50-60677D79A0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843462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High-fidelity repair pathway active in late S and G2 phases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Requires a homologous DNA template (sister chromatid or donor DNA)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Enables precise gene insertion, correction, or replacement</a:t>
            </a:r>
          </a:p>
          <a:p>
            <a:pPr marL="0" indent="0">
              <a:buNone/>
            </a:pPr>
            <a:r>
              <a:rPr lang="en-US" b="1" dirty="0"/>
              <a:t>HDR FREQUENCY: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Occurs less frequently than NHEJ (≈0.5–20% vs. 20–60% for NHEJ)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HDR efficiency influenced by cell type, cell cycle, and donor design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Strategies to enhance HDR include NHEJ inhibition and cell-cycle synchronization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85752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CRISPR/CAS9 Delivery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 is CRISPR-Cas9 Delivery?</a:t>
            </a:r>
          </a:p>
          <a:p>
            <a:pPr marL="0" indent="0">
              <a:buNone/>
            </a:pPr>
            <a:r>
              <a:rPr lang="en-US" dirty="0" smtClean="0"/>
              <a:t>CRISPR-Cas9 </a:t>
            </a:r>
            <a:r>
              <a:rPr lang="en-US" dirty="0"/>
              <a:t>delivery = the process of </a:t>
            </a:r>
            <a:r>
              <a:rPr lang="en-US" b="1" dirty="0"/>
              <a:t>transporting CRISPR components (Cas9 protein + guide RNA)</a:t>
            </a:r>
            <a:r>
              <a:rPr lang="en-US" dirty="0"/>
              <a:t> into target cells to edit genes.</a:t>
            </a:r>
          </a:p>
          <a:p>
            <a:pPr marL="0" indent="0">
              <a:buNone/>
            </a:pPr>
            <a:r>
              <a:rPr lang="en-US" dirty="0"/>
              <a:t>Purpose: Gene editing in a </a:t>
            </a:r>
            <a:r>
              <a:rPr lang="en-US" b="1" dirty="0"/>
              <a:t>safe, efficient, and targeted</a:t>
            </a:r>
            <a:r>
              <a:rPr lang="en-US" dirty="0"/>
              <a:t> manner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17457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103" y="245762"/>
            <a:ext cx="10972800" cy="1143000"/>
          </a:xfrm>
        </p:spPr>
        <p:txBody>
          <a:bodyPr/>
          <a:lstStyle/>
          <a:p>
            <a:r>
              <a:rPr lang="en-US" b="1" dirty="0" smtClean="0"/>
              <a:t>CRISPR/CAS9 Delivery Components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Cas9 </a:t>
            </a:r>
            <a:r>
              <a:rPr lang="en-US" dirty="0" smtClean="0"/>
              <a:t>protein</a:t>
            </a:r>
          </a:p>
          <a:p>
            <a:r>
              <a:rPr lang="en-US" dirty="0"/>
              <a:t>Guide RNA (</a:t>
            </a:r>
            <a:r>
              <a:rPr lang="en-US" dirty="0" err="1"/>
              <a:t>gRNA</a:t>
            </a:r>
            <a:r>
              <a:rPr lang="en-US" dirty="0" smtClean="0"/>
              <a:t>)</a:t>
            </a:r>
          </a:p>
          <a:p>
            <a:r>
              <a:rPr lang="en-US" dirty="0"/>
              <a:t>Donor DNA (optional</a:t>
            </a:r>
            <a:r>
              <a:rPr lang="en-US" dirty="0" smtClean="0"/>
              <a:t>)-&gt;</a:t>
            </a:r>
            <a:r>
              <a:rPr lang="en-US" dirty="0" err="1" smtClean="0"/>
              <a:t>knockin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26" name="Picture 2" descr="Poster Diagram of CRISPR-Cas9 Genetic Engineering Components, including 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3235" y="1600201"/>
            <a:ext cx="4242046" cy="2999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1337912" y="4061861"/>
            <a:ext cx="3060833" cy="12801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Knockins</a:t>
            </a:r>
            <a:r>
              <a:rPr lang="en-US" dirty="0" smtClean="0"/>
              <a:t> </a:t>
            </a:r>
            <a:r>
              <a:rPr lang="en-US" dirty="0" err="1" smtClean="0"/>
              <a:t>vs</a:t>
            </a:r>
            <a:r>
              <a:rPr lang="en-US" dirty="0" smtClean="0"/>
              <a:t> Knockouts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87596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B17D0F56-457F-81BB-3DA4-EF800E93F9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388" r="8592" b="7724"/>
          <a:stretch>
            <a:fillRect/>
          </a:stretch>
        </p:blipFill>
        <p:spPr>
          <a:xfrm>
            <a:off x="-1" y="0"/>
            <a:ext cx="5429251" cy="640079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4DF913AF-55DF-D860-8685-AB946BA91B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0" y="0"/>
            <a:ext cx="676275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0089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7DF07D-1F43-CBD9-7444-774219238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DELIVERY METHODS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704F379F-1BDA-967C-A0BF-8614D3C0E9F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96574" y="1476615"/>
            <a:ext cx="7333026" cy="62786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Delivery is critical for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gene editing success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Influences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efficiency, specificity, and therapeutic potential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CRISPR components must reach 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nucleus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overcoming: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Cell &amp; tissue barriers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Large molecular size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Poor stability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Various methods for delivering CRISPR-Cas9 components. The schematic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6699" y="1991284"/>
            <a:ext cx="3889375" cy="3591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26125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B719550-2FA9-E259-84DA-2F393B2CA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301" y="0"/>
            <a:ext cx="8596668" cy="1320800"/>
          </a:xfrm>
        </p:spPr>
        <p:txBody>
          <a:bodyPr>
            <a:normAutofit/>
          </a:bodyPr>
          <a:lstStyle/>
          <a:p>
            <a:r>
              <a:rPr lang="en-US" b="1" dirty="0"/>
              <a:t>CRISPR Cas9 Delivery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CAEECEE-39DD-C72B-7FFB-DA3C817C91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875" y="1501742"/>
            <a:ext cx="11287126" cy="4080328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9600" b="1" dirty="0">
                <a:latin typeface="Calibri" panose="020F0502020204030204" pitchFamily="34" charset="0"/>
                <a:cs typeface="Calibri" panose="020F0502020204030204" pitchFamily="34" charset="0"/>
              </a:rPr>
              <a:t>A. Viral Vectors:</a:t>
            </a:r>
            <a:endParaRPr lang="en-US" sz="9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9600" b="1" dirty="0">
                <a:latin typeface="Calibri" panose="020F0502020204030204" pitchFamily="34" charset="0"/>
                <a:cs typeface="Calibri" panose="020F0502020204030204" pitchFamily="34" charset="0"/>
              </a:rPr>
              <a:t>	AAV:</a:t>
            </a:r>
            <a:r>
              <a:rPr lang="en-US" sz="9600" dirty="0">
                <a:latin typeface="Calibri" panose="020F0502020204030204" pitchFamily="34" charset="0"/>
                <a:cs typeface="Calibri" panose="020F0502020204030204" pitchFamily="34" charset="0"/>
              </a:rPr>
              <a:t> Safe, transduces most cells</a:t>
            </a:r>
          </a:p>
          <a:p>
            <a:pPr marL="0" indent="0">
              <a:buNone/>
            </a:pPr>
            <a:r>
              <a:rPr lang="en-US" sz="9600" b="1" dirty="0">
                <a:latin typeface="Calibri" panose="020F0502020204030204" pitchFamily="34" charset="0"/>
                <a:cs typeface="Calibri" panose="020F0502020204030204" pitchFamily="34" charset="0"/>
              </a:rPr>
              <a:t>	Lentivirus:</a:t>
            </a:r>
            <a:r>
              <a:rPr lang="en-US" sz="9600" dirty="0">
                <a:latin typeface="Calibri" panose="020F0502020204030204" pitchFamily="34" charset="0"/>
                <a:cs typeface="Calibri" panose="020F0502020204030204" pitchFamily="34" charset="0"/>
              </a:rPr>
              <a:t> Stable integration, ideal for ex vivo editing</a:t>
            </a:r>
          </a:p>
          <a:p>
            <a:pPr marL="0" indent="0">
              <a:buNone/>
            </a:pPr>
            <a:r>
              <a:rPr lang="en-US" sz="9600" b="1" dirty="0">
                <a:latin typeface="Calibri" panose="020F0502020204030204" pitchFamily="34" charset="0"/>
                <a:cs typeface="Calibri" panose="020F0502020204030204" pitchFamily="34" charset="0"/>
              </a:rPr>
              <a:t>B. Physical Methods:</a:t>
            </a:r>
            <a:endParaRPr lang="en-US" sz="9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9600" b="1" dirty="0">
                <a:latin typeface="Calibri" panose="020F0502020204030204" pitchFamily="34" charset="0"/>
                <a:cs typeface="Calibri" panose="020F0502020204030204" pitchFamily="34" charset="0"/>
              </a:rPr>
              <a:t>	Electroporation:</a:t>
            </a:r>
            <a:r>
              <a:rPr lang="en-US" sz="9600" dirty="0">
                <a:latin typeface="Calibri" panose="020F0502020204030204" pitchFamily="34" charset="0"/>
                <a:cs typeface="Calibri" panose="020F0502020204030204" pitchFamily="34" charset="0"/>
              </a:rPr>
              <a:t> Electric pulse opens cell membrane</a:t>
            </a:r>
          </a:p>
          <a:p>
            <a:pPr marL="0" indent="0">
              <a:buNone/>
            </a:pPr>
            <a:r>
              <a:rPr lang="en-US" sz="9600" b="1" dirty="0">
                <a:latin typeface="Calibri" panose="020F0502020204030204" pitchFamily="34" charset="0"/>
                <a:cs typeface="Calibri" panose="020F0502020204030204" pitchFamily="34" charset="0"/>
              </a:rPr>
              <a:t>	Microinjection:</a:t>
            </a:r>
            <a:r>
              <a:rPr lang="en-US" sz="9600" dirty="0">
                <a:latin typeface="Calibri" panose="020F0502020204030204" pitchFamily="34" charset="0"/>
                <a:cs typeface="Calibri" panose="020F0502020204030204" pitchFamily="34" charset="0"/>
              </a:rPr>
              <a:t> Direct injection into cells</a:t>
            </a:r>
          </a:p>
          <a:p>
            <a:pPr marL="0" indent="0">
              <a:buNone/>
            </a:pPr>
            <a:r>
              <a:rPr lang="en-US" sz="9600" b="1" dirty="0">
                <a:latin typeface="Calibri" panose="020F0502020204030204" pitchFamily="34" charset="0"/>
                <a:cs typeface="Calibri" panose="020F0502020204030204" pitchFamily="34" charset="0"/>
              </a:rPr>
              <a:t>	Pros/Cons:</a:t>
            </a:r>
            <a:r>
              <a:rPr lang="en-US" sz="9600" dirty="0">
                <a:latin typeface="Calibri" panose="020F0502020204030204" pitchFamily="34" charset="0"/>
                <a:cs typeface="Calibri" panose="020F0502020204030204" pitchFamily="34" charset="0"/>
              </a:rPr>
              <a:t> Precise but labor-intensive</a:t>
            </a:r>
          </a:p>
          <a:p>
            <a:pPr marL="0" indent="0">
              <a:buNone/>
            </a:pPr>
            <a:r>
              <a:rPr lang="en-US" sz="9600" b="1" dirty="0">
                <a:latin typeface="Calibri" panose="020F0502020204030204" pitchFamily="34" charset="0"/>
                <a:cs typeface="Calibri" panose="020F0502020204030204" pitchFamily="34" charset="0"/>
              </a:rPr>
              <a:t>C. Non-Viral Nanoparticles:</a:t>
            </a:r>
            <a:endParaRPr lang="en-US" sz="9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9600" b="1" dirty="0">
                <a:latin typeface="Calibri" panose="020F0502020204030204" pitchFamily="34" charset="0"/>
                <a:cs typeface="Calibri" panose="020F0502020204030204" pitchFamily="34" charset="0"/>
              </a:rPr>
              <a:t>	LNPs:</a:t>
            </a:r>
            <a:r>
              <a:rPr lang="en-US" sz="9600" dirty="0">
                <a:latin typeface="Calibri" panose="020F0502020204030204" pitchFamily="34" charset="0"/>
                <a:cs typeface="Calibri" panose="020F0502020204030204" pitchFamily="34" charset="0"/>
              </a:rPr>
              <a:t> Protect CRISPR, enhance uptake</a:t>
            </a:r>
          </a:p>
          <a:p>
            <a:pPr marL="0" indent="0">
              <a:buNone/>
            </a:pPr>
            <a:r>
              <a:rPr lang="en-US" sz="9600" b="1" dirty="0">
                <a:latin typeface="Calibri" panose="020F0502020204030204" pitchFamily="34" charset="0"/>
                <a:cs typeface="Calibri" panose="020F0502020204030204" pitchFamily="34" charset="0"/>
              </a:rPr>
              <a:t>	Polymeric &amp; Gold nanoparticles:</a:t>
            </a:r>
            <a:r>
              <a:rPr lang="en-US" sz="9600" dirty="0">
                <a:latin typeface="Calibri" panose="020F0502020204030204" pitchFamily="34" charset="0"/>
                <a:cs typeface="Calibri" panose="020F0502020204030204" pitchFamily="34" charset="0"/>
              </a:rPr>
              <a:t> Safe, versatile</a:t>
            </a:r>
          </a:p>
          <a:p>
            <a:pPr marL="0" indent="0">
              <a:buNone/>
            </a:pPr>
            <a:r>
              <a:rPr lang="en-US" sz="96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D. Protein/RNP Delivery:</a:t>
            </a:r>
            <a:endParaRPr lang="en-US" sz="96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96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	RNP complexes:</a:t>
            </a:r>
            <a:r>
              <a:rPr lang="en-US" sz="9600" dirty="0" smtClean="0">
                <a:latin typeface="Calibri" panose="020F0502020204030204" pitchFamily="34" charset="0"/>
                <a:cs typeface="Calibri" panose="020F0502020204030204" pitchFamily="34" charset="0"/>
              </a:rPr>
              <a:t> Fast action, high specificity</a:t>
            </a:r>
          </a:p>
          <a:p>
            <a:pPr marL="0" indent="0">
              <a:buNone/>
            </a:pPr>
            <a:r>
              <a:rPr lang="en-US" sz="96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	Cons:</a:t>
            </a:r>
            <a:r>
              <a:rPr lang="en-US" sz="9600" dirty="0" smtClean="0">
                <a:latin typeface="Calibri" panose="020F0502020204030204" pitchFamily="34" charset="0"/>
                <a:cs typeface="Calibri" panose="020F0502020204030204" pitchFamily="34" charset="0"/>
              </a:rPr>
              <a:t> Large protein is harder to deliver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05186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403889B-963B-64B1-68B4-8FF3B7BB6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CLINICAL TRIALS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FA0AA7E-D546-BA18-CFF4-3C6D5DF77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3880773"/>
          </a:xfrm>
        </p:spPr>
        <p:txBody>
          <a:bodyPr>
            <a:normAutofit/>
          </a:bodyPr>
          <a:lstStyle/>
          <a:p>
            <a:pPr marL="91440" marR="0" lvl="0" indent="-91440" algn="l" defTabSz="914400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rgbClr val="9BA8B7"/>
              </a:buClr>
              <a:buSzPct val="100000"/>
              <a:buFont typeface="Calibri" panose="020F0502020204030204" pitchFamily="34" charset="0"/>
              <a:buChar char=" 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Clinical trials are research studies done on humans to test whether a new treatment is safe and effective.</a:t>
            </a:r>
          </a:p>
          <a:p>
            <a:pPr marL="91440" marR="0" lvl="0" indent="-91440" algn="l" defTabSz="914400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rgbClr val="9BA8B7"/>
              </a:buClr>
              <a:buSzPct val="100000"/>
              <a:buFont typeface="Calibri" panose="020F0502020204030204" pitchFamily="34" charset="0"/>
              <a:buChar char=" 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Why are Clinical Trials Needed?</a:t>
            </a:r>
          </a:p>
          <a:p>
            <a:pPr marL="91440" marR="0" lvl="0" indent="-91440" algn="l" defTabSz="914400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rgbClr val="9BA8B7"/>
              </a:buClr>
              <a:buSzPct val="100000"/>
              <a:buFont typeface="Calibri" panose="020F0502020204030204" pitchFamily="34" charset="0"/>
              <a:buChar char=" 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Before any new therapy (like CRISPR/Cas9):</a:t>
            </a:r>
          </a:p>
          <a:p>
            <a:pPr marL="91440" marR="0" lvl="0" indent="-91440" algn="l" defTabSz="914400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rgbClr val="9BA8B7"/>
              </a:buClr>
              <a:buSzPct val="100000"/>
              <a:buFont typeface="Calibri" panose="020F0502020204030204" pitchFamily="34" charset="0"/>
              <a:buChar char=" 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It is tested in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cells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Then in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animals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Finally in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humans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 → this stage is called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clinical trial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rgbClr val="9BA8B7"/>
              </a:buClr>
              <a:buSzPct val="100000"/>
              <a:buFont typeface="Calibri" panose="020F0502020204030204" pitchFamily="34" charset="0"/>
              <a:buChar char=" 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Purpose:</a:t>
            </a:r>
          </a:p>
          <a:p>
            <a:pPr marL="91440" marR="0" lvl="0" indent="-91440" algn="l" defTabSz="914400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rgbClr val="9BA8B7"/>
              </a:buClr>
              <a:buSzPct val="100000"/>
              <a:buFont typeface="Calibri" panose="020F0502020204030204" pitchFamily="34" charset="0"/>
              <a:buChar char=" 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(Is it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safe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?, Does it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work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?, What are the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side effects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?, What is the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correct dose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67414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>
            <a:extLst>
              <a:ext uri="{FF2B5EF4-FFF2-40B4-BE49-F238E27FC236}">
                <a16:creationId xmlns:a16="http://schemas.microsoft.com/office/drawing/2014/main" xmlns="" id="{576AB25E-7313-136D-F13D-FFE6CB4035FF}"/>
              </a:ext>
            </a:extLst>
          </p:cNvPr>
          <p:cNvGrpSpPr/>
          <p:nvPr/>
        </p:nvGrpSpPr>
        <p:grpSpPr>
          <a:xfrm>
            <a:off x="1643063" y="326042"/>
            <a:ext cx="8715375" cy="6117621"/>
            <a:chOff x="2910431" y="691857"/>
            <a:chExt cx="6371137" cy="5215236"/>
          </a:xfrm>
        </p:grpSpPr>
        <p:sp>
          <p:nvSpPr>
            <p:cNvPr id="2" name="Rounded Rectangle 1"/>
            <p:cNvSpPr/>
            <p:nvPr/>
          </p:nvSpPr>
          <p:spPr>
            <a:xfrm>
              <a:off x="3579736" y="1949388"/>
              <a:ext cx="603581" cy="603581"/>
            </a:xfrm>
            <a:custGeom>
              <a:avLst/>
              <a:gdLst/>
              <a:ahLst/>
              <a:cxnLst/>
              <a:rect l="0" t="0" r="0" b="0"/>
              <a:pathLst>
                <a:path w="603581" h="603581">
                  <a:moveTo>
                    <a:pt x="0" y="301790"/>
                  </a:moveTo>
                  <a:cubicBezTo>
                    <a:pt x="0" y="468462"/>
                    <a:pt x="135118" y="603581"/>
                    <a:pt x="301790" y="603581"/>
                  </a:cubicBezTo>
                  <a:cubicBezTo>
                    <a:pt x="468462" y="603581"/>
                    <a:pt x="603581" y="468462"/>
                    <a:pt x="603581" y="301790"/>
                  </a:cubicBezTo>
                  <a:cubicBezTo>
                    <a:pt x="603581" y="135118"/>
                    <a:pt x="468462" y="0"/>
                    <a:pt x="301790" y="0"/>
                  </a:cubicBezTo>
                  <a:cubicBezTo>
                    <a:pt x="135118" y="0"/>
                    <a:pt x="0" y="135118"/>
                    <a:pt x="0" y="301790"/>
                  </a:cubicBezTo>
                </a:path>
              </a:pathLst>
            </a:custGeom>
            <a:gradFill rotWithShape="1">
              <a:gsLst>
                <a:gs pos="0">
                  <a:srgbClr val="9CC2FF"/>
                </a:gs>
                <a:gs pos="100000">
                  <a:srgbClr val="4F92FF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3579736" y="1949388"/>
              <a:ext cx="603581" cy="603581"/>
            </a:xfrm>
            <a:custGeom>
              <a:avLst/>
              <a:gdLst/>
              <a:ahLst/>
              <a:cxnLst/>
              <a:rect l="0" t="0" r="0" b="0"/>
              <a:pathLst>
                <a:path w="603581" h="603581">
                  <a:moveTo>
                    <a:pt x="0" y="301790"/>
                  </a:moveTo>
                  <a:cubicBezTo>
                    <a:pt x="0" y="468465"/>
                    <a:pt x="135116" y="603581"/>
                    <a:pt x="301790" y="603581"/>
                  </a:cubicBezTo>
                  <a:cubicBezTo>
                    <a:pt x="468465" y="603581"/>
                    <a:pt x="603581" y="468465"/>
                    <a:pt x="603581" y="301790"/>
                  </a:cubicBezTo>
                  <a:cubicBezTo>
                    <a:pt x="603581" y="135116"/>
                    <a:pt x="468465" y="0"/>
                    <a:pt x="301790" y="0"/>
                  </a:cubicBezTo>
                  <a:cubicBezTo>
                    <a:pt x="135116" y="0"/>
                    <a:pt x="0" y="135116"/>
                    <a:pt x="0" y="301790"/>
                  </a:cubicBezTo>
                </a:path>
              </a:pathLst>
            </a:custGeom>
            <a:noFill/>
            <a:ln w="12574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3881527" y="2552969"/>
              <a:ext cx="8383" cy="603581"/>
            </a:xfrm>
            <a:custGeom>
              <a:avLst/>
              <a:gdLst/>
              <a:ahLst/>
              <a:cxnLst/>
              <a:rect l="0" t="0" r="0" b="0"/>
              <a:pathLst>
                <a:path w="8383" h="603581">
                  <a:moveTo>
                    <a:pt x="0" y="603581"/>
                  </a:moveTo>
                  <a:lnTo>
                    <a:pt x="0" y="0"/>
                  </a:lnTo>
                </a:path>
              </a:pathLst>
            </a:custGeom>
            <a:noFill/>
            <a:ln w="12574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5470287" y="2620034"/>
              <a:ext cx="8383" cy="544899"/>
            </a:xfrm>
            <a:custGeom>
              <a:avLst/>
              <a:gdLst/>
              <a:ahLst/>
              <a:cxnLst/>
              <a:rect l="0" t="0" r="0" b="0"/>
              <a:pathLst>
                <a:path w="8383" h="544899">
                  <a:moveTo>
                    <a:pt x="0" y="544899"/>
                  </a:moveTo>
                  <a:lnTo>
                    <a:pt x="0" y="0"/>
                  </a:lnTo>
                </a:path>
              </a:pathLst>
            </a:custGeom>
            <a:noFill/>
            <a:ln w="12574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5445138" y="2561351"/>
              <a:ext cx="50298" cy="50298"/>
            </a:xfrm>
            <a:custGeom>
              <a:avLst/>
              <a:gdLst/>
              <a:ahLst/>
              <a:cxnLst/>
              <a:rect l="0" t="0" r="0" b="0"/>
              <a:pathLst>
                <a:path w="50298" h="50298">
                  <a:moveTo>
                    <a:pt x="0" y="25149"/>
                  </a:moveTo>
                  <a:cubicBezTo>
                    <a:pt x="0" y="39029"/>
                    <a:pt x="11269" y="50298"/>
                    <a:pt x="25149" y="50298"/>
                  </a:cubicBezTo>
                  <a:cubicBezTo>
                    <a:pt x="39029" y="50298"/>
                    <a:pt x="50298" y="39029"/>
                    <a:pt x="50298" y="25149"/>
                  </a:cubicBezTo>
                  <a:cubicBezTo>
                    <a:pt x="50298" y="11269"/>
                    <a:pt x="39029" y="0"/>
                    <a:pt x="25149" y="0"/>
                  </a:cubicBezTo>
                  <a:cubicBezTo>
                    <a:pt x="11269" y="0"/>
                    <a:pt x="0" y="11269"/>
                    <a:pt x="0" y="25149"/>
                  </a:cubicBezTo>
                  <a:close/>
                </a:path>
              </a:pathLst>
            </a:custGeom>
            <a:noFill/>
            <a:ln w="12574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762622" y="1949388"/>
              <a:ext cx="603581" cy="603581"/>
            </a:xfrm>
            <a:custGeom>
              <a:avLst/>
              <a:gdLst/>
              <a:ahLst/>
              <a:cxnLst/>
              <a:rect l="0" t="0" r="0" b="0"/>
              <a:pathLst>
                <a:path w="603581" h="603581">
                  <a:moveTo>
                    <a:pt x="0" y="301790"/>
                  </a:moveTo>
                  <a:cubicBezTo>
                    <a:pt x="0" y="468462"/>
                    <a:pt x="135118" y="603581"/>
                    <a:pt x="301790" y="603581"/>
                  </a:cubicBezTo>
                  <a:cubicBezTo>
                    <a:pt x="468462" y="603581"/>
                    <a:pt x="603581" y="468462"/>
                    <a:pt x="603581" y="301790"/>
                  </a:cubicBezTo>
                  <a:cubicBezTo>
                    <a:pt x="603581" y="135118"/>
                    <a:pt x="468462" y="0"/>
                    <a:pt x="301790" y="0"/>
                  </a:cubicBezTo>
                  <a:cubicBezTo>
                    <a:pt x="135118" y="0"/>
                    <a:pt x="0" y="135118"/>
                    <a:pt x="0" y="301790"/>
                  </a:cubicBezTo>
                </a:path>
              </a:pathLst>
            </a:custGeom>
            <a:gradFill rotWithShape="1">
              <a:gsLst>
                <a:gs pos="0">
                  <a:srgbClr val="83FAC1"/>
                </a:gs>
                <a:gs pos="100000">
                  <a:srgbClr val="44E095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762622" y="1949388"/>
              <a:ext cx="603581" cy="603581"/>
            </a:xfrm>
            <a:custGeom>
              <a:avLst/>
              <a:gdLst/>
              <a:ahLst/>
              <a:cxnLst/>
              <a:rect l="0" t="0" r="0" b="0"/>
              <a:pathLst>
                <a:path w="603581" h="603581">
                  <a:moveTo>
                    <a:pt x="0" y="301790"/>
                  </a:moveTo>
                  <a:cubicBezTo>
                    <a:pt x="0" y="468465"/>
                    <a:pt x="135116" y="603581"/>
                    <a:pt x="301790" y="603581"/>
                  </a:cubicBezTo>
                  <a:cubicBezTo>
                    <a:pt x="468465" y="603581"/>
                    <a:pt x="603581" y="468465"/>
                    <a:pt x="603581" y="301790"/>
                  </a:cubicBezTo>
                  <a:cubicBezTo>
                    <a:pt x="603581" y="135116"/>
                    <a:pt x="468465" y="0"/>
                    <a:pt x="301790" y="0"/>
                  </a:cubicBezTo>
                  <a:cubicBezTo>
                    <a:pt x="135116" y="0"/>
                    <a:pt x="0" y="135116"/>
                    <a:pt x="0" y="301790"/>
                  </a:cubicBezTo>
                </a:path>
              </a:pathLst>
            </a:custGeom>
            <a:noFill/>
            <a:ln w="12574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7064412" y="2552969"/>
              <a:ext cx="8383" cy="603581"/>
            </a:xfrm>
            <a:custGeom>
              <a:avLst/>
              <a:gdLst/>
              <a:ahLst/>
              <a:cxnLst/>
              <a:rect l="0" t="0" r="0" b="0"/>
              <a:pathLst>
                <a:path w="8383" h="603581">
                  <a:moveTo>
                    <a:pt x="0" y="603581"/>
                  </a:moveTo>
                  <a:lnTo>
                    <a:pt x="0" y="0"/>
                  </a:lnTo>
                </a:path>
              </a:pathLst>
            </a:custGeom>
            <a:noFill/>
            <a:ln w="12574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8602874" y="2620034"/>
              <a:ext cx="8383" cy="544899"/>
            </a:xfrm>
            <a:custGeom>
              <a:avLst/>
              <a:gdLst/>
              <a:ahLst/>
              <a:cxnLst/>
              <a:rect l="0" t="0" r="0" b="0"/>
              <a:pathLst>
                <a:path w="8383" h="544899">
                  <a:moveTo>
                    <a:pt x="0" y="544899"/>
                  </a:moveTo>
                  <a:lnTo>
                    <a:pt x="0" y="0"/>
                  </a:lnTo>
                </a:path>
              </a:pathLst>
            </a:custGeom>
            <a:noFill/>
            <a:ln w="12574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8577725" y="2561351"/>
              <a:ext cx="50298" cy="50298"/>
            </a:xfrm>
            <a:custGeom>
              <a:avLst/>
              <a:gdLst/>
              <a:ahLst/>
              <a:cxnLst/>
              <a:rect l="0" t="0" r="0" b="0"/>
              <a:pathLst>
                <a:path w="50298" h="50298">
                  <a:moveTo>
                    <a:pt x="0" y="25149"/>
                  </a:moveTo>
                  <a:cubicBezTo>
                    <a:pt x="0" y="39029"/>
                    <a:pt x="11269" y="50298"/>
                    <a:pt x="25149" y="50298"/>
                  </a:cubicBezTo>
                  <a:cubicBezTo>
                    <a:pt x="39029" y="50298"/>
                    <a:pt x="50298" y="39029"/>
                    <a:pt x="50298" y="25149"/>
                  </a:cubicBezTo>
                  <a:cubicBezTo>
                    <a:pt x="50298" y="11269"/>
                    <a:pt x="39029" y="0"/>
                    <a:pt x="25149" y="0"/>
                  </a:cubicBezTo>
                  <a:cubicBezTo>
                    <a:pt x="11269" y="0"/>
                    <a:pt x="0" y="11269"/>
                    <a:pt x="0" y="25149"/>
                  </a:cubicBezTo>
                  <a:close/>
                </a:path>
              </a:pathLst>
            </a:custGeom>
            <a:noFill/>
            <a:ln w="12574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3371501" y="3164934"/>
              <a:ext cx="1282610" cy="804775"/>
            </a:xfrm>
            <a:custGeom>
              <a:avLst/>
              <a:gdLst/>
              <a:ahLst/>
              <a:cxnLst/>
              <a:rect l="0" t="0" r="0" b="0"/>
              <a:pathLst>
                <a:path w="1282610" h="804775">
                  <a:moveTo>
                    <a:pt x="50298" y="100596"/>
                  </a:moveTo>
                  <a:lnTo>
                    <a:pt x="0" y="0"/>
                  </a:lnTo>
                  <a:lnTo>
                    <a:pt x="1014352" y="0"/>
                  </a:lnTo>
                  <a:lnTo>
                    <a:pt x="1282610" y="402387"/>
                  </a:lnTo>
                  <a:lnTo>
                    <a:pt x="1014352" y="804775"/>
                  </a:lnTo>
                  <a:lnTo>
                    <a:pt x="0" y="804775"/>
                  </a:lnTo>
                  <a:lnTo>
                    <a:pt x="50298" y="704178"/>
                  </a:lnTo>
                  <a:lnTo>
                    <a:pt x="947287" y="704178"/>
                  </a:lnTo>
                  <a:lnTo>
                    <a:pt x="1148481" y="402387"/>
                  </a:lnTo>
                  <a:lnTo>
                    <a:pt x="947287" y="100596"/>
                  </a:lnTo>
                  <a:lnTo>
                    <a:pt x="50298" y="100596"/>
                  </a:lnTo>
                </a:path>
              </a:pathLst>
            </a:custGeom>
            <a:gradFill rotWithShape="1">
              <a:gsLst>
                <a:gs pos="0">
                  <a:srgbClr val="9CC2FF"/>
                </a:gs>
                <a:gs pos="100000">
                  <a:srgbClr val="4F92FF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3371501" y="3164934"/>
              <a:ext cx="1081416" cy="804775"/>
            </a:xfrm>
            <a:custGeom>
              <a:avLst/>
              <a:gdLst/>
              <a:ahLst/>
              <a:cxnLst/>
              <a:rect l="0" t="0" r="0" b="0"/>
              <a:pathLst>
                <a:path w="1081416" h="804775">
                  <a:moveTo>
                    <a:pt x="50298" y="100596"/>
                  </a:moveTo>
                  <a:lnTo>
                    <a:pt x="0" y="0"/>
                  </a:lnTo>
                  <a:lnTo>
                    <a:pt x="1014352" y="0"/>
                  </a:lnTo>
                  <a:lnTo>
                    <a:pt x="1081416" y="100596"/>
                  </a:lnTo>
                  <a:moveTo>
                    <a:pt x="50298" y="704178"/>
                  </a:moveTo>
                  <a:lnTo>
                    <a:pt x="0" y="804775"/>
                  </a:lnTo>
                  <a:lnTo>
                    <a:pt x="1014352" y="804775"/>
                  </a:lnTo>
                  <a:lnTo>
                    <a:pt x="1081416" y="704178"/>
                  </a:lnTo>
                </a:path>
              </a:pathLst>
            </a:custGeom>
            <a:noFill/>
            <a:ln w="12574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grpSp>
          <p:nvGrpSpPr>
            <p:cNvPr id="17" name="Group 16"/>
            <p:cNvGrpSpPr/>
            <p:nvPr/>
          </p:nvGrpSpPr>
          <p:grpSpPr>
            <a:xfrm>
              <a:off x="2910431" y="3265531"/>
              <a:ext cx="1609550" cy="603581"/>
              <a:chOff x="335322" y="2825096"/>
              <a:chExt cx="1609550" cy="603581"/>
            </a:xfrm>
          </p:grpSpPr>
          <p:sp>
            <p:nvSpPr>
              <p:cNvPr id="14" name="Rounded Rectangle 13"/>
              <p:cNvSpPr/>
              <p:nvPr/>
            </p:nvSpPr>
            <p:spPr>
              <a:xfrm>
                <a:off x="536516" y="2825096"/>
                <a:ext cx="1207162" cy="603581"/>
              </a:xfrm>
              <a:custGeom>
                <a:avLst/>
                <a:gdLst/>
                <a:ahLst/>
                <a:cxnLst/>
                <a:rect l="0" t="0" r="0" b="0"/>
                <a:pathLst>
                  <a:path w="1207162" h="603581">
                    <a:moveTo>
                      <a:pt x="0" y="0"/>
                    </a:moveTo>
                    <a:lnTo>
                      <a:pt x="1207162" y="0"/>
                    </a:lnTo>
                    <a:lnTo>
                      <a:pt x="1207162" y="603581"/>
                    </a:lnTo>
                    <a:lnTo>
                      <a:pt x="0" y="603581"/>
                    </a:lnTo>
                    <a:lnTo>
                      <a:pt x="0" y="0"/>
                    </a:lnTo>
                  </a:path>
                </a:pathLst>
              </a:custGeom>
              <a:gradFill rotWithShape="1">
                <a:gsLst>
                  <a:gs pos="0">
                    <a:srgbClr val="D9D9D9"/>
                  </a:gs>
                  <a:gs pos="100000">
                    <a:srgbClr val="BCBCBC"/>
                  </a:gs>
                </a:gsLst>
                <a:lin ang="5400000" scaled="1"/>
              </a:gradFill>
              <a:ln>
                <a:noFill/>
              </a:ln>
            </p:spPr>
            <p:txBody>
              <a:bodyPr rtlCol="0" anchor="ctr"/>
              <a:lstStyle/>
              <a:p>
                <a:pPr algn="ctr" defTabSz="457200"/>
                <a:endParaRPr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15" name="Rounded Rectangle 14"/>
              <p:cNvSpPr/>
              <p:nvPr/>
            </p:nvSpPr>
            <p:spPr>
              <a:xfrm>
                <a:off x="335322" y="2825096"/>
                <a:ext cx="201193" cy="603581"/>
              </a:xfrm>
              <a:custGeom>
                <a:avLst/>
                <a:gdLst/>
                <a:ahLst/>
                <a:cxnLst/>
                <a:rect l="0" t="0" r="0" b="0"/>
                <a:pathLst>
                  <a:path w="201193" h="603581">
                    <a:moveTo>
                      <a:pt x="0" y="0"/>
                    </a:moveTo>
                    <a:lnTo>
                      <a:pt x="201193" y="301790"/>
                    </a:lnTo>
                    <a:lnTo>
                      <a:pt x="0" y="603581"/>
                    </a:lnTo>
                    <a:lnTo>
                      <a:pt x="201193" y="603581"/>
                    </a:lnTo>
                    <a:lnTo>
                      <a:pt x="201193" y="0"/>
                    </a:lnTo>
                    <a:lnTo>
                      <a:pt x="0" y="0"/>
                    </a:lnTo>
                  </a:path>
                </a:pathLst>
              </a:custGeom>
              <a:gradFill rotWithShape="1">
                <a:gsLst>
                  <a:gs pos="0">
                    <a:srgbClr val="D9D9D9"/>
                  </a:gs>
                  <a:gs pos="100000">
                    <a:srgbClr val="BCBCBC"/>
                  </a:gs>
                </a:gsLst>
                <a:lin ang="5400000" scaled="1"/>
              </a:gradFill>
              <a:ln>
                <a:noFill/>
              </a:ln>
            </p:spPr>
            <p:txBody>
              <a:bodyPr rtlCol="0" anchor="ctr"/>
              <a:lstStyle/>
              <a:p>
                <a:pPr algn="ctr" defTabSz="457200"/>
                <a:endParaRPr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16" name="Rounded Rectangle 15"/>
              <p:cNvSpPr/>
              <p:nvPr/>
            </p:nvSpPr>
            <p:spPr>
              <a:xfrm>
                <a:off x="1743679" y="2825096"/>
                <a:ext cx="201193" cy="603581"/>
              </a:xfrm>
              <a:custGeom>
                <a:avLst/>
                <a:gdLst/>
                <a:ahLst/>
                <a:cxnLst/>
                <a:rect l="0" t="0" r="0" b="0"/>
                <a:pathLst>
                  <a:path w="201193" h="603581">
                    <a:moveTo>
                      <a:pt x="0" y="0"/>
                    </a:moveTo>
                    <a:lnTo>
                      <a:pt x="201193" y="301790"/>
                    </a:lnTo>
                    <a:lnTo>
                      <a:pt x="0" y="603581"/>
                    </a:lnTo>
                    <a:lnTo>
                      <a:pt x="0" y="0"/>
                    </a:lnTo>
                  </a:path>
                </a:pathLst>
              </a:custGeom>
              <a:gradFill rotWithShape="1">
                <a:gsLst>
                  <a:gs pos="0">
                    <a:srgbClr val="D9D9D9"/>
                  </a:gs>
                  <a:gs pos="100000">
                    <a:srgbClr val="BCBCBC"/>
                  </a:gs>
                </a:gsLst>
                <a:lin ang="5400000" scaled="1"/>
              </a:gradFill>
              <a:ln>
                <a:noFill/>
              </a:ln>
            </p:spPr>
            <p:txBody>
              <a:bodyPr rtlCol="0" anchor="ctr"/>
              <a:lstStyle/>
              <a:p>
                <a:pPr algn="ctr" defTabSz="457200"/>
                <a:endParaRPr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grpSp>
          <p:nvGrpSpPr>
            <p:cNvPr id="21" name="Group 20"/>
            <p:cNvGrpSpPr/>
            <p:nvPr/>
          </p:nvGrpSpPr>
          <p:grpSpPr>
            <a:xfrm>
              <a:off x="2910432" y="3265531"/>
              <a:ext cx="1609551" cy="603581"/>
              <a:chOff x="335322" y="2825096"/>
              <a:chExt cx="1609551" cy="603581"/>
            </a:xfrm>
          </p:grpSpPr>
          <p:sp>
            <p:nvSpPr>
              <p:cNvPr id="18" name="Rounded Rectangle 17"/>
              <p:cNvSpPr/>
              <p:nvPr/>
            </p:nvSpPr>
            <p:spPr>
              <a:xfrm>
                <a:off x="536516" y="2825096"/>
                <a:ext cx="1207162" cy="603581"/>
              </a:xfrm>
              <a:custGeom>
                <a:avLst/>
                <a:gdLst/>
                <a:ahLst/>
                <a:cxnLst/>
                <a:rect l="0" t="0" r="0" b="0"/>
                <a:pathLst>
                  <a:path w="1207162" h="603581">
                    <a:moveTo>
                      <a:pt x="0" y="0"/>
                    </a:moveTo>
                    <a:lnTo>
                      <a:pt x="1207162" y="0"/>
                    </a:lnTo>
                    <a:moveTo>
                      <a:pt x="1207162" y="603581"/>
                    </a:moveTo>
                    <a:lnTo>
                      <a:pt x="0" y="603581"/>
                    </a:lnTo>
                  </a:path>
                </a:pathLst>
              </a:custGeom>
              <a:noFill/>
              <a:ln w="12574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 defTabSz="457200"/>
                <a:endParaRPr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19" name="Rounded Rectangle 18"/>
              <p:cNvSpPr/>
              <p:nvPr/>
            </p:nvSpPr>
            <p:spPr>
              <a:xfrm>
                <a:off x="335322" y="2825096"/>
                <a:ext cx="201193" cy="603581"/>
              </a:xfrm>
              <a:custGeom>
                <a:avLst/>
                <a:gdLst/>
                <a:ahLst/>
                <a:cxnLst/>
                <a:rect l="0" t="0" r="0" b="0"/>
                <a:pathLst>
                  <a:path w="201193" h="603581">
                    <a:moveTo>
                      <a:pt x="201193" y="0"/>
                    </a:moveTo>
                    <a:lnTo>
                      <a:pt x="0" y="0"/>
                    </a:lnTo>
                    <a:lnTo>
                      <a:pt x="201193" y="301790"/>
                    </a:lnTo>
                    <a:lnTo>
                      <a:pt x="0" y="603581"/>
                    </a:lnTo>
                    <a:lnTo>
                      <a:pt x="201193" y="603581"/>
                    </a:lnTo>
                  </a:path>
                </a:pathLst>
              </a:custGeom>
              <a:noFill/>
              <a:ln w="12574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 defTabSz="457200"/>
                <a:endParaRPr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20" name="Rounded Rectangle 19"/>
              <p:cNvSpPr/>
              <p:nvPr/>
            </p:nvSpPr>
            <p:spPr>
              <a:xfrm>
                <a:off x="1693381" y="2825096"/>
                <a:ext cx="251492" cy="603581"/>
              </a:xfrm>
              <a:custGeom>
                <a:avLst/>
                <a:gdLst/>
                <a:ahLst/>
                <a:cxnLst/>
                <a:rect l="0" t="0" r="0" b="0"/>
                <a:pathLst>
                  <a:path w="251492" h="603581">
                    <a:moveTo>
                      <a:pt x="0" y="603581"/>
                    </a:moveTo>
                    <a:lnTo>
                      <a:pt x="50298" y="603581"/>
                    </a:lnTo>
                    <a:lnTo>
                      <a:pt x="251492" y="301790"/>
                    </a:lnTo>
                    <a:lnTo>
                      <a:pt x="50298" y="0"/>
                    </a:lnTo>
                    <a:lnTo>
                      <a:pt x="0" y="0"/>
                    </a:lnTo>
                  </a:path>
                </a:pathLst>
              </a:custGeom>
              <a:noFill/>
              <a:ln w="12574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 defTabSz="457200"/>
                <a:endParaRPr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sp>
          <p:nvSpPr>
            <p:cNvPr id="22" name="Rounded Rectangle 21"/>
            <p:cNvSpPr/>
            <p:nvPr/>
          </p:nvSpPr>
          <p:spPr>
            <a:xfrm>
              <a:off x="4913986" y="3164934"/>
              <a:ext cx="1282610" cy="804775"/>
            </a:xfrm>
            <a:custGeom>
              <a:avLst/>
              <a:gdLst/>
              <a:ahLst/>
              <a:cxnLst/>
              <a:rect l="0" t="0" r="0" b="0"/>
              <a:pathLst>
                <a:path w="1282610" h="804775">
                  <a:moveTo>
                    <a:pt x="50298" y="100596"/>
                  </a:moveTo>
                  <a:lnTo>
                    <a:pt x="0" y="0"/>
                  </a:lnTo>
                  <a:lnTo>
                    <a:pt x="1014352" y="0"/>
                  </a:lnTo>
                  <a:lnTo>
                    <a:pt x="1282610" y="402387"/>
                  </a:lnTo>
                  <a:lnTo>
                    <a:pt x="1014352" y="804775"/>
                  </a:lnTo>
                  <a:lnTo>
                    <a:pt x="0" y="804775"/>
                  </a:lnTo>
                  <a:lnTo>
                    <a:pt x="50298" y="704178"/>
                  </a:lnTo>
                  <a:lnTo>
                    <a:pt x="947287" y="704178"/>
                  </a:lnTo>
                  <a:lnTo>
                    <a:pt x="1148481" y="402387"/>
                  </a:lnTo>
                  <a:lnTo>
                    <a:pt x="947287" y="100596"/>
                  </a:lnTo>
                  <a:lnTo>
                    <a:pt x="50298" y="100596"/>
                  </a:lnTo>
                </a:path>
              </a:pathLst>
            </a:custGeom>
            <a:gradFill rotWithShape="1">
              <a:gsLst>
                <a:gs pos="0">
                  <a:srgbClr val="7FDFFF"/>
                </a:gs>
                <a:gs pos="100000">
                  <a:srgbClr val="1AC6FF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4913986" y="3164934"/>
              <a:ext cx="1282610" cy="804775"/>
            </a:xfrm>
            <a:custGeom>
              <a:avLst/>
              <a:gdLst/>
              <a:ahLst/>
              <a:cxnLst/>
              <a:rect l="0" t="0" r="0" b="0"/>
              <a:pathLst>
                <a:path w="1282610" h="804775">
                  <a:moveTo>
                    <a:pt x="50298" y="100596"/>
                  </a:moveTo>
                  <a:lnTo>
                    <a:pt x="0" y="0"/>
                  </a:lnTo>
                  <a:lnTo>
                    <a:pt x="1014352" y="0"/>
                  </a:lnTo>
                  <a:lnTo>
                    <a:pt x="1282610" y="402387"/>
                  </a:lnTo>
                  <a:lnTo>
                    <a:pt x="1014352" y="804775"/>
                  </a:lnTo>
                  <a:lnTo>
                    <a:pt x="0" y="804775"/>
                  </a:lnTo>
                  <a:lnTo>
                    <a:pt x="50298" y="704178"/>
                  </a:lnTo>
                </a:path>
              </a:pathLst>
            </a:custGeom>
            <a:noFill/>
            <a:ln w="12574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grpSp>
          <p:nvGrpSpPr>
            <p:cNvPr id="27" name="Group 26"/>
            <p:cNvGrpSpPr/>
            <p:nvPr/>
          </p:nvGrpSpPr>
          <p:grpSpPr>
            <a:xfrm>
              <a:off x="4452917" y="3265531"/>
              <a:ext cx="1609550" cy="603581"/>
              <a:chOff x="1877808" y="2825096"/>
              <a:chExt cx="1609550" cy="603581"/>
            </a:xfrm>
          </p:grpSpPr>
          <p:sp>
            <p:nvSpPr>
              <p:cNvPr id="24" name="Rounded Rectangle 23"/>
              <p:cNvSpPr/>
              <p:nvPr/>
            </p:nvSpPr>
            <p:spPr>
              <a:xfrm>
                <a:off x="2079002" y="2825096"/>
                <a:ext cx="1207162" cy="603581"/>
              </a:xfrm>
              <a:custGeom>
                <a:avLst/>
                <a:gdLst/>
                <a:ahLst/>
                <a:cxnLst/>
                <a:rect l="0" t="0" r="0" b="0"/>
                <a:pathLst>
                  <a:path w="1207162" h="603581">
                    <a:moveTo>
                      <a:pt x="0" y="0"/>
                    </a:moveTo>
                    <a:lnTo>
                      <a:pt x="1207162" y="0"/>
                    </a:lnTo>
                    <a:lnTo>
                      <a:pt x="1207162" y="603581"/>
                    </a:lnTo>
                    <a:lnTo>
                      <a:pt x="0" y="603581"/>
                    </a:lnTo>
                    <a:lnTo>
                      <a:pt x="0" y="0"/>
                    </a:lnTo>
                  </a:path>
                </a:pathLst>
              </a:custGeom>
              <a:gradFill rotWithShape="1">
                <a:gsLst>
                  <a:gs pos="0">
                    <a:srgbClr val="D9D9D9"/>
                  </a:gs>
                  <a:gs pos="100000">
                    <a:srgbClr val="BCBCBC"/>
                  </a:gs>
                </a:gsLst>
                <a:lin ang="5400000" scaled="1"/>
              </a:gradFill>
              <a:ln>
                <a:noFill/>
              </a:ln>
            </p:spPr>
            <p:txBody>
              <a:bodyPr rtlCol="0" anchor="ctr"/>
              <a:lstStyle/>
              <a:p>
                <a:pPr algn="ctr" defTabSz="457200"/>
                <a:endParaRPr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25" name="Rounded Rectangle 24"/>
              <p:cNvSpPr/>
              <p:nvPr/>
            </p:nvSpPr>
            <p:spPr>
              <a:xfrm>
                <a:off x="1877808" y="2825096"/>
                <a:ext cx="201193" cy="603581"/>
              </a:xfrm>
              <a:custGeom>
                <a:avLst/>
                <a:gdLst/>
                <a:ahLst/>
                <a:cxnLst/>
                <a:rect l="0" t="0" r="0" b="0"/>
                <a:pathLst>
                  <a:path w="201193" h="603581">
                    <a:moveTo>
                      <a:pt x="0" y="0"/>
                    </a:moveTo>
                    <a:lnTo>
                      <a:pt x="201193" y="301790"/>
                    </a:lnTo>
                    <a:lnTo>
                      <a:pt x="0" y="603581"/>
                    </a:lnTo>
                    <a:lnTo>
                      <a:pt x="201193" y="603581"/>
                    </a:lnTo>
                    <a:lnTo>
                      <a:pt x="201193" y="0"/>
                    </a:lnTo>
                    <a:lnTo>
                      <a:pt x="0" y="0"/>
                    </a:lnTo>
                  </a:path>
                </a:pathLst>
              </a:custGeom>
              <a:gradFill rotWithShape="1">
                <a:gsLst>
                  <a:gs pos="0">
                    <a:srgbClr val="D9D9D9"/>
                  </a:gs>
                  <a:gs pos="100000">
                    <a:srgbClr val="BCBCBC"/>
                  </a:gs>
                </a:gsLst>
                <a:lin ang="5400000" scaled="1"/>
              </a:gradFill>
              <a:ln>
                <a:noFill/>
              </a:ln>
            </p:spPr>
            <p:txBody>
              <a:bodyPr rtlCol="0" anchor="ctr"/>
              <a:lstStyle/>
              <a:p>
                <a:pPr algn="ctr" defTabSz="457200"/>
                <a:endParaRPr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26" name="Rounded Rectangle 25"/>
              <p:cNvSpPr/>
              <p:nvPr/>
            </p:nvSpPr>
            <p:spPr>
              <a:xfrm>
                <a:off x="3286165" y="2825096"/>
                <a:ext cx="201193" cy="603581"/>
              </a:xfrm>
              <a:custGeom>
                <a:avLst/>
                <a:gdLst/>
                <a:ahLst/>
                <a:cxnLst/>
                <a:rect l="0" t="0" r="0" b="0"/>
                <a:pathLst>
                  <a:path w="201193" h="603581">
                    <a:moveTo>
                      <a:pt x="0" y="0"/>
                    </a:moveTo>
                    <a:lnTo>
                      <a:pt x="201193" y="301790"/>
                    </a:lnTo>
                    <a:lnTo>
                      <a:pt x="0" y="603581"/>
                    </a:lnTo>
                    <a:lnTo>
                      <a:pt x="0" y="0"/>
                    </a:lnTo>
                  </a:path>
                </a:pathLst>
              </a:custGeom>
              <a:gradFill rotWithShape="1">
                <a:gsLst>
                  <a:gs pos="0">
                    <a:srgbClr val="D9D9D9"/>
                  </a:gs>
                  <a:gs pos="100000">
                    <a:srgbClr val="BCBCBC"/>
                  </a:gs>
                </a:gsLst>
                <a:lin ang="5400000" scaled="1"/>
              </a:gradFill>
              <a:ln>
                <a:noFill/>
              </a:ln>
            </p:spPr>
            <p:txBody>
              <a:bodyPr rtlCol="0" anchor="ctr"/>
              <a:lstStyle/>
              <a:p>
                <a:pPr algn="ctr" defTabSz="457200"/>
                <a:endParaRPr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grpSp>
          <p:nvGrpSpPr>
            <p:cNvPr id="31" name="Group 30"/>
            <p:cNvGrpSpPr/>
            <p:nvPr/>
          </p:nvGrpSpPr>
          <p:grpSpPr>
            <a:xfrm>
              <a:off x="4452917" y="3265531"/>
              <a:ext cx="1609550" cy="603581"/>
              <a:chOff x="1877808" y="2825096"/>
              <a:chExt cx="1609550" cy="603581"/>
            </a:xfrm>
          </p:grpSpPr>
          <p:sp>
            <p:nvSpPr>
              <p:cNvPr id="28" name="Rounded Rectangle 27"/>
              <p:cNvSpPr/>
              <p:nvPr/>
            </p:nvSpPr>
            <p:spPr>
              <a:xfrm>
                <a:off x="2079002" y="2825096"/>
                <a:ext cx="1207162" cy="603581"/>
              </a:xfrm>
              <a:custGeom>
                <a:avLst/>
                <a:gdLst/>
                <a:ahLst/>
                <a:cxnLst/>
                <a:rect l="0" t="0" r="0" b="0"/>
                <a:pathLst>
                  <a:path w="1207162" h="603581">
                    <a:moveTo>
                      <a:pt x="0" y="0"/>
                    </a:moveTo>
                    <a:lnTo>
                      <a:pt x="1207162" y="0"/>
                    </a:lnTo>
                    <a:moveTo>
                      <a:pt x="1207162" y="603581"/>
                    </a:moveTo>
                    <a:lnTo>
                      <a:pt x="0" y="603581"/>
                    </a:lnTo>
                  </a:path>
                </a:pathLst>
              </a:custGeom>
              <a:noFill/>
              <a:ln w="12574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 defTabSz="457200"/>
                <a:endParaRPr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29" name="Rounded Rectangle 28"/>
              <p:cNvSpPr/>
              <p:nvPr/>
            </p:nvSpPr>
            <p:spPr>
              <a:xfrm>
                <a:off x="1877808" y="2825096"/>
                <a:ext cx="201193" cy="603581"/>
              </a:xfrm>
              <a:custGeom>
                <a:avLst/>
                <a:gdLst/>
                <a:ahLst/>
                <a:cxnLst/>
                <a:rect l="0" t="0" r="0" b="0"/>
                <a:pathLst>
                  <a:path w="201193" h="603581">
                    <a:moveTo>
                      <a:pt x="0" y="0"/>
                    </a:moveTo>
                    <a:lnTo>
                      <a:pt x="201193" y="0"/>
                    </a:lnTo>
                    <a:moveTo>
                      <a:pt x="0" y="603581"/>
                    </a:moveTo>
                    <a:lnTo>
                      <a:pt x="201193" y="603581"/>
                    </a:lnTo>
                  </a:path>
                </a:pathLst>
              </a:custGeom>
              <a:noFill/>
              <a:ln w="12574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 defTabSz="457200"/>
                <a:endParaRPr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30" name="Rounded Rectangle 29"/>
              <p:cNvSpPr/>
              <p:nvPr/>
            </p:nvSpPr>
            <p:spPr>
              <a:xfrm>
                <a:off x="3235866" y="2825096"/>
                <a:ext cx="251492" cy="603581"/>
              </a:xfrm>
              <a:custGeom>
                <a:avLst/>
                <a:gdLst/>
                <a:ahLst/>
                <a:cxnLst/>
                <a:rect l="0" t="0" r="0" b="0"/>
                <a:pathLst>
                  <a:path w="251492" h="603581">
                    <a:moveTo>
                      <a:pt x="0" y="603581"/>
                    </a:moveTo>
                    <a:lnTo>
                      <a:pt x="50298" y="603581"/>
                    </a:lnTo>
                    <a:lnTo>
                      <a:pt x="251492" y="301790"/>
                    </a:lnTo>
                    <a:lnTo>
                      <a:pt x="50298" y="0"/>
                    </a:lnTo>
                    <a:lnTo>
                      <a:pt x="0" y="0"/>
                    </a:lnTo>
                  </a:path>
                </a:pathLst>
              </a:custGeom>
              <a:noFill/>
              <a:ln w="12574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 defTabSz="457200"/>
                <a:endParaRPr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sp>
          <p:nvSpPr>
            <p:cNvPr id="32" name="Rounded Rectangle 31"/>
            <p:cNvSpPr/>
            <p:nvPr/>
          </p:nvSpPr>
          <p:spPr>
            <a:xfrm>
              <a:off x="4643088" y="3561805"/>
              <a:ext cx="11023" cy="11023"/>
            </a:xfrm>
            <a:custGeom>
              <a:avLst/>
              <a:gdLst/>
              <a:ahLst/>
              <a:cxnLst/>
              <a:rect l="0" t="0" r="0" b="0"/>
              <a:pathLst>
                <a:path w="11023" h="11023">
                  <a:moveTo>
                    <a:pt x="0" y="0"/>
                  </a:moveTo>
                  <a:lnTo>
                    <a:pt x="11023" y="0"/>
                  </a:lnTo>
                  <a:lnTo>
                    <a:pt x="11023" y="11023"/>
                  </a:lnTo>
                  <a:lnTo>
                    <a:pt x="0" y="11023"/>
                  </a:lnTo>
                  <a:lnTo>
                    <a:pt x="0" y="0"/>
                  </a:lnTo>
                </a:path>
              </a:pathLst>
            </a:custGeom>
            <a:gradFill rotWithShape="1">
              <a:gsLst>
                <a:gs pos="0">
                  <a:srgbClr val="9CC2FF"/>
                </a:gs>
                <a:gs pos="100000">
                  <a:srgbClr val="4F92FF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4452918" y="3265531"/>
              <a:ext cx="201193" cy="603581"/>
            </a:xfrm>
            <a:custGeom>
              <a:avLst/>
              <a:gdLst/>
              <a:ahLst/>
              <a:cxnLst/>
              <a:rect l="0" t="0" r="0" b="0"/>
              <a:pathLst>
                <a:path w="201193" h="603581">
                  <a:moveTo>
                    <a:pt x="0" y="0"/>
                  </a:moveTo>
                  <a:lnTo>
                    <a:pt x="201193" y="301790"/>
                  </a:lnTo>
                  <a:lnTo>
                    <a:pt x="0" y="603581"/>
                  </a:lnTo>
                </a:path>
              </a:pathLst>
            </a:custGeom>
            <a:noFill/>
            <a:ln w="12574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6456472" y="3164934"/>
              <a:ext cx="1282610" cy="804775"/>
            </a:xfrm>
            <a:custGeom>
              <a:avLst/>
              <a:gdLst/>
              <a:ahLst/>
              <a:cxnLst/>
              <a:rect l="0" t="0" r="0" b="0"/>
              <a:pathLst>
                <a:path w="1282610" h="804775">
                  <a:moveTo>
                    <a:pt x="50298" y="100596"/>
                  </a:moveTo>
                  <a:lnTo>
                    <a:pt x="0" y="0"/>
                  </a:lnTo>
                  <a:lnTo>
                    <a:pt x="1014352" y="0"/>
                  </a:lnTo>
                  <a:lnTo>
                    <a:pt x="1282610" y="402387"/>
                  </a:lnTo>
                  <a:lnTo>
                    <a:pt x="1014352" y="804775"/>
                  </a:lnTo>
                  <a:lnTo>
                    <a:pt x="0" y="804775"/>
                  </a:lnTo>
                  <a:lnTo>
                    <a:pt x="50298" y="704178"/>
                  </a:lnTo>
                  <a:lnTo>
                    <a:pt x="947287" y="704178"/>
                  </a:lnTo>
                  <a:lnTo>
                    <a:pt x="1148481" y="402387"/>
                  </a:lnTo>
                  <a:lnTo>
                    <a:pt x="947287" y="100596"/>
                  </a:lnTo>
                  <a:lnTo>
                    <a:pt x="50298" y="100596"/>
                  </a:lnTo>
                </a:path>
              </a:pathLst>
            </a:custGeom>
            <a:gradFill rotWithShape="1">
              <a:gsLst>
                <a:gs pos="0">
                  <a:srgbClr val="83FAC1"/>
                </a:gs>
                <a:gs pos="100000">
                  <a:srgbClr val="44E095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6456472" y="3164934"/>
              <a:ext cx="1282610" cy="804775"/>
            </a:xfrm>
            <a:custGeom>
              <a:avLst/>
              <a:gdLst/>
              <a:ahLst/>
              <a:cxnLst/>
              <a:rect l="0" t="0" r="0" b="0"/>
              <a:pathLst>
                <a:path w="1282610" h="804775">
                  <a:moveTo>
                    <a:pt x="50298" y="100596"/>
                  </a:moveTo>
                  <a:lnTo>
                    <a:pt x="0" y="0"/>
                  </a:lnTo>
                  <a:lnTo>
                    <a:pt x="1014352" y="0"/>
                  </a:lnTo>
                  <a:lnTo>
                    <a:pt x="1282610" y="402387"/>
                  </a:lnTo>
                  <a:lnTo>
                    <a:pt x="1014352" y="804775"/>
                  </a:lnTo>
                  <a:lnTo>
                    <a:pt x="0" y="804775"/>
                  </a:lnTo>
                  <a:lnTo>
                    <a:pt x="50298" y="704178"/>
                  </a:lnTo>
                </a:path>
              </a:pathLst>
            </a:custGeom>
            <a:noFill/>
            <a:ln w="12574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grpSp>
          <p:nvGrpSpPr>
            <p:cNvPr id="39" name="Group 38"/>
            <p:cNvGrpSpPr/>
            <p:nvPr/>
          </p:nvGrpSpPr>
          <p:grpSpPr>
            <a:xfrm>
              <a:off x="5995403" y="3265531"/>
              <a:ext cx="1609550" cy="603581"/>
              <a:chOff x="3420294" y="2825096"/>
              <a:chExt cx="1609550" cy="603581"/>
            </a:xfrm>
          </p:grpSpPr>
          <p:sp>
            <p:nvSpPr>
              <p:cNvPr id="36" name="Rounded Rectangle 35"/>
              <p:cNvSpPr/>
              <p:nvPr/>
            </p:nvSpPr>
            <p:spPr>
              <a:xfrm>
                <a:off x="3621488" y="2825096"/>
                <a:ext cx="1207162" cy="603581"/>
              </a:xfrm>
              <a:custGeom>
                <a:avLst/>
                <a:gdLst/>
                <a:ahLst/>
                <a:cxnLst/>
                <a:rect l="0" t="0" r="0" b="0"/>
                <a:pathLst>
                  <a:path w="1207162" h="603581">
                    <a:moveTo>
                      <a:pt x="0" y="0"/>
                    </a:moveTo>
                    <a:lnTo>
                      <a:pt x="1207162" y="0"/>
                    </a:lnTo>
                    <a:lnTo>
                      <a:pt x="1207162" y="603581"/>
                    </a:lnTo>
                    <a:lnTo>
                      <a:pt x="0" y="603581"/>
                    </a:lnTo>
                    <a:lnTo>
                      <a:pt x="0" y="0"/>
                    </a:lnTo>
                  </a:path>
                </a:pathLst>
              </a:custGeom>
              <a:gradFill rotWithShape="1">
                <a:gsLst>
                  <a:gs pos="0">
                    <a:srgbClr val="D9D9D9"/>
                  </a:gs>
                  <a:gs pos="100000">
                    <a:srgbClr val="BCBCBC"/>
                  </a:gs>
                </a:gsLst>
                <a:lin ang="5400000" scaled="1"/>
              </a:gradFill>
              <a:ln>
                <a:noFill/>
              </a:ln>
            </p:spPr>
            <p:txBody>
              <a:bodyPr rtlCol="0" anchor="ctr"/>
              <a:lstStyle/>
              <a:p>
                <a:pPr algn="ctr" defTabSz="457200"/>
                <a:endParaRPr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37" name="Rounded Rectangle 36"/>
              <p:cNvSpPr/>
              <p:nvPr/>
            </p:nvSpPr>
            <p:spPr>
              <a:xfrm>
                <a:off x="3420294" y="2825096"/>
                <a:ext cx="201193" cy="603581"/>
              </a:xfrm>
              <a:custGeom>
                <a:avLst/>
                <a:gdLst/>
                <a:ahLst/>
                <a:cxnLst/>
                <a:rect l="0" t="0" r="0" b="0"/>
                <a:pathLst>
                  <a:path w="201193" h="603581">
                    <a:moveTo>
                      <a:pt x="0" y="0"/>
                    </a:moveTo>
                    <a:lnTo>
                      <a:pt x="201193" y="301790"/>
                    </a:lnTo>
                    <a:lnTo>
                      <a:pt x="0" y="603581"/>
                    </a:lnTo>
                    <a:lnTo>
                      <a:pt x="201193" y="603581"/>
                    </a:lnTo>
                    <a:lnTo>
                      <a:pt x="201193" y="0"/>
                    </a:lnTo>
                    <a:lnTo>
                      <a:pt x="0" y="0"/>
                    </a:lnTo>
                  </a:path>
                </a:pathLst>
              </a:custGeom>
              <a:gradFill rotWithShape="1">
                <a:gsLst>
                  <a:gs pos="0">
                    <a:srgbClr val="D9D9D9"/>
                  </a:gs>
                  <a:gs pos="100000">
                    <a:srgbClr val="BCBCBC"/>
                  </a:gs>
                </a:gsLst>
                <a:lin ang="5400000" scaled="1"/>
              </a:gradFill>
              <a:ln>
                <a:noFill/>
              </a:ln>
            </p:spPr>
            <p:txBody>
              <a:bodyPr rtlCol="0" anchor="ctr"/>
              <a:lstStyle/>
              <a:p>
                <a:pPr algn="ctr" defTabSz="457200"/>
                <a:endParaRPr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38" name="Rounded Rectangle 37"/>
              <p:cNvSpPr/>
              <p:nvPr/>
            </p:nvSpPr>
            <p:spPr>
              <a:xfrm>
                <a:off x="4828651" y="2825096"/>
                <a:ext cx="201193" cy="603581"/>
              </a:xfrm>
              <a:custGeom>
                <a:avLst/>
                <a:gdLst/>
                <a:ahLst/>
                <a:cxnLst/>
                <a:rect l="0" t="0" r="0" b="0"/>
                <a:pathLst>
                  <a:path w="201193" h="603581">
                    <a:moveTo>
                      <a:pt x="0" y="0"/>
                    </a:moveTo>
                    <a:lnTo>
                      <a:pt x="201193" y="301790"/>
                    </a:lnTo>
                    <a:lnTo>
                      <a:pt x="0" y="603581"/>
                    </a:lnTo>
                    <a:lnTo>
                      <a:pt x="0" y="0"/>
                    </a:lnTo>
                  </a:path>
                </a:pathLst>
              </a:custGeom>
              <a:gradFill rotWithShape="1">
                <a:gsLst>
                  <a:gs pos="0">
                    <a:srgbClr val="D9D9D9"/>
                  </a:gs>
                  <a:gs pos="100000">
                    <a:srgbClr val="BCBCBC"/>
                  </a:gs>
                </a:gsLst>
                <a:lin ang="5400000" scaled="1"/>
              </a:gradFill>
              <a:ln>
                <a:noFill/>
              </a:ln>
            </p:spPr>
            <p:txBody>
              <a:bodyPr rtlCol="0" anchor="ctr"/>
              <a:lstStyle/>
              <a:p>
                <a:pPr algn="ctr" defTabSz="457200"/>
                <a:endParaRPr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grpSp>
          <p:nvGrpSpPr>
            <p:cNvPr id="43" name="Group 42"/>
            <p:cNvGrpSpPr/>
            <p:nvPr/>
          </p:nvGrpSpPr>
          <p:grpSpPr>
            <a:xfrm>
              <a:off x="5995403" y="3265531"/>
              <a:ext cx="1609550" cy="603581"/>
              <a:chOff x="3420294" y="2825096"/>
              <a:chExt cx="1609550" cy="603581"/>
            </a:xfrm>
          </p:grpSpPr>
          <p:sp>
            <p:nvSpPr>
              <p:cNvPr id="40" name="Rounded Rectangle 39"/>
              <p:cNvSpPr/>
              <p:nvPr/>
            </p:nvSpPr>
            <p:spPr>
              <a:xfrm>
                <a:off x="3621488" y="2825096"/>
                <a:ext cx="1207162" cy="603581"/>
              </a:xfrm>
              <a:custGeom>
                <a:avLst/>
                <a:gdLst/>
                <a:ahLst/>
                <a:cxnLst/>
                <a:rect l="0" t="0" r="0" b="0"/>
                <a:pathLst>
                  <a:path w="1207162" h="603581">
                    <a:moveTo>
                      <a:pt x="0" y="0"/>
                    </a:moveTo>
                    <a:lnTo>
                      <a:pt x="1207162" y="0"/>
                    </a:lnTo>
                    <a:moveTo>
                      <a:pt x="1207162" y="603581"/>
                    </a:moveTo>
                    <a:lnTo>
                      <a:pt x="0" y="603581"/>
                    </a:lnTo>
                  </a:path>
                </a:pathLst>
              </a:custGeom>
              <a:noFill/>
              <a:ln w="12574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 defTabSz="457200"/>
                <a:endParaRPr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41" name="Rounded Rectangle 40"/>
              <p:cNvSpPr/>
              <p:nvPr/>
            </p:nvSpPr>
            <p:spPr>
              <a:xfrm>
                <a:off x="3420294" y="2825096"/>
                <a:ext cx="201193" cy="603581"/>
              </a:xfrm>
              <a:custGeom>
                <a:avLst/>
                <a:gdLst/>
                <a:ahLst/>
                <a:cxnLst/>
                <a:rect l="0" t="0" r="0" b="0"/>
                <a:pathLst>
                  <a:path w="201193" h="603581">
                    <a:moveTo>
                      <a:pt x="0" y="0"/>
                    </a:moveTo>
                    <a:lnTo>
                      <a:pt x="201193" y="0"/>
                    </a:lnTo>
                    <a:moveTo>
                      <a:pt x="0" y="603581"/>
                    </a:moveTo>
                    <a:lnTo>
                      <a:pt x="201193" y="603581"/>
                    </a:lnTo>
                  </a:path>
                </a:pathLst>
              </a:custGeom>
              <a:noFill/>
              <a:ln w="12574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 defTabSz="457200"/>
                <a:endParaRPr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42" name="Rounded Rectangle 41"/>
              <p:cNvSpPr/>
              <p:nvPr/>
            </p:nvSpPr>
            <p:spPr>
              <a:xfrm>
                <a:off x="4778352" y="2825096"/>
                <a:ext cx="251492" cy="603581"/>
              </a:xfrm>
              <a:custGeom>
                <a:avLst/>
                <a:gdLst/>
                <a:ahLst/>
                <a:cxnLst/>
                <a:rect l="0" t="0" r="0" b="0"/>
                <a:pathLst>
                  <a:path w="251492" h="603581">
                    <a:moveTo>
                      <a:pt x="0" y="603581"/>
                    </a:moveTo>
                    <a:lnTo>
                      <a:pt x="50298" y="603581"/>
                    </a:lnTo>
                    <a:lnTo>
                      <a:pt x="251492" y="301790"/>
                    </a:lnTo>
                    <a:lnTo>
                      <a:pt x="50298" y="0"/>
                    </a:lnTo>
                    <a:lnTo>
                      <a:pt x="0" y="0"/>
                    </a:lnTo>
                  </a:path>
                </a:pathLst>
              </a:custGeom>
              <a:noFill/>
              <a:ln w="12574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 defTabSz="457200"/>
                <a:endParaRPr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sp>
          <p:nvSpPr>
            <p:cNvPr id="44" name="Rounded Rectangle 43"/>
            <p:cNvSpPr/>
            <p:nvPr/>
          </p:nvSpPr>
          <p:spPr>
            <a:xfrm>
              <a:off x="6185574" y="3561805"/>
              <a:ext cx="11023" cy="11023"/>
            </a:xfrm>
            <a:custGeom>
              <a:avLst/>
              <a:gdLst/>
              <a:ahLst/>
              <a:cxnLst/>
              <a:rect l="0" t="0" r="0" b="0"/>
              <a:pathLst>
                <a:path w="11023" h="11023">
                  <a:moveTo>
                    <a:pt x="0" y="0"/>
                  </a:moveTo>
                  <a:lnTo>
                    <a:pt x="11023" y="0"/>
                  </a:lnTo>
                  <a:lnTo>
                    <a:pt x="11023" y="11023"/>
                  </a:lnTo>
                  <a:lnTo>
                    <a:pt x="0" y="11023"/>
                  </a:lnTo>
                  <a:lnTo>
                    <a:pt x="0" y="0"/>
                  </a:lnTo>
                </a:path>
              </a:pathLst>
            </a:custGeom>
            <a:gradFill rotWithShape="1">
              <a:gsLst>
                <a:gs pos="0">
                  <a:srgbClr val="7FDFFF"/>
                </a:gs>
                <a:gs pos="100000">
                  <a:srgbClr val="1AC6FF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5995404" y="3265531"/>
              <a:ext cx="201193" cy="603581"/>
            </a:xfrm>
            <a:custGeom>
              <a:avLst/>
              <a:gdLst/>
              <a:ahLst/>
              <a:cxnLst/>
              <a:rect l="0" t="0" r="0" b="0"/>
              <a:pathLst>
                <a:path w="201193" h="603581">
                  <a:moveTo>
                    <a:pt x="0" y="0"/>
                  </a:moveTo>
                  <a:lnTo>
                    <a:pt x="201193" y="301790"/>
                  </a:lnTo>
                  <a:lnTo>
                    <a:pt x="0" y="603581"/>
                  </a:lnTo>
                </a:path>
              </a:pathLst>
            </a:custGeom>
            <a:noFill/>
            <a:ln w="12574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6" name="Rounded Rectangle 45"/>
            <p:cNvSpPr/>
            <p:nvPr/>
          </p:nvSpPr>
          <p:spPr>
            <a:xfrm>
              <a:off x="7998958" y="3164934"/>
              <a:ext cx="1282610" cy="804775"/>
            </a:xfrm>
            <a:custGeom>
              <a:avLst/>
              <a:gdLst/>
              <a:ahLst/>
              <a:cxnLst/>
              <a:rect l="0" t="0" r="0" b="0"/>
              <a:pathLst>
                <a:path w="1282610" h="804775">
                  <a:moveTo>
                    <a:pt x="50298" y="100596"/>
                  </a:moveTo>
                  <a:lnTo>
                    <a:pt x="0" y="0"/>
                  </a:lnTo>
                  <a:lnTo>
                    <a:pt x="1014352" y="0"/>
                  </a:lnTo>
                  <a:lnTo>
                    <a:pt x="1282610" y="402387"/>
                  </a:lnTo>
                  <a:lnTo>
                    <a:pt x="1014352" y="804775"/>
                  </a:lnTo>
                  <a:lnTo>
                    <a:pt x="0" y="804775"/>
                  </a:lnTo>
                  <a:lnTo>
                    <a:pt x="50298" y="704178"/>
                  </a:lnTo>
                  <a:lnTo>
                    <a:pt x="947287" y="704178"/>
                  </a:lnTo>
                  <a:lnTo>
                    <a:pt x="1148481" y="402387"/>
                  </a:lnTo>
                  <a:lnTo>
                    <a:pt x="947287" y="100596"/>
                  </a:lnTo>
                  <a:lnTo>
                    <a:pt x="50298" y="100596"/>
                  </a:lnTo>
                </a:path>
              </a:pathLst>
            </a:custGeom>
            <a:gradFill rotWithShape="1">
              <a:gsLst>
                <a:gs pos="0">
                  <a:srgbClr val="CFF976"/>
                </a:gs>
                <a:gs pos="100000">
                  <a:srgbClr val="A8DD38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7998958" y="3164934"/>
              <a:ext cx="1282610" cy="804775"/>
            </a:xfrm>
            <a:custGeom>
              <a:avLst/>
              <a:gdLst/>
              <a:ahLst/>
              <a:cxnLst/>
              <a:rect l="0" t="0" r="0" b="0"/>
              <a:pathLst>
                <a:path w="1282610" h="804775">
                  <a:moveTo>
                    <a:pt x="50298" y="100596"/>
                  </a:moveTo>
                  <a:lnTo>
                    <a:pt x="0" y="0"/>
                  </a:lnTo>
                  <a:lnTo>
                    <a:pt x="1014352" y="0"/>
                  </a:lnTo>
                  <a:lnTo>
                    <a:pt x="1282610" y="402387"/>
                  </a:lnTo>
                  <a:lnTo>
                    <a:pt x="1014352" y="804775"/>
                  </a:lnTo>
                  <a:lnTo>
                    <a:pt x="0" y="804775"/>
                  </a:lnTo>
                  <a:lnTo>
                    <a:pt x="50298" y="704178"/>
                  </a:lnTo>
                </a:path>
              </a:pathLst>
            </a:custGeom>
            <a:noFill/>
            <a:ln w="12574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grpSp>
          <p:nvGrpSpPr>
            <p:cNvPr id="51" name="Group 50"/>
            <p:cNvGrpSpPr/>
            <p:nvPr/>
          </p:nvGrpSpPr>
          <p:grpSpPr>
            <a:xfrm>
              <a:off x="7537890" y="3265531"/>
              <a:ext cx="1609549" cy="603581"/>
              <a:chOff x="4962780" y="2825096"/>
              <a:chExt cx="1609549" cy="603581"/>
            </a:xfrm>
          </p:grpSpPr>
          <p:sp>
            <p:nvSpPr>
              <p:cNvPr id="48" name="Rounded Rectangle 47"/>
              <p:cNvSpPr/>
              <p:nvPr/>
            </p:nvSpPr>
            <p:spPr>
              <a:xfrm>
                <a:off x="5163974" y="2825096"/>
                <a:ext cx="1207162" cy="603581"/>
              </a:xfrm>
              <a:custGeom>
                <a:avLst/>
                <a:gdLst/>
                <a:ahLst/>
                <a:cxnLst/>
                <a:rect l="0" t="0" r="0" b="0"/>
                <a:pathLst>
                  <a:path w="1207162" h="603581">
                    <a:moveTo>
                      <a:pt x="0" y="0"/>
                    </a:moveTo>
                    <a:lnTo>
                      <a:pt x="1207162" y="0"/>
                    </a:lnTo>
                    <a:lnTo>
                      <a:pt x="1207162" y="603581"/>
                    </a:lnTo>
                    <a:lnTo>
                      <a:pt x="0" y="603581"/>
                    </a:lnTo>
                    <a:lnTo>
                      <a:pt x="0" y="0"/>
                    </a:lnTo>
                  </a:path>
                </a:pathLst>
              </a:custGeom>
              <a:gradFill rotWithShape="1">
                <a:gsLst>
                  <a:gs pos="0">
                    <a:srgbClr val="D9D9D9"/>
                  </a:gs>
                  <a:gs pos="100000">
                    <a:srgbClr val="BCBCBC"/>
                  </a:gs>
                </a:gsLst>
                <a:lin ang="5400000" scaled="1"/>
              </a:gradFill>
              <a:ln>
                <a:noFill/>
              </a:ln>
            </p:spPr>
            <p:txBody>
              <a:bodyPr rtlCol="0" anchor="ctr"/>
              <a:lstStyle/>
              <a:p>
                <a:pPr algn="ctr" defTabSz="457200"/>
                <a:endParaRPr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49" name="Rounded Rectangle 48"/>
              <p:cNvSpPr/>
              <p:nvPr/>
            </p:nvSpPr>
            <p:spPr>
              <a:xfrm>
                <a:off x="4962780" y="2825096"/>
                <a:ext cx="201193" cy="603581"/>
              </a:xfrm>
              <a:custGeom>
                <a:avLst/>
                <a:gdLst/>
                <a:ahLst/>
                <a:cxnLst/>
                <a:rect l="0" t="0" r="0" b="0"/>
                <a:pathLst>
                  <a:path w="201193" h="603581">
                    <a:moveTo>
                      <a:pt x="0" y="0"/>
                    </a:moveTo>
                    <a:lnTo>
                      <a:pt x="201193" y="301790"/>
                    </a:lnTo>
                    <a:lnTo>
                      <a:pt x="0" y="603581"/>
                    </a:lnTo>
                    <a:lnTo>
                      <a:pt x="201193" y="603581"/>
                    </a:lnTo>
                    <a:lnTo>
                      <a:pt x="201193" y="0"/>
                    </a:lnTo>
                    <a:lnTo>
                      <a:pt x="0" y="0"/>
                    </a:lnTo>
                  </a:path>
                </a:pathLst>
              </a:custGeom>
              <a:gradFill rotWithShape="1">
                <a:gsLst>
                  <a:gs pos="0">
                    <a:srgbClr val="D9D9D9"/>
                  </a:gs>
                  <a:gs pos="100000">
                    <a:srgbClr val="BCBCBC"/>
                  </a:gs>
                </a:gsLst>
                <a:lin ang="5400000" scaled="1"/>
              </a:gradFill>
              <a:ln>
                <a:noFill/>
              </a:ln>
            </p:spPr>
            <p:txBody>
              <a:bodyPr rtlCol="0" anchor="ctr"/>
              <a:lstStyle/>
              <a:p>
                <a:pPr algn="ctr" defTabSz="457200"/>
                <a:endParaRPr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50" name="Rounded Rectangle 49"/>
              <p:cNvSpPr/>
              <p:nvPr/>
            </p:nvSpPr>
            <p:spPr>
              <a:xfrm>
                <a:off x="6371136" y="2825096"/>
                <a:ext cx="201193" cy="603581"/>
              </a:xfrm>
              <a:custGeom>
                <a:avLst/>
                <a:gdLst/>
                <a:ahLst/>
                <a:cxnLst/>
                <a:rect l="0" t="0" r="0" b="0"/>
                <a:pathLst>
                  <a:path w="201193" h="603581">
                    <a:moveTo>
                      <a:pt x="0" y="0"/>
                    </a:moveTo>
                    <a:lnTo>
                      <a:pt x="201193" y="301790"/>
                    </a:lnTo>
                    <a:lnTo>
                      <a:pt x="0" y="603581"/>
                    </a:lnTo>
                    <a:lnTo>
                      <a:pt x="0" y="0"/>
                    </a:lnTo>
                  </a:path>
                </a:pathLst>
              </a:custGeom>
              <a:gradFill rotWithShape="1">
                <a:gsLst>
                  <a:gs pos="0">
                    <a:srgbClr val="D9D9D9"/>
                  </a:gs>
                  <a:gs pos="100000">
                    <a:srgbClr val="BCBCBC"/>
                  </a:gs>
                </a:gsLst>
                <a:lin ang="5400000" scaled="1"/>
              </a:gradFill>
              <a:ln>
                <a:noFill/>
              </a:ln>
            </p:spPr>
            <p:txBody>
              <a:bodyPr rtlCol="0" anchor="ctr"/>
              <a:lstStyle/>
              <a:p>
                <a:pPr algn="ctr" defTabSz="457200"/>
                <a:endParaRPr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grpSp>
          <p:nvGrpSpPr>
            <p:cNvPr id="55" name="Group 54"/>
            <p:cNvGrpSpPr/>
            <p:nvPr/>
          </p:nvGrpSpPr>
          <p:grpSpPr>
            <a:xfrm>
              <a:off x="7537889" y="3265531"/>
              <a:ext cx="1609550" cy="603581"/>
              <a:chOff x="4962780" y="2825096"/>
              <a:chExt cx="1609550" cy="603581"/>
            </a:xfrm>
          </p:grpSpPr>
          <p:sp>
            <p:nvSpPr>
              <p:cNvPr id="52" name="Rounded Rectangle 51"/>
              <p:cNvSpPr/>
              <p:nvPr/>
            </p:nvSpPr>
            <p:spPr>
              <a:xfrm>
                <a:off x="5163974" y="2825096"/>
                <a:ext cx="1207162" cy="603581"/>
              </a:xfrm>
              <a:custGeom>
                <a:avLst/>
                <a:gdLst/>
                <a:ahLst/>
                <a:cxnLst/>
                <a:rect l="0" t="0" r="0" b="0"/>
                <a:pathLst>
                  <a:path w="1207162" h="603581">
                    <a:moveTo>
                      <a:pt x="0" y="0"/>
                    </a:moveTo>
                    <a:lnTo>
                      <a:pt x="1207162" y="0"/>
                    </a:lnTo>
                    <a:moveTo>
                      <a:pt x="1207162" y="603581"/>
                    </a:moveTo>
                    <a:lnTo>
                      <a:pt x="0" y="603581"/>
                    </a:lnTo>
                  </a:path>
                </a:pathLst>
              </a:custGeom>
              <a:noFill/>
              <a:ln w="12574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 defTabSz="457200"/>
                <a:endParaRPr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53" name="Rounded Rectangle 52"/>
              <p:cNvSpPr/>
              <p:nvPr/>
            </p:nvSpPr>
            <p:spPr>
              <a:xfrm>
                <a:off x="4962780" y="2825096"/>
                <a:ext cx="201193" cy="603581"/>
              </a:xfrm>
              <a:custGeom>
                <a:avLst/>
                <a:gdLst/>
                <a:ahLst/>
                <a:cxnLst/>
                <a:rect l="0" t="0" r="0" b="0"/>
                <a:pathLst>
                  <a:path w="201193" h="603581">
                    <a:moveTo>
                      <a:pt x="0" y="0"/>
                    </a:moveTo>
                    <a:lnTo>
                      <a:pt x="201193" y="0"/>
                    </a:lnTo>
                    <a:moveTo>
                      <a:pt x="0" y="603581"/>
                    </a:moveTo>
                    <a:lnTo>
                      <a:pt x="201193" y="603581"/>
                    </a:lnTo>
                  </a:path>
                </a:pathLst>
              </a:custGeom>
              <a:noFill/>
              <a:ln w="12574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 defTabSz="457200"/>
                <a:endParaRPr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54" name="Rounded Rectangle 53"/>
              <p:cNvSpPr/>
              <p:nvPr/>
            </p:nvSpPr>
            <p:spPr>
              <a:xfrm>
                <a:off x="6320838" y="2825096"/>
                <a:ext cx="251492" cy="603581"/>
              </a:xfrm>
              <a:custGeom>
                <a:avLst/>
                <a:gdLst/>
                <a:ahLst/>
                <a:cxnLst/>
                <a:rect l="0" t="0" r="0" b="0"/>
                <a:pathLst>
                  <a:path w="251492" h="603581">
                    <a:moveTo>
                      <a:pt x="0" y="603581"/>
                    </a:moveTo>
                    <a:lnTo>
                      <a:pt x="50298" y="603581"/>
                    </a:lnTo>
                    <a:lnTo>
                      <a:pt x="251492" y="301790"/>
                    </a:lnTo>
                    <a:lnTo>
                      <a:pt x="50298" y="0"/>
                    </a:lnTo>
                    <a:lnTo>
                      <a:pt x="0" y="0"/>
                    </a:lnTo>
                  </a:path>
                </a:pathLst>
              </a:custGeom>
              <a:noFill/>
              <a:ln w="12574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 defTabSz="457200"/>
                <a:endParaRPr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sp>
          <p:nvSpPr>
            <p:cNvPr id="56" name="Rounded Rectangle 55"/>
            <p:cNvSpPr/>
            <p:nvPr/>
          </p:nvSpPr>
          <p:spPr>
            <a:xfrm>
              <a:off x="7728060" y="3561805"/>
              <a:ext cx="11023" cy="11023"/>
            </a:xfrm>
            <a:custGeom>
              <a:avLst/>
              <a:gdLst/>
              <a:ahLst/>
              <a:cxnLst/>
              <a:rect l="0" t="0" r="0" b="0"/>
              <a:pathLst>
                <a:path w="11023" h="11023">
                  <a:moveTo>
                    <a:pt x="0" y="0"/>
                  </a:moveTo>
                  <a:lnTo>
                    <a:pt x="11023" y="0"/>
                  </a:lnTo>
                  <a:lnTo>
                    <a:pt x="11023" y="11023"/>
                  </a:lnTo>
                  <a:lnTo>
                    <a:pt x="0" y="11023"/>
                  </a:lnTo>
                  <a:lnTo>
                    <a:pt x="0" y="0"/>
                  </a:lnTo>
                </a:path>
              </a:pathLst>
            </a:custGeom>
            <a:gradFill rotWithShape="1">
              <a:gsLst>
                <a:gs pos="0">
                  <a:srgbClr val="83FAC1"/>
                </a:gs>
                <a:gs pos="100000">
                  <a:srgbClr val="44E095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7" name="Rounded Rectangle 56"/>
            <p:cNvSpPr/>
            <p:nvPr/>
          </p:nvSpPr>
          <p:spPr>
            <a:xfrm>
              <a:off x="7537890" y="3265531"/>
              <a:ext cx="201193" cy="603581"/>
            </a:xfrm>
            <a:custGeom>
              <a:avLst/>
              <a:gdLst/>
              <a:ahLst/>
              <a:cxnLst/>
              <a:rect l="0" t="0" r="0" b="0"/>
              <a:pathLst>
                <a:path w="201193" h="603581">
                  <a:moveTo>
                    <a:pt x="0" y="0"/>
                  </a:moveTo>
                  <a:lnTo>
                    <a:pt x="201193" y="301790"/>
                  </a:lnTo>
                  <a:lnTo>
                    <a:pt x="0" y="603581"/>
                  </a:lnTo>
                </a:path>
              </a:pathLst>
            </a:custGeom>
            <a:noFill/>
            <a:ln w="12574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8" name="Rounded Rectangle 57"/>
            <p:cNvSpPr/>
            <p:nvPr/>
          </p:nvSpPr>
          <p:spPr>
            <a:xfrm>
              <a:off x="3882868" y="3969709"/>
              <a:ext cx="8383" cy="544899"/>
            </a:xfrm>
            <a:custGeom>
              <a:avLst/>
              <a:gdLst/>
              <a:ahLst/>
              <a:cxnLst/>
              <a:rect l="0" t="0" r="0" b="0"/>
              <a:pathLst>
                <a:path w="8383" h="544899">
                  <a:moveTo>
                    <a:pt x="0" y="544899"/>
                  </a:moveTo>
                  <a:lnTo>
                    <a:pt x="0" y="0"/>
                  </a:lnTo>
                </a:path>
              </a:pathLst>
            </a:custGeom>
            <a:noFill/>
            <a:ln w="12574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9" name="Rounded Rectangle 58"/>
            <p:cNvSpPr/>
            <p:nvPr/>
          </p:nvSpPr>
          <p:spPr>
            <a:xfrm>
              <a:off x="3857719" y="4514608"/>
              <a:ext cx="50298" cy="50298"/>
            </a:xfrm>
            <a:custGeom>
              <a:avLst/>
              <a:gdLst/>
              <a:ahLst/>
              <a:cxnLst/>
              <a:rect l="0" t="0" r="0" b="0"/>
              <a:pathLst>
                <a:path w="50298" h="50298">
                  <a:moveTo>
                    <a:pt x="0" y="25149"/>
                  </a:moveTo>
                  <a:cubicBezTo>
                    <a:pt x="0" y="39029"/>
                    <a:pt x="11269" y="50298"/>
                    <a:pt x="25149" y="50298"/>
                  </a:cubicBezTo>
                  <a:cubicBezTo>
                    <a:pt x="39029" y="50298"/>
                    <a:pt x="50298" y="39029"/>
                    <a:pt x="50298" y="25149"/>
                  </a:cubicBezTo>
                  <a:cubicBezTo>
                    <a:pt x="50298" y="11269"/>
                    <a:pt x="39029" y="0"/>
                    <a:pt x="25149" y="0"/>
                  </a:cubicBezTo>
                  <a:cubicBezTo>
                    <a:pt x="11269" y="0"/>
                    <a:pt x="0" y="11269"/>
                    <a:pt x="0" y="25149"/>
                  </a:cubicBezTo>
                  <a:close/>
                </a:path>
              </a:pathLst>
            </a:custGeom>
            <a:noFill/>
            <a:ln w="12574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0" name="Rounded Rectangle 59"/>
            <p:cNvSpPr/>
            <p:nvPr/>
          </p:nvSpPr>
          <p:spPr>
            <a:xfrm>
              <a:off x="5424013" y="3969709"/>
              <a:ext cx="8383" cy="603581"/>
            </a:xfrm>
            <a:custGeom>
              <a:avLst/>
              <a:gdLst/>
              <a:ahLst/>
              <a:cxnLst/>
              <a:rect l="0" t="0" r="0" b="0"/>
              <a:pathLst>
                <a:path w="8383" h="603581">
                  <a:moveTo>
                    <a:pt x="0" y="603581"/>
                  </a:moveTo>
                  <a:lnTo>
                    <a:pt x="0" y="0"/>
                  </a:lnTo>
                </a:path>
              </a:pathLst>
            </a:custGeom>
            <a:noFill/>
            <a:ln w="12574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1" name="Rounded Rectangle 60"/>
            <p:cNvSpPr/>
            <p:nvPr/>
          </p:nvSpPr>
          <p:spPr>
            <a:xfrm>
              <a:off x="5122222" y="4573290"/>
              <a:ext cx="603581" cy="603581"/>
            </a:xfrm>
            <a:custGeom>
              <a:avLst/>
              <a:gdLst/>
              <a:ahLst/>
              <a:cxnLst/>
              <a:rect l="0" t="0" r="0" b="0"/>
              <a:pathLst>
                <a:path w="603581" h="603581">
                  <a:moveTo>
                    <a:pt x="0" y="301790"/>
                  </a:moveTo>
                  <a:cubicBezTo>
                    <a:pt x="0" y="468462"/>
                    <a:pt x="135118" y="603581"/>
                    <a:pt x="301790" y="603581"/>
                  </a:cubicBezTo>
                  <a:cubicBezTo>
                    <a:pt x="468462" y="603581"/>
                    <a:pt x="603581" y="468462"/>
                    <a:pt x="603581" y="301790"/>
                  </a:cubicBezTo>
                  <a:cubicBezTo>
                    <a:pt x="603581" y="135118"/>
                    <a:pt x="468462" y="0"/>
                    <a:pt x="301790" y="0"/>
                  </a:cubicBezTo>
                  <a:cubicBezTo>
                    <a:pt x="135118" y="0"/>
                    <a:pt x="0" y="135118"/>
                    <a:pt x="0" y="301790"/>
                  </a:cubicBezTo>
                </a:path>
              </a:pathLst>
            </a:custGeom>
            <a:gradFill rotWithShape="1">
              <a:gsLst>
                <a:gs pos="0">
                  <a:srgbClr val="7FDFFF"/>
                </a:gs>
                <a:gs pos="100000">
                  <a:srgbClr val="1AC6FF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2" name="Rounded Rectangle 61"/>
            <p:cNvSpPr/>
            <p:nvPr/>
          </p:nvSpPr>
          <p:spPr>
            <a:xfrm>
              <a:off x="5122222" y="4573290"/>
              <a:ext cx="603581" cy="603581"/>
            </a:xfrm>
            <a:custGeom>
              <a:avLst/>
              <a:gdLst/>
              <a:ahLst/>
              <a:cxnLst/>
              <a:rect l="0" t="0" r="0" b="0"/>
              <a:pathLst>
                <a:path w="603581" h="603581">
                  <a:moveTo>
                    <a:pt x="0" y="301790"/>
                  </a:moveTo>
                  <a:cubicBezTo>
                    <a:pt x="0" y="468465"/>
                    <a:pt x="135116" y="603581"/>
                    <a:pt x="301790" y="603581"/>
                  </a:cubicBezTo>
                  <a:cubicBezTo>
                    <a:pt x="468465" y="603581"/>
                    <a:pt x="603581" y="468465"/>
                    <a:pt x="603581" y="301790"/>
                  </a:cubicBezTo>
                  <a:cubicBezTo>
                    <a:pt x="603581" y="135116"/>
                    <a:pt x="468465" y="0"/>
                    <a:pt x="301790" y="0"/>
                  </a:cubicBezTo>
                  <a:cubicBezTo>
                    <a:pt x="135116" y="0"/>
                    <a:pt x="0" y="135116"/>
                    <a:pt x="0" y="301790"/>
                  </a:cubicBezTo>
                </a:path>
              </a:pathLst>
            </a:custGeom>
            <a:noFill/>
            <a:ln w="12574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3" name="Rounded Rectangle 62"/>
            <p:cNvSpPr/>
            <p:nvPr/>
          </p:nvSpPr>
          <p:spPr>
            <a:xfrm>
              <a:off x="6965157" y="3969709"/>
              <a:ext cx="8383" cy="544899"/>
            </a:xfrm>
            <a:custGeom>
              <a:avLst/>
              <a:gdLst/>
              <a:ahLst/>
              <a:cxnLst/>
              <a:rect l="0" t="0" r="0" b="0"/>
              <a:pathLst>
                <a:path w="8383" h="544899">
                  <a:moveTo>
                    <a:pt x="0" y="544899"/>
                  </a:moveTo>
                  <a:lnTo>
                    <a:pt x="0" y="0"/>
                  </a:lnTo>
                </a:path>
              </a:pathLst>
            </a:custGeom>
            <a:noFill/>
            <a:ln w="12574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4" name="Rounded Rectangle 63"/>
            <p:cNvSpPr/>
            <p:nvPr/>
          </p:nvSpPr>
          <p:spPr>
            <a:xfrm>
              <a:off x="6940008" y="4514608"/>
              <a:ext cx="50298" cy="50298"/>
            </a:xfrm>
            <a:custGeom>
              <a:avLst/>
              <a:gdLst/>
              <a:ahLst/>
              <a:cxnLst/>
              <a:rect l="0" t="0" r="0" b="0"/>
              <a:pathLst>
                <a:path w="50298" h="50298">
                  <a:moveTo>
                    <a:pt x="0" y="25149"/>
                  </a:moveTo>
                  <a:cubicBezTo>
                    <a:pt x="0" y="39029"/>
                    <a:pt x="11269" y="50298"/>
                    <a:pt x="25149" y="50298"/>
                  </a:cubicBezTo>
                  <a:cubicBezTo>
                    <a:pt x="39029" y="50298"/>
                    <a:pt x="50298" y="39029"/>
                    <a:pt x="50298" y="25149"/>
                  </a:cubicBezTo>
                  <a:cubicBezTo>
                    <a:pt x="50298" y="11269"/>
                    <a:pt x="39029" y="0"/>
                    <a:pt x="25149" y="0"/>
                  </a:cubicBezTo>
                  <a:cubicBezTo>
                    <a:pt x="11269" y="0"/>
                    <a:pt x="0" y="11269"/>
                    <a:pt x="0" y="25149"/>
                  </a:cubicBezTo>
                  <a:close/>
                </a:path>
              </a:pathLst>
            </a:custGeom>
            <a:noFill/>
            <a:ln w="12574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5" name="Rounded Rectangle 64"/>
            <p:cNvSpPr/>
            <p:nvPr/>
          </p:nvSpPr>
          <p:spPr>
            <a:xfrm>
              <a:off x="8506301" y="3969709"/>
              <a:ext cx="8383" cy="603581"/>
            </a:xfrm>
            <a:custGeom>
              <a:avLst/>
              <a:gdLst/>
              <a:ahLst/>
              <a:cxnLst/>
              <a:rect l="0" t="0" r="0" b="0"/>
              <a:pathLst>
                <a:path w="8383" h="603581">
                  <a:moveTo>
                    <a:pt x="0" y="603581"/>
                  </a:moveTo>
                  <a:lnTo>
                    <a:pt x="0" y="0"/>
                  </a:lnTo>
                </a:path>
              </a:pathLst>
            </a:custGeom>
            <a:noFill/>
            <a:ln w="12574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6" name="Rounded Rectangle 65"/>
            <p:cNvSpPr/>
            <p:nvPr/>
          </p:nvSpPr>
          <p:spPr>
            <a:xfrm>
              <a:off x="8204510" y="4573290"/>
              <a:ext cx="603581" cy="603581"/>
            </a:xfrm>
            <a:custGeom>
              <a:avLst/>
              <a:gdLst/>
              <a:ahLst/>
              <a:cxnLst/>
              <a:rect l="0" t="0" r="0" b="0"/>
              <a:pathLst>
                <a:path w="603581" h="603581">
                  <a:moveTo>
                    <a:pt x="0" y="301790"/>
                  </a:moveTo>
                  <a:cubicBezTo>
                    <a:pt x="0" y="468462"/>
                    <a:pt x="135118" y="603581"/>
                    <a:pt x="301790" y="603581"/>
                  </a:cubicBezTo>
                  <a:cubicBezTo>
                    <a:pt x="468462" y="603581"/>
                    <a:pt x="603581" y="468462"/>
                    <a:pt x="603581" y="301790"/>
                  </a:cubicBezTo>
                  <a:cubicBezTo>
                    <a:pt x="603581" y="135118"/>
                    <a:pt x="468462" y="0"/>
                    <a:pt x="301790" y="0"/>
                  </a:cubicBezTo>
                  <a:cubicBezTo>
                    <a:pt x="135118" y="0"/>
                    <a:pt x="0" y="135118"/>
                    <a:pt x="0" y="301790"/>
                  </a:cubicBezTo>
                </a:path>
              </a:pathLst>
            </a:custGeom>
            <a:gradFill rotWithShape="1">
              <a:gsLst>
                <a:gs pos="0">
                  <a:srgbClr val="CFF976"/>
                </a:gs>
                <a:gs pos="100000">
                  <a:srgbClr val="A8DD38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7" name="Rounded Rectangle 66"/>
            <p:cNvSpPr/>
            <p:nvPr/>
          </p:nvSpPr>
          <p:spPr>
            <a:xfrm>
              <a:off x="8204511" y="4573290"/>
              <a:ext cx="603581" cy="603581"/>
            </a:xfrm>
            <a:custGeom>
              <a:avLst/>
              <a:gdLst/>
              <a:ahLst/>
              <a:cxnLst/>
              <a:rect l="0" t="0" r="0" b="0"/>
              <a:pathLst>
                <a:path w="603581" h="603581">
                  <a:moveTo>
                    <a:pt x="0" y="301790"/>
                  </a:moveTo>
                  <a:cubicBezTo>
                    <a:pt x="0" y="468465"/>
                    <a:pt x="135116" y="603581"/>
                    <a:pt x="301790" y="603581"/>
                  </a:cubicBezTo>
                  <a:cubicBezTo>
                    <a:pt x="468465" y="603581"/>
                    <a:pt x="603581" y="468465"/>
                    <a:pt x="603581" y="301790"/>
                  </a:cubicBezTo>
                  <a:cubicBezTo>
                    <a:pt x="603581" y="135116"/>
                    <a:pt x="468465" y="0"/>
                    <a:pt x="301790" y="0"/>
                  </a:cubicBezTo>
                  <a:cubicBezTo>
                    <a:pt x="135116" y="0"/>
                    <a:pt x="0" y="135116"/>
                    <a:pt x="0" y="301790"/>
                  </a:cubicBezTo>
                </a:path>
              </a:pathLst>
            </a:custGeom>
            <a:noFill/>
            <a:ln w="12574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7016069" y="2152677"/>
              <a:ext cx="99386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 defTabSz="457200"/>
              <a:r>
                <a:rPr sz="1400" b="1">
                  <a:solidFill>
                    <a:srgbClr val="484848"/>
                  </a:solidFill>
                  <a:latin typeface="Roboto"/>
                </a:rPr>
                <a:t>3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6313960" y="3483490"/>
              <a:ext cx="540212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defTabSz="457200"/>
              <a:r>
                <a:rPr sz="1200" b="1">
                  <a:solidFill>
                    <a:srgbClr val="484848"/>
                  </a:solidFill>
                  <a:latin typeface="Roboto"/>
                </a:rPr>
                <a:t>Phase 3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7856446" y="3483490"/>
              <a:ext cx="540212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defTabSz="457200"/>
              <a:r>
                <a:rPr sz="1200" b="1">
                  <a:solidFill>
                    <a:srgbClr val="484848"/>
                  </a:solidFill>
                  <a:latin typeface="Roboto"/>
                </a:rPr>
                <a:t>Phase 4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3228988" y="3483490"/>
              <a:ext cx="540212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defTabSz="457200"/>
              <a:r>
                <a:rPr sz="1200" b="1">
                  <a:solidFill>
                    <a:srgbClr val="484848"/>
                  </a:solidFill>
                  <a:latin typeface="Roboto"/>
                </a:rPr>
                <a:t>Phase 1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8159934" y="1861365"/>
              <a:ext cx="89127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 defTabSz="457200"/>
              <a:r>
                <a:rPr sz="900">
                  <a:solidFill>
                    <a:srgbClr val="484848"/>
                  </a:solidFill>
                  <a:latin typeface="Roboto"/>
                </a:rPr>
                <a:t>Long-term effects
tracked after
treatment is
approved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4941591" y="1861365"/>
              <a:ext cx="106279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 defTabSz="457200"/>
              <a:r>
                <a:rPr sz="900">
                  <a:solidFill>
                    <a:srgbClr val="484848"/>
                  </a:solidFill>
                  <a:latin typeface="Roboto"/>
                </a:rPr>
                <a:t>Larger group
assesses if
treatment works and
monitors side effects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3833183" y="2152677"/>
              <a:ext cx="99386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 defTabSz="457200"/>
              <a:r>
                <a:rPr sz="1400" b="1">
                  <a:solidFill>
                    <a:srgbClr val="484848"/>
                  </a:solidFill>
                  <a:latin typeface="Roboto"/>
                </a:rPr>
                <a:t>1</a:t>
              </a: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4817315" y="691857"/>
              <a:ext cx="2374131" cy="3148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 defTabSz="457200"/>
              <a:r>
                <a:rPr sz="2400" b="1" dirty="0">
                  <a:solidFill>
                    <a:srgbClr val="484848"/>
                  </a:solidFill>
                  <a:latin typeface="Roboto"/>
                </a:rPr>
                <a:t>Phases of Clinical Trials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6447361" y="5214596"/>
              <a:ext cx="1035540" cy="6924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 defTabSz="457200"/>
              <a:r>
                <a:rPr sz="900">
                  <a:solidFill>
                    <a:srgbClr val="484848"/>
                  </a:solidFill>
                  <a:latin typeface="Roboto"/>
                </a:rPr>
                <a:t>Hundreds compared
to standard
treatment to confirm
effectiveness and
safety</a:t>
              </a: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5017674" y="1362572"/>
              <a:ext cx="9105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 defTabSz="457200"/>
              <a:r>
                <a:rPr sz="1200" b="1">
                  <a:solidFill>
                    <a:srgbClr val="1EABDA"/>
                  </a:solidFill>
                  <a:latin typeface="Roboto"/>
                </a:rPr>
                <a:t>Effectiveness
Test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3498127" y="4690652"/>
              <a:ext cx="769441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 defTabSz="457200"/>
              <a:r>
                <a:rPr sz="1200" b="1">
                  <a:solidFill>
                    <a:srgbClr val="4E88E7"/>
                  </a:solidFill>
                  <a:latin typeface="Roboto"/>
                </a:rPr>
                <a:t>Safety Test</a:t>
              </a: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5374328" y="4776579"/>
              <a:ext cx="99386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 defTabSz="457200"/>
              <a:r>
                <a:rPr sz="1400" b="1">
                  <a:solidFill>
                    <a:srgbClr val="484848"/>
                  </a:solidFill>
                  <a:latin typeface="Roboto"/>
                </a:rPr>
                <a:t>2</a:t>
              </a: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6560423" y="4690652"/>
              <a:ext cx="80951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 defTabSz="457200"/>
              <a:r>
                <a:rPr sz="1200" b="1">
                  <a:solidFill>
                    <a:srgbClr val="3CC583"/>
                  </a:solidFill>
                  <a:latin typeface="Roboto"/>
                </a:rPr>
                <a:t>Large-Scale
Testing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8456617" y="4776579"/>
              <a:ext cx="99386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 defTabSz="457200"/>
              <a:r>
                <a:rPr sz="1400" b="1">
                  <a:solidFill>
                    <a:srgbClr val="484848"/>
                  </a:solidFill>
                  <a:latin typeface="Roboto"/>
                </a:rPr>
                <a:t>4</a:t>
              </a: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3393964" y="5013401"/>
              <a:ext cx="977832" cy="415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 defTabSz="457200"/>
              <a:r>
                <a:rPr sz="900">
                  <a:solidFill>
                    <a:srgbClr val="484848"/>
                  </a:solidFill>
                  <a:latin typeface="Roboto"/>
                </a:rPr>
                <a:t>Small group checks
safety and side
effects</a:t>
              </a: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8119821" y="1362572"/>
              <a:ext cx="97142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 defTabSz="457200"/>
              <a:r>
                <a:rPr sz="1200" b="1">
                  <a:solidFill>
                    <a:srgbClr val="92BD39"/>
                  </a:solidFill>
                  <a:latin typeface="Roboto"/>
                </a:rPr>
                <a:t>Post-Approval
Monitoring</a:t>
              </a: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4771474" y="3483490"/>
              <a:ext cx="540212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defTabSz="457200"/>
              <a:r>
                <a:rPr sz="1200" b="1">
                  <a:solidFill>
                    <a:srgbClr val="484848"/>
                  </a:solidFill>
                  <a:latin typeface="Roboto"/>
                </a:rPr>
                <a:t>Phase 2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12B07FB-5C04-E2F2-2004-28875583B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818" y="42863"/>
            <a:ext cx="8596668" cy="1320800"/>
          </a:xfrm>
        </p:spPr>
        <p:txBody>
          <a:bodyPr/>
          <a:lstStyle/>
          <a:p>
            <a:r>
              <a:rPr lang="en-US" dirty="0"/>
              <a:t>CLINICAL TRIALS CASES: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xmlns="" id="{9D4BB514-14B1-8E19-F465-25CFD979CB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4125928"/>
              </p:ext>
            </p:extLst>
          </p:nvPr>
        </p:nvGraphicFramePr>
        <p:xfrm>
          <a:off x="174171" y="1486784"/>
          <a:ext cx="11843657" cy="4389325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144888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972896">
                  <a:extLst>
                    <a:ext uri="{9D8B030D-6E8A-4147-A177-3AD203B41FA5}">
                      <a16:colId xmlns:a16="http://schemas.microsoft.com/office/drawing/2014/main" xmlns="" val="1472170842"/>
                    </a:ext>
                  </a:extLst>
                </a:gridCol>
                <a:gridCol w="190132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85057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23157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814387">
                <a:tc>
                  <a:txBody>
                    <a:bodyPr/>
                    <a:lstStyle/>
                    <a:p>
                      <a:pPr algn="just"/>
                      <a:r>
                        <a:rPr lang="en-US" sz="1600" b="1" dirty="0"/>
                        <a:t>Category</a:t>
                      </a:r>
                      <a:endParaRPr lang="en-US"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726" marR="53726" marT="26863" marB="26863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First Major Gene Editing</a:t>
                      </a:r>
                    </a:p>
                    <a:p>
                      <a:pPr algn="just"/>
                      <a:endParaRPr lang="en-US"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726" marR="53726" marT="26863" marB="26863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b="1" dirty="0"/>
                        <a:t>Example / Study</a:t>
                      </a:r>
                      <a:endParaRPr lang="en-US"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726" marR="53726" marT="26863" marB="26863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b="1" dirty="0"/>
                        <a:t>Purpose / Goal</a:t>
                      </a:r>
                      <a:endParaRPr lang="en-US"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726" marR="53726" marT="26863" marB="26863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b="1"/>
                        <a:t>Key Technology / Target</a:t>
                      </a:r>
                      <a:endParaRPr lang="en-US" sz="16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726" marR="53726" marT="26863" marB="26863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b="1" dirty="0"/>
                        <a:t>Outcome / Significance</a:t>
                      </a:r>
                      <a:endParaRPr lang="en-US"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726" marR="53726" marT="26863" marB="26863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124481">
                <a:tc>
                  <a:txBody>
                    <a:bodyPr/>
                    <a:lstStyle/>
                    <a:p>
                      <a:r>
                        <a:rPr lang="en-US" sz="1600" b="1" dirty="0"/>
                        <a:t>Stem Cells </a:t>
                      </a:r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[7]</a:t>
                      </a:r>
                    </a:p>
                  </a:txBody>
                  <a:tcPr marL="53726" marR="53726" marT="26863" marB="26863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1985 — gene targeting in embryonic stem cells to make knockout mice. </a:t>
                      </a:r>
                    </a:p>
                    <a:p>
                      <a:endParaRPr lang="en-US"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726" marR="53726" marT="26863" marB="26863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Progress and Prospects of Gene Editing in Pluripotent Stem Cells (MDPI, 2023)</a:t>
                      </a:r>
                      <a:endParaRPr lang="en-US"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726" marR="53726" marT="26863" marB="26863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Research and disease modeling</a:t>
                      </a:r>
                      <a:endParaRPr lang="en-US"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726" marR="53726" marT="26863" marB="26863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CRISPR-Cas9, ESCs &amp; </a:t>
                      </a:r>
                      <a:r>
                        <a:rPr lang="en-US" sz="1600" dirty="0" err="1"/>
                        <a:t>iPSCs</a:t>
                      </a:r>
                      <a:endParaRPr lang="en-US"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726" marR="53726" marT="26863" marB="26863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Enables study of gene function, modeling human diseases, and regenerative medicine; foundation for future therapies</a:t>
                      </a:r>
                      <a:endParaRPr lang="en-US"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726" marR="53726" marT="26863" marB="26863"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854606">
                <a:tc>
                  <a:txBody>
                    <a:bodyPr/>
                    <a:lstStyle/>
                    <a:p>
                      <a:r>
                        <a:rPr lang="en-US" sz="1600" b="1" dirty="0"/>
                        <a:t>Somatic Cells </a:t>
                      </a:r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[8]</a:t>
                      </a:r>
                    </a:p>
                  </a:txBody>
                  <a:tcPr marL="53726" marR="53726" marT="26863" marB="26863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2016 — first CRISPR clinical study in human somatic cells. </a:t>
                      </a:r>
                    </a:p>
                    <a:p>
                      <a:endParaRPr lang="en-US"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726" marR="53726" marT="26863" marB="26863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CASGEVY™ for Sickle Cell Disease (FDA-approved, 2023)</a:t>
                      </a:r>
                      <a:endParaRPr lang="en-US"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726" marR="53726" marT="26863" marB="26863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Clinical treatment of patient</a:t>
                      </a:r>
                      <a:endParaRPr lang="en-US" sz="16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726" marR="53726" marT="26863" marB="26863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CRISPR-Cas9, ex vivo editing of hematopoietic stem cells, BCL11A gene</a:t>
                      </a:r>
                      <a:endParaRPr lang="en-US" sz="16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726" marR="53726" marT="26863" marB="26863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Increases fetal hemoglobin (HbF), prevents sickling; edits limited to treated individual; </a:t>
                      </a:r>
                      <a:r>
                        <a:rPr lang="en-US" sz="1600" b="1"/>
                        <a:t>non-heritable</a:t>
                      </a:r>
                      <a:endParaRPr lang="en-US" sz="16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726" marR="53726" marT="26863" marB="26863"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250710">
                <a:tc>
                  <a:txBody>
                    <a:bodyPr/>
                    <a:lstStyle/>
                    <a:p>
                      <a:r>
                        <a:rPr lang="en-US" sz="1600" b="1" dirty="0"/>
                        <a:t>Germline Cells</a:t>
                      </a:r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[9]</a:t>
                      </a:r>
                    </a:p>
                  </a:txBody>
                  <a:tcPr marL="53726" marR="53726" marT="26863" marB="26863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2015 — CRISPR editing of human zygotes in research settings. </a:t>
                      </a:r>
                    </a:p>
                    <a:p>
                      <a:endParaRPr lang="en-US"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726" marR="53726" marT="26863" marB="26863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He </a:t>
                      </a:r>
                      <a:r>
                        <a:rPr lang="en-US" sz="1600" dirty="0" err="1"/>
                        <a:t>Jiankui</a:t>
                      </a:r>
                      <a:r>
                        <a:rPr lang="en-US" sz="1600" dirty="0"/>
                        <a:t> Case (2018)</a:t>
                      </a:r>
                      <a:endParaRPr lang="en-US"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726" marR="53726" marT="26863" marB="26863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Experimental/heritable modification</a:t>
                      </a:r>
                      <a:endParaRPr lang="en-US"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726" marR="53726" marT="26863" marB="26863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CRISPR-Cas9, human embryos, CCR5 gene</a:t>
                      </a:r>
                      <a:endParaRPr lang="en-US" sz="16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726" marR="53726" marT="26863" marB="26863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Genetically modified babies born; changes are </a:t>
                      </a:r>
                      <a:r>
                        <a:rPr lang="en-US" sz="1600" b="1" dirty="0"/>
                        <a:t>heritable</a:t>
                      </a:r>
                      <a:r>
                        <a:rPr lang="en-US" sz="1600" dirty="0"/>
                        <a:t>; global ethical and legal controversy</a:t>
                      </a:r>
                      <a:endParaRPr lang="en-US"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726" marR="53726" marT="26863" marB="26863"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98223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21381" y="2300439"/>
            <a:ext cx="11790947" cy="38693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In 2018, Chinese scientist </a:t>
            </a:r>
            <a:r>
              <a:rPr lang="en-US" b="1" dirty="0"/>
              <a:t>Dr. He </a:t>
            </a:r>
            <a:r>
              <a:rPr lang="en-US" b="1" dirty="0" err="1"/>
              <a:t>Jiankui</a:t>
            </a:r>
            <a:r>
              <a:rPr lang="en-US" dirty="0"/>
              <a:t> reported the first case of </a:t>
            </a:r>
            <a:r>
              <a:rPr lang="en-US" b="1" dirty="0"/>
              <a:t>human </a:t>
            </a:r>
            <a:r>
              <a:rPr lang="en-US" b="1" dirty="0" err="1"/>
              <a:t>germline</a:t>
            </a:r>
            <a:r>
              <a:rPr lang="en-US" b="1" dirty="0"/>
              <a:t> gene editing</a:t>
            </a:r>
            <a:r>
              <a:rPr lang="en-US" dirty="0"/>
              <a:t>, claiming to have used CRISPR-Cas9 to modify the </a:t>
            </a:r>
            <a:r>
              <a:rPr lang="en-US" b="1" dirty="0"/>
              <a:t>CCR5 gene</a:t>
            </a:r>
            <a:r>
              <a:rPr lang="en-US" dirty="0"/>
              <a:t> in human embryos. The goal was to make the babies resistant to </a:t>
            </a:r>
            <a:r>
              <a:rPr lang="en-US" b="1" dirty="0"/>
              <a:t>HIV infection</a:t>
            </a:r>
            <a:r>
              <a:rPr lang="en-US" dirty="0"/>
              <a:t>. The edited embryos were implanted, resulting in the birth of twin girls.</a:t>
            </a:r>
          </a:p>
          <a:p>
            <a:r>
              <a:rPr lang="en-US" dirty="0"/>
              <a:t>This experiment involved </a:t>
            </a:r>
            <a:r>
              <a:rPr lang="en-US" b="1" dirty="0" err="1"/>
              <a:t>germline</a:t>
            </a:r>
            <a:r>
              <a:rPr lang="en-US" b="1" dirty="0"/>
              <a:t> editing</a:t>
            </a:r>
            <a:r>
              <a:rPr lang="en-US" dirty="0"/>
              <a:t>, meaning the genetic changes were made at the embryo stage and could be </a:t>
            </a:r>
            <a:r>
              <a:rPr lang="en-US" b="1" dirty="0"/>
              <a:t>passed on to future generations</a:t>
            </a:r>
            <a:r>
              <a:rPr lang="en-US" dirty="0"/>
              <a:t>. While the scientific aim was disease prevention, the procedure was conducted </a:t>
            </a:r>
            <a:r>
              <a:rPr lang="en-US" b="1" dirty="0"/>
              <a:t>without adequate safety validation, transparency, or ethical approval</a:t>
            </a:r>
            <a:r>
              <a:rPr lang="en-US" dirty="0"/>
              <a:t>.</a:t>
            </a:r>
          </a:p>
          <a:p>
            <a:r>
              <a:rPr lang="en-US" dirty="0"/>
              <a:t>The case sparked </a:t>
            </a:r>
            <a:r>
              <a:rPr lang="en-US" b="1" dirty="0"/>
              <a:t>global outrage</a:t>
            </a:r>
            <a:r>
              <a:rPr lang="en-US" dirty="0"/>
              <a:t> within the scientific and medical communities. Major concerns included </a:t>
            </a:r>
            <a:r>
              <a:rPr lang="en-US" b="1" dirty="0"/>
              <a:t>off-target mutations, unknown long-term effects, lack of informed consent, and violation of international ethical guidelines</a:t>
            </a:r>
            <a:r>
              <a:rPr lang="en-US" dirty="0"/>
              <a:t>. As a result, the experiment was widely condemned, and Dr. He </a:t>
            </a:r>
            <a:r>
              <a:rPr lang="en-US" dirty="0" err="1"/>
              <a:t>Jiankui</a:t>
            </a:r>
            <a:r>
              <a:rPr lang="en-US" dirty="0"/>
              <a:t> was later </a:t>
            </a:r>
            <a:r>
              <a:rPr lang="en-US" b="1" dirty="0"/>
              <a:t>sentenced to prison and banned from conducting scientific research</a:t>
            </a:r>
            <a:r>
              <a:rPr lang="en-US" dirty="0"/>
              <a:t>.</a:t>
            </a:r>
          </a:p>
          <a:p>
            <a:r>
              <a:rPr lang="en-US" dirty="0"/>
              <a:t>This case highlighted the </a:t>
            </a:r>
            <a:r>
              <a:rPr lang="en-US" b="1" dirty="0"/>
              <a:t>ethical risks of premature </a:t>
            </a:r>
            <a:r>
              <a:rPr lang="en-US" b="1" dirty="0" err="1"/>
              <a:t>germline</a:t>
            </a:r>
            <a:r>
              <a:rPr lang="en-US" b="1" dirty="0"/>
              <a:t> editing</a:t>
            </a:r>
            <a:r>
              <a:rPr lang="en-US" dirty="0"/>
              <a:t> and reinforced the global consensus that CRISPR should currently be limited to </a:t>
            </a:r>
            <a:r>
              <a:rPr lang="en-US" b="1" dirty="0"/>
              <a:t>somatic (non-heritable) gene editing</a:t>
            </a:r>
            <a:r>
              <a:rPr lang="en-US" dirty="0"/>
              <a:t> until safety, ethical, and regulatory frameworks are firmly established</a:t>
            </a:r>
            <a:r>
              <a:rPr lang="en-US" dirty="0" smtClean="0"/>
              <a:t>.[9]</a:t>
            </a: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407343" y="202663"/>
            <a:ext cx="4350619" cy="74114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u="sng" dirty="0"/>
              <a:t>Case Study: Dr. He </a:t>
            </a:r>
            <a:r>
              <a:rPr lang="en-US" sz="2000" b="1" u="sng" dirty="0" err="1"/>
              <a:t>Jiankui</a:t>
            </a:r>
            <a:r>
              <a:rPr lang="en-US" sz="2000" b="1" u="sng" dirty="0"/>
              <a:t> and Human </a:t>
            </a:r>
            <a:r>
              <a:rPr lang="en-US" sz="2000" b="1" u="sng" dirty="0" err="1"/>
              <a:t>Germline</a:t>
            </a:r>
            <a:r>
              <a:rPr lang="en-US" sz="2000" b="1" u="sng" dirty="0"/>
              <a:t> Editing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7865" y="62494"/>
            <a:ext cx="3224463" cy="217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1510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349592" y="144379"/>
            <a:ext cx="4610501" cy="6448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u="sng" dirty="0"/>
              <a:t>Case </a:t>
            </a:r>
            <a:r>
              <a:rPr lang="en-US" sz="2000" b="1" u="sng" dirty="0" err="1"/>
              <a:t>Study:First</a:t>
            </a:r>
            <a:r>
              <a:rPr lang="en-US" sz="2000" b="1" u="sng" dirty="0"/>
              <a:t> Human CRISPR Cell Therapy Trial for Late-Stage Lung Cancer</a:t>
            </a:r>
          </a:p>
        </p:txBody>
      </p:sp>
      <p:sp>
        <p:nvSpPr>
          <p:cNvPr id="4" name="Rectangle 3"/>
          <p:cNvSpPr/>
          <p:nvPr/>
        </p:nvSpPr>
        <p:spPr>
          <a:xfrm>
            <a:off x="221381" y="1703672"/>
            <a:ext cx="11781322" cy="471637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First Human CRISPR-Cas9 Cell Therapy Trial (China, 2016–2017)</a:t>
            </a:r>
          </a:p>
          <a:p>
            <a:r>
              <a:rPr lang="en-US" b="1" dirty="0"/>
              <a:t>Background:</a:t>
            </a:r>
            <a:endParaRPr lang="en-US" dirty="0"/>
          </a:p>
          <a:p>
            <a:r>
              <a:rPr lang="en-US" dirty="0"/>
              <a:t>Late-stage metastatic non-small cell lung cancer patients.</a:t>
            </a:r>
          </a:p>
          <a:p>
            <a:r>
              <a:rPr lang="en-US" dirty="0"/>
              <a:t>Conventional treatments (chemo &amp; immunotherapy) failed.</a:t>
            </a:r>
          </a:p>
          <a:p>
            <a:r>
              <a:rPr lang="en-US" b="1" dirty="0"/>
              <a:t>Method:</a:t>
            </a:r>
            <a:endParaRPr lang="en-US" dirty="0"/>
          </a:p>
          <a:p>
            <a:r>
              <a:rPr lang="en-US" dirty="0"/>
              <a:t>T-cells extracted from patient blood.</a:t>
            </a:r>
          </a:p>
          <a:p>
            <a:r>
              <a:rPr lang="en-US" dirty="0"/>
              <a:t>CRISPR-Cas9 used to </a:t>
            </a:r>
            <a:r>
              <a:rPr lang="en-US" i="1" dirty="0"/>
              <a:t>knock out PD-1 gene</a:t>
            </a:r>
            <a:r>
              <a:rPr lang="en-US" dirty="0"/>
              <a:t> (removes “brake” on immune cells).</a:t>
            </a:r>
          </a:p>
          <a:p>
            <a:r>
              <a:rPr lang="en-US" dirty="0"/>
              <a:t>Edited T-cells infused back into patient.</a:t>
            </a:r>
          </a:p>
          <a:p>
            <a:r>
              <a:rPr lang="en-US" b="1" dirty="0"/>
              <a:t>Results:</a:t>
            </a:r>
            <a:endParaRPr lang="en-US" dirty="0"/>
          </a:p>
          <a:p>
            <a:r>
              <a:rPr lang="en-US" dirty="0"/>
              <a:t>Safe in humans, no severe side effects.</a:t>
            </a:r>
          </a:p>
          <a:p>
            <a:r>
              <a:rPr lang="en-US" dirty="0"/>
              <a:t>Cancer not cured but disease progression slowed.</a:t>
            </a:r>
          </a:p>
          <a:p>
            <a:r>
              <a:rPr lang="en-US" b="1" dirty="0"/>
              <a:t>Significance:</a:t>
            </a:r>
            <a:endParaRPr lang="en-US" dirty="0"/>
          </a:p>
          <a:p>
            <a:r>
              <a:rPr lang="en-US" i="1" dirty="0"/>
              <a:t>First real human CRISPR use.</a:t>
            </a:r>
            <a:endParaRPr lang="en-US" dirty="0"/>
          </a:p>
          <a:p>
            <a:r>
              <a:rPr lang="en-US" dirty="0"/>
              <a:t>Demonstrated feasibility &amp; safety.</a:t>
            </a:r>
          </a:p>
          <a:p>
            <a:r>
              <a:rPr lang="en-US" dirty="0"/>
              <a:t>Paved way for global CRISPR trials (blood disorders, eye diseases).</a:t>
            </a:r>
          </a:p>
          <a:p>
            <a:r>
              <a:rPr lang="en-US" b="1" dirty="0"/>
              <a:t>Reference:</a:t>
            </a:r>
            <a:endParaRPr lang="en-US" dirty="0"/>
          </a:p>
          <a:p>
            <a:r>
              <a:rPr lang="en-US" i="1" dirty="0"/>
              <a:t>The first human trial of CRISPR-based cell therapy clears safety concerns as new treatment for late-stage lung cancer</a:t>
            </a:r>
            <a:r>
              <a:rPr lang="en-US" i="1" dirty="0" smtClean="0"/>
              <a:t>.[11][12]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0647" y="1935612"/>
            <a:ext cx="3397425" cy="4007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926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xmlns="" id="{0E4778C8-D222-F874-04F0-B7AC1F7B4261}"/>
              </a:ext>
            </a:extLst>
          </p:cNvPr>
          <p:cNvSpPr txBox="1">
            <a:spLocks/>
          </p:cNvSpPr>
          <p:nvPr/>
        </p:nvSpPr>
        <p:spPr>
          <a:xfrm>
            <a:off x="530543" y="1057842"/>
            <a:ext cx="10058400" cy="4192587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u="sng" dirty="0">
                <a:latin typeface="Calibri" panose="020F0502020204030204" pitchFamily="34" charset="0"/>
                <a:cs typeface="Calibri" panose="020F0502020204030204" pitchFamily="34" charset="0"/>
              </a:rPr>
              <a:t>How Many Trials Are Ongoing?</a:t>
            </a: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As of recent tracking:</a:t>
            </a: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There are 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~250 clinical trials involving CRISPR or gene editors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in various diseases.</a:t>
            </a: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Over 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150 are actively recruiting or in progress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worldwide. These trials span therapeutic areas like blood disorders, metabolic conditions, hereditary diseases, heart disease, and cancer.</a:t>
            </a:r>
          </a:p>
          <a:p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Where Are These Trials Happening?</a:t>
            </a: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CRISPR clinical trials are worldwide — conducted in:</a:t>
            </a:r>
            <a:b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🌍 USA</a:t>
            </a:r>
            <a:b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🌍 Europe</a:t>
            </a:r>
            <a:b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🌍 China</a:t>
            </a:r>
            <a:b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🌍 Canada</a:t>
            </a:r>
            <a:b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🌍 Australia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18687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55983" y="231006"/>
            <a:ext cx="4244741" cy="7603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u="sng" dirty="0" smtClean="0"/>
              <a:t>Clinical Trials in Pakistan</a:t>
            </a:r>
            <a:endParaRPr lang="en-US" sz="2800" b="1" u="sng" dirty="0"/>
          </a:p>
        </p:txBody>
      </p:sp>
      <p:sp>
        <p:nvSpPr>
          <p:cNvPr id="3" name="Rectangle 2"/>
          <p:cNvSpPr/>
          <p:nvPr/>
        </p:nvSpPr>
        <p:spPr>
          <a:xfrm>
            <a:off x="789272" y="1665171"/>
            <a:ext cx="11232682" cy="50340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.</a:t>
            </a:r>
          </a:p>
          <a:p>
            <a:pPr algn="ctr"/>
            <a:r>
              <a:rPr lang="en-US" dirty="0"/>
              <a:t>Pakistan does </a:t>
            </a:r>
            <a:r>
              <a:rPr lang="en-US" b="1" dirty="0"/>
              <a:t>not yet have officially registered CRISPR‑Cas9 clinical trials on humans</a:t>
            </a:r>
            <a:r>
              <a:rPr lang="en-US" dirty="0"/>
              <a:t> as of 2025</a:t>
            </a:r>
          </a:p>
          <a:p>
            <a:r>
              <a:rPr lang="en-US" b="1" dirty="0" smtClean="0"/>
              <a:t>Research </a:t>
            </a:r>
            <a:r>
              <a:rPr lang="en-US" b="1" dirty="0"/>
              <a:t>&amp; Pre‑Clinical CRISPR Work in Pakistan</a:t>
            </a:r>
          </a:p>
          <a:p>
            <a:r>
              <a:rPr lang="en-US" dirty="0"/>
              <a:t>Even though no registered </a:t>
            </a:r>
            <a:r>
              <a:rPr lang="en-US" i="1" dirty="0"/>
              <a:t>clinical</a:t>
            </a:r>
            <a:r>
              <a:rPr lang="en-US" dirty="0"/>
              <a:t> trials are in progress, Pakistani researchers </a:t>
            </a:r>
            <a:r>
              <a:rPr lang="en-US" i="1" dirty="0"/>
              <a:t>are actively working on CRISPR at earlier research stages</a:t>
            </a:r>
            <a:r>
              <a:rPr lang="en-US" dirty="0"/>
              <a:t> in areas that could lead to future therapies</a:t>
            </a:r>
            <a:r>
              <a:rPr lang="en-US" dirty="0" smtClean="0"/>
              <a:t>:</a:t>
            </a:r>
          </a:p>
          <a:p>
            <a:r>
              <a:rPr lang="en-US" b="1" dirty="0" smtClean="0"/>
              <a:t> A. Pediatric Leukemia Immune Cell Editing Study</a:t>
            </a:r>
          </a:p>
          <a:p>
            <a:r>
              <a:rPr lang="en-US" dirty="0" smtClean="0"/>
              <a:t>Researchers </a:t>
            </a:r>
            <a:r>
              <a:rPr lang="en-US" dirty="0"/>
              <a:t>in Islamabad conducted a </a:t>
            </a:r>
            <a:r>
              <a:rPr lang="en-US" b="1" dirty="0"/>
              <a:t>CRISPR‑Cas9 trial exploring editing immune cells</a:t>
            </a:r>
            <a:r>
              <a:rPr lang="en-US" dirty="0"/>
              <a:t> to target </a:t>
            </a:r>
            <a:r>
              <a:rPr lang="en-US" b="1" dirty="0"/>
              <a:t>tumor‑associated macrophages in pediatric leukemia</a:t>
            </a:r>
            <a:r>
              <a:rPr lang="en-US" dirty="0"/>
              <a:t>. This studied </a:t>
            </a:r>
            <a:r>
              <a:rPr lang="en-US" b="1" dirty="0"/>
              <a:t>safety, tolerability, and outcomes</a:t>
            </a:r>
            <a:r>
              <a:rPr lang="en-US" dirty="0"/>
              <a:t> as an innovative approach in childhood leukemia. </a:t>
            </a:r>
            <a:endParaRPr lang="en-US" dirty="0" smtClean="0"/>
          </a:p>
          <a:p>
            <a:r>
              <a:rPr lang="en-US" b="1" dirty="0" smtClean="0"/>
              <a:t>B</a:t>
            </a:r>
            <a:r>
              <a:rPr lang="en-US" b="1" dirty="0"/>
              <a:t>. Cancer Stem </a:t>
            </a:r>
            <a:r>
              <a:rPr lang="en-US" b="1" dirty="0" smtClean="0"/>
              <a:t>Cell Research</a:t>
            </a:r>
            <a:endParaRPr lang="en-US" b="1" dirty="0"/>
          </a:p>
          <a:p>
            <a:r>
              <a:rPr lang="en-US" dirty="0"/>
              <a:t>A study investigated </a:t>
            </a:r>
            <a:r>
              <a:rPr lang="en-US" b="1" dirty="0"/>
              <a:t>CRISPR‑Cas9 targeting cancer stem cells in </a:t>
            </a:r>
            <a:r>
              <a:rPr lang="en-US" b="1" dirty="0" err="1"/>
              <a:t>glioblastoma</a:t>
            </a:r>
            <a:r>
              <a:rPr lang="en-US" b="1" dirty="0"/>
              <a:t> </a:t>
            </a:r>
            <a:r>
              <a:rPr lang="en-US" b="1" dirty="0" err="1"/>
              <a:t>multiforme</a:t>
            </a:r>
            <a:r>
              <a:rPr lang="en-US" dirty="0"/>
              <a:t> using patient tumor samples in Pakistan, focused on sensitizing cells to therapy — </a:t>
            </a:r>
            <a:r>
              <a:rPr lang="en-US" i="1" dirty="0"/>
              <a:t>but this work is </a:t>
            </a:r>
            <a:r>
              <a:rPr lang="en-US" b="1" i="1" dirty="0"/>
              <a:t>research/pre‑clinical</a:t>
            </a:r>
            <a:r>
              <a:rPr lang="en-US" dirty="0"/>
              <a:t> rather than a formal clinical trial. </a:t>
            </a:r>
            <a:endParaRPr lang="en-US" dirty="0" smtClean="0"/>
          </a:p>
          <a:p>
            <a:r>
              <a:rPr lang="en-US" b="1" dirty="0" smtClean="0"/>
              <a:t>C. Local CRISPR Gene Editing Research Projects</a:t>
            </a:r>
          </a:p>
          <a:p>
            <a:r>
              <a:rPr lang="en-US" dirty="0" smtClean="0"/>
              <a:t>Multiple </a:t>
            </a:r>
            <a:r>
              <a:rPr lang="en-US" dirty="0"/>
              <a:t>Pakistani institutions (e.g., Quaid‑e‑</a:t>
            </a:r>
            <a:r>
              <a:rPr lang="en-US" dirty="0" err="1"/>
              <a:t>Azam</a:t>
            </a:r>
            <a:r>
              <a:rPr lang="en-US" dirty="0"/>
              <a:t> University, University of </a:t>
            </a:r>
            <a:r>
              <a:rPr lang="en-US" dirty="0" err="1"/>
              <a:t>Okara</a:t>
            </a:r>
            <a:r>
              <a:rPr lang="en-US" dirty="0"/>
              <a:t>, Veterinary and Agriculture universities) are publishing </a:t>
            </a:r>
            <a:r>
              <a:rPr lang="en-US" b="1" dirty="0"/>
              <a:t>CRISPR research</a:t>
            </a:r>
            <a:r>
              <a:rPr lang="en-US" dirty="0"/>
              <a:t> on disease models, delivery strategies, and applications — but not in registered clinical phases yet. 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98492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958CE1A-0DBC-8F72-05B0-CA0F37A2C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-125412"/>
            <a:ext cx="10972800" cy="1143000"/>
          </a:xfrm>
        </p:spPr>
        <p:txBody>
          <a:bodyPr/>
          <a:lstStyle/>
          <a:p>
            <a:r>
              <a:rPr lang="en-US" b="1" dirty="0"/>
              <a:t>APPLICATIONS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3C94E14F-524E-1C0B-4BFB-0BB27963D50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5775" y="655539"/>
            <a:ext cx="10378168" cy="6524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Therapeutic Applications: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Treat genetic disorders (sickle cell, β-thalassemia)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Cancer therapy via CRISPR-engineered CAR-T cells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Retinal diseases &amp; viral infections (e.g., HIV)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Clinical Research: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Identify disease-associated genes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Knockout/knock-in experiments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Personalized medicine &amp; drug discovery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Agriculture: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Disease-resistant, high-yield, drought-tolerant crops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Nutritional enhancement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Biotechnology/Industry: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Engineering microbes for biofuels &amp; enzymes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Synthetic biology and pharmaceutical production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Functional Genomics: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Genome-wide CRISPR screens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Drug target identification &amp; pathway studies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Diagnostics: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Rapid detection of pathogens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Mutation screening &amp; point-of-care tools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39621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4B7A5A4-DAC9-F83A-BF4E-738FBBC39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9051"/>
            <a:ext cx="10972800" cy="1203325"/>
          </a:xfrm>
        </p:spPr>
        <p:txBody>
          <a:bodyPr/>
          <a:lstStyle/>
          <a:p>
            <a:r>
              <a:rPr lang="en-US" b="1" dirty="0"/>
              <a:t>LIMITATIONS &amp;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E0F0005-B7D5-B8EB-A585-F371506374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653" y="1222376"/>
            <a:ext cx="10170459" cy="4158128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Off-Target Effects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Unintended DNA cuts may disrupt essential genes, activate oncogenes, or cause genomic instability — a major safety concern in clinical use.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Delivery Challenges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Efficient and tissue-specific delivery of Cas9/sgRNA remains difficult.</a:t>
            </a:r>
            <a:b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i="1" dirty="0">
                <a:latin typeface="Calibri" panose="020F0502020204030204" pitchFamily="34" charset="0"/>
                <a:cs typeface="Calibri" panose="020F0502020204030204" pitchFamily="34" charset="0"/>
              </a:rPr>
              <a:t>Viral vectors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: immune response, limited cargo</a:t>
            </a:r>
            <a:b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i="1" dirty="0">
                <a:latin typeface="Calibri" panose="020F0502020204030204" pitchFamily="34" charset="0"/>
                <a:cs typeface="Calibri" panose="020F0502020204030204" pitchFamily="34" charset="0"/>
              </a:rPr>
              <a:t>Non-viral methods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: low efficiency or cell damage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DNA Repair Uncertainty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CRISPR depends on cellular repair pathways:</a:t>
            </a:r>
            <a:b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i="1" dirty="0">
                <a:latin typeface="Calibri" panose="020F0502020204030204" pitchFamily="34" charset="0"/>
                <a:cs typeface="Calibri" panose="020F0502020204030204" pitchFamily="34" charset="0"/>
              </a:rPr>
              <a:t>NHEJ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→ error-prone insertions/deletions</a:t>
            </a:r>
            <a:b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i="1" dirty="0">
                <a:latin typeface="Calibri" panose="020F0502020204030204" pitchFamily="34" charset="0"/>
                <a:cs typeface="Calibri" panose="020F0502020204030204" pitchFamily="34" charset="0"/>
              </a:rPr>
              <a:t>HDR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→ precise but inefficient and cell-cycle dependent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Immune Response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Bacterial Cas9 proteins may trigger immune reactions, reducing editing efficiency and increasing safety risks in vivo.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Mosaicism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Incomplete or variable editing across cells leads to unpredictable outcomes, especially in embryos.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0393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4160B5A-CCD1-A232-7609-CB350CC63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521" y="-327760"/>
            <a:ext cx="10761345" cy="1450757"/>
          </a:xfrm>
        </p:spPr>
        <p:txBody>
          <a:bodyPr/>
          <a:lstStyle/>
          <a:p>
            <a:r>
              <a:rPr lang="en-US" b="1" dirty="0"/>
              <a:t>ELSI(Ethical, legal &amp; social issues)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31B040D3-6BF4-AEA3-2F0C-0856EF2141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93134" y="917912"/>
            <a:ext cx="8917578" cy="5940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Ethical Concerns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Germline editing causes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permanent, heritable changes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raising fears of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designer babies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and misuse for enhancement rather than therapy.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Therapy vs Enhancement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✔ Ethically acceptable: treatment of genetic diseases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✖ Ethically controversial: enhancement of normal traits (e.g., muscle strength, intelligence)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Legal Challenges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Regulations vary worldwide;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no unified global framework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Many countries ban human germline editing, while others allow limited therapeutic research.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Social Issues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Unequal access may increase social inequality.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Concerns include misuse for appearance, intelligence, or strength, public mistrust, and cultural or religious objections.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Real Case: Human Germline Editing</a:t>
            </a: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200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He Jiankui (China, 2018)</a:t>
            </a: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edited the </a:t>
            </a:r>
            <a:r>
              <a:rPr lang="en-US" alt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CCR5 gene</a:t>
            </a: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in human embryos to confer HIV resistance.</a:t>
            </a:r>
            <a:b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→ Global condemnation; highlighted ethical violations and lack of oversight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44866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47E99D2-1748-AA72-DB84-3A80E975B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817" y="-300037"/>
            <a:ext cx="10862491" cy="1450757"/>
          </a:xfrm>
        </p:spPr>
        <p:txBody>
          <a:bodyPr/>
          <a:lstStyle/>
          <a:p>
            <a:r>
              <a:rPr lang="en-US" b="1" dirty="0"/>
              <a:t>NEXT GENERATION CRISPR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A277237-F8C5-D498-4751-B168D6109E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8691" y="853167"/>
            <a:ext cx="9841230" cy="4523014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Why New Systems?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Developed to improve 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precision, safety, and versatility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beyond CRISPR-Cas9.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Cas12a (Cpf1)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Uses a single RNA, produces 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sticky DNA ends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, and has a smaller size for improved delivery.</a:t>
            </a:r>
            <a:b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i="1" dirty="0">
                <a:latin typeface="Calibri" panose="020F0502020204030204" pitchFamily="34" charset="0"/>
                <a:cs typeface="Calibri" panose="020F0502020204030204" pitchFamily="34" charset="0"/>
              </a:rPr>
              <a:t>Limitation: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Off-target effects still occur.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Cas13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Targets 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RNA instead of DNA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, enabling temporary gene regulation and antiviral applications.</a:t>
            </a:r>
            <a:b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i="1" dirty="0">
                <a:latin typeface="Calibri" panose="020F0502020204030204" pitchFamily="34" charset="0"/>
                <a:cs typeface="Calibri" panose="020F0502020204030204" pitchFamily="34" charset="0"/>
              </a:rPr>
              <a:t>Limitation: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Effects are not permanent.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Base Editing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Enables 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single-base substitutions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without creating DNA double-strand breaks, improving safety.</a:t>
            </a:r>
            <a:b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i="1" dirty="0">
                <a:latin typeface="Calibri" panose="020F0502020204030204" pitchFamily="34" charset="0"/>
                <a:cs typeface="Calibri" panose="020F0502020204030204" pitchFamily="34" charset="0"/>
              </a:rPr>
              <a:t>Limitation: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Limited to specific base conversions.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Prime Editing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Functions as a 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“search-and-replace”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system for DNA, allowing precise insertions, deletions, and substitutions with minimal off-target effects.</a:t>
            </a:r>
            <a:b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i="1" dirty="0">
                <a:latin typeface="Calibri" panose="020F0502020204030204" pitchFamily="34" charset="0"/>
                <a:cs typeface="Calibri" panose="020F0502020204030204" pitchFamily="34" charset="0"/>
              </a:rPr>
              <a:t>Limitation: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Technically complex and currently less efficient.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50640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81C871C-3E4A-BE6A-3B55-C2FCA4461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002" y="-46836"/>
            <a:ext cx="7041395" cy="1450757"/>
          </a:xfrm>
        </p:spPr>
        <p:txBody>
          <a:bodyPr/>
          <a:lstStyle/>
          <a:p>
            <a:r>
              <a:rPr lang="en-US" b="1" dirty="0"/>
              <a:t>FUTURE ASPECTS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163B0E2-32BD-4B78-D342-AB7D58DF78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71551"/>
            <a:ext cx="7443788" cy="4086224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Medicine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Personalized gene therapies for cancer &amp; genetic disorders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RNA-based therapies (Cas13)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Potential treatment of currently incurable diseases</a:t>
            </a:r>
          </a:p>
          <a:p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Agriculture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Disease- and climate-resistant crops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Reduced pesticide use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Faster crop improvement than traditional breeding</a:t>
            </a:r>
          </a:p>
          <a:p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Biotechnology &amp; Research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Advanced disease models &amp; drug discovery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Functional genomics &amp; synthetic biology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In vivo gene-editing therapies for common diseases</a:t>
            </a:r>
          </a:p>
          <a:p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Ethical &amp; Regulatory Future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Stronger global regulations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Focus on safe somatic cell editing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Public engagement &amp; transparency</a:t>
            </a:r>
          </a:p>
          <a:p>
            <a:pPr lvl="1"/>
            <a:endParaRPr lang="en-US" sz="2000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DC2B2521-B6C6-CAF7-BA7A-9711EB78A7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6444" y="1562219"/>
            <a:ext cx="5085556" cy="4513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6857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13FFF2A-11AB-ADC5-B9E7-BE175D064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58" y="296562"/>
            <a:ext cx="10058400" cy="1450757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Recent Real Examples in CRISPR Drug Discovery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A00911C-CFBD-F142-9232-899FFCD3E9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029" y="1554345"/>
            <a:ext cx="10697028" cy="4281714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Gene Therapy for Blood Disorders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b="1" dirty="0" err="1">
                <a:latin typeface="Calibri" panose="020F0502020204030204" pitchFamily="34" charset="0"/>
                <a:cs typeface="Calibri" panose="020F0502020204030204" pitchFamily="34" charset="0"/>
              </a:rPr>
              <a:t>Casgevy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 (Exa-cel)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– First approved CRISPR therapy for 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sickle cell disease &amp; </a:t>
            </a:r>
            <a:r>
              <a:rPr lang="el-GR" sz="2400" b="1" dirty="0">
                <a:latin typeface="Calibri" panose="020F0502020204030204" pitchFamily="34" charset="0"/>
                <a:cs typeface="Calibri" panose="020F0502020204030204" pitchFamily="34" charset="0"/>
              </a:rPr>
              <a:t>β-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thalassemia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→ Edits patient blood stem cells to restore normal hemoglobin</a:t>
            </a:r>
          </a:p>
          <a:p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In-Body CRISPR for Cholesterol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ANGPTL3 Gene Editing (Liver)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→ One-time treatment reduced LDL cholesterol &amp; triglycerides by ~50% in early trials</a:t>
            </a:r>
          </a:p>
          <a:p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Other Promising Applications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Infectious Diseases: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CRISPR strategies to remove viral DNA (e.g., HIV)</a:t>
            </a:r>
          </a:p>
          <a:p>
            <a:pPr lvl="1"/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Cancer: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CRISPR-engineered CAR-T cells &amp; immune cell editing for enhanced tumor targeting</a:t>
            </a:r>
          </a:p>
        </p:txBody>
      </p:sp>
    </p:spTree>
    <p:extLst>
      <p:ext uri="{BB962C8B-B14F-4D97-AF65-F5344CB8AC3E}">
        <p14:creationId xmlns:p14="http://schemas.microsoft.com/office/powerpoint/2010/main" val="857247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D31F2E8-43BE-520A-9503-16E97FB22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1140680-5D39-AA39-32D2-981181290A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8990" y="1505857"/>
            <a:ext cx="11307837" cy="4927600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[1] </a:t>
            </a:r>
            <a:r>
              <a:rPr lang="en-GB" sz="4000" dirty="0">
                <a:latin typeface="Calibri" panose="020F0502020204030204" pitchFamily="34" charset="0"/>
                <a:cs typeface="Calibri" panose="020F0502020204030204" pitchFamily="34" charset="0"/>
              </a:rPr>
              <a:t>Jing, X. (2024). A Review of Research on CRISPR/Cas9 Gene Editing Technology in Disease Treatment. </a:t>
            </a:r>
            <a:r>
              <a:rPr lang="en-GB" sz="4000" i="1" dirty="0">
                <a:latin typeface="Calibri" panose="020F0502020204030204" pitchFamily="34" charset="0"/>
                <a:cs typeface="Calibri" panose="020F0502020204030204" pitchFamily="34" charset="0"/>
              </a:rPr>
              <a:t>Academic Journal of Science and Technology</a:t>
            </a:r>
            <a:r>
              <a:rPr lang="en-GB" sz="40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sz="4000" i="1" dirty="0">
                <a:latin typeface="Calibri" panose="020F0502020204030204" pitchFamily="34" charset="0"/>
                <a:cs typeface="Calibri" panose="020F0502020204030204" pitchFamily="34" charset="0"/>
              </a:rPr>
              <a:t>13</a:t>
            </a:r>
            <a:r>
              <a:rPr lang="en-GB" sz="4000" dirty="0">
                <a:latin typeface="Calibri" panose="020F0502020204030204" pitchFamily="34" charset="0"/>
                <a:cs typeface="Calibri" panose="020F0502020204030204" pitchFamily="34" charset="0"/>
              </a:rPr>
              <a:t>(3), 132-134.</a:t>
            </a:r>
          </a:p>
          <a:p>
            <a:pPr marL="0" indent="0">
              <a:buNone/>
            </a:pPr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[2] J. Zhao, H. Fang, D. Zhang, Expanding application of CRISPR-Cas9 system in microorganisms, Synthetic and systems biotechnology, 5 (2020) 269-276.</a:t>
            </a:r>
            <a:endParaRPr lang="en-GB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[3] A. Barman, B. Deb, S. Chakraborty, A glance at genome editing with CRISPR–Cas9 technology, Current genetics, 66 (2020) 447-462.</a:t>
            </a:r>
            <a:endParaRPr lang="en-GB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[4] P. Ferreira, A.B. </a:t>
            </a:r>
            <a:r>
              <a:rPr lang="en-US" sz="4000" dirty="0" err="1">
                <a:latin typeface="Calibri" panose="020F0502020204030204" pitchFamily="34" charset="0"/>
                <a:cs typeface="Calibri" panose="020F0502020204030204" pitchFamily="34" charset="0"/>
              </a:rPr>
              <a:t>Choupina</a:t>
            </a:r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, CRISPR/Cas9 a simple, inexpensive and effective technique for gene editing, Molecular Biology Reports, 49 (2022) 7079-7086.</a:t>
            </a:r>
            <a:endParaRPr lang="en-GB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[5] E. Janik, M. Niemcewicz, M. </a:t>
            </a:r>
            <a:r>
              <a:rPr lang="en-US" sz="4000" dirty="0" err="1">
                <a:latin typeface="Calibri" panose="020F0502020204030204" pitchFamily="34" charset="0"/>
                <a:cs typeface="Calibri" panose="020F0502020204030204" pitchFamily="34" charset="0"/>
              </a:rPr>
              <a:t>Ceremuga</a:t>
            </a:r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, L. </a:t>
            </a:r>
            <a:r>
              <a:rPr lang="en-US" sz="4000" dirty="0" err="1">
                <a:latin typeface="Calibri" panose="020F0502020204030204" pitchFamily="34" charset="0"/>
                <a:cs typeface="Calibri" panose="020F0502020204030204" pitchFamily="34" charset="0"/>
              </a:rPr>
              <a:t>Krzowski</a:t>
            </a:r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, J. </a:t>
            </a:r>
            <a:r>
              <a:rPr lang="en-US" sz="4000" dirty="0" err="1">
                <a:latin typeface="Calibri" panose="020F0502020204030204" pitchFamily="34" charset="0"/>
                <a:cs typeface="Calibri" panose="020F0502020204030204" pitchFamily="34" charset="0"/>
              </a:rPr>
              <a:t>Saluk</a:t>
            </a:r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-Bijak, M. Bijak, Various aspects of a gene editing system—</a:t>
            </a:r>
            <a:r>
              <a:rPr lang="en-US" sz="4000" dirty="0" err="1">
                <a:latin typeface="Calibri" panose="020F0502020204030204" pitchFamily="34" charset="0"/>
                <a:cs typeface="Calibri" panose="020F0502020204030204" pitchFamily="34" charset="0"/>
              </a:rPr>
              <a:t>crispr</a:t>
            </a:r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–cas9, International journal of molecular sciences, 21 (2020) 9604.</a:t>
            </a:r>
            <a:endParaRPr lang="en-GB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[6] F. Zhang, Y. Wen, X. Guo, CRISPR/Cas9 for genome editing: progress, implications and challenges, Human molecular genetics, 23 (2014) R40-R46.</a:t>
            </a:r>
            <a:endParaRPr lang="en-GB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[7] S.T. Campbell, Approval of the First CRISPR-Cas9 Gene Editing Therapy for Sickle Cell Disease, Oxford University Press US, 2024.</a:t>
            </a:r>
            <a:endParaRPr lang="en-GB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[8] Z. Zhang, X. Bao, C.-P. Lin, Progress and prospects of gene editing in pluripotent stem cells, Biomedicines, 11 (2023) 2168.</a:t>
            </a:r>
            <a:endParaRPr lang="en-GB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[9] H.T. Greely, </a:t>
            </a:r>
            <a:r>
              <a:rPr lang="en-US" sz="4000" dirty="0" err="1">
                <a:latin typeface="Calibri" panose="020F0502020204030204" pitchFamily="34" charset="0"/>
                <a:cs typeface="Calibri" panose="020F0502020204030204" pitchFamily="34" charset="0"/>
              </a:rPr>
              <a:t>CRISPR’d</a:t>
            </a:r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 babies: human germline genome editing in the ‘He Jiankui affair’, Journal of Law and the Biosciences, 6 (2019) 111-183.</a:t>
            </a:r>
            <a:endParaRPr lang="en-GB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[10] K. Nandal, J. </a:t>
            </a:r>
            <a:r>
              <a:rPr lang="en-US" sz="4000" dirty="0" err="1">
                <a:latin typeface="Calibri" panose="020F0502020204030204" pitchFamily="34" charset="0"/>
                <a:cs typeface="Calibri" panose="020F0502020204030204" pitchFamily="34" charset="0"/>
              </a:rPr>
              <a:t>Rathee</a:t>
            </a:r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, P. Dahiya, M. Kaur, Advances and applications of crispr-cas9 technology in medicine and agriculture, sciences (Wang et al., 2016; Riordan et al., 2015), 169  117.</a:t>
            </a:r>
            <a:endParaRPr lang="en-GB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dirty="0" smtClean="0"/>
              <a:t>[11]</a:t>
            </a:r>
            <a:r>
              <a:rPr lang="en-US" dirty="0" smtClean="0"/>
              <a:t>Lu</a:t>
            </a:r>
            <a:r>
              <a:rPr lang="en-US" dirty="0"/>
              <a:t>, Y. et al. Safety and feasibility of CRISPR-edited T cells in patients with refractory non-small-cell lung cancer. Nat. Med. 26, 732–740 (2020)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[</a:t>
            </a:r>
            <a:r>
              <a:rPr lang="en-US" dirty="0"/>
              <a:t>12] </a:t>
            </a:r>
            <a:r>
              <a:rPr lang="en-US" dirty="0" err="1"/>
              <a:t>Doudna</a:t>
            </a:r>
            <a:r>
              <a:rPr lang="en-US" dirty="0"/>
              <a:t>, J. A. The promise and challenge of therapeutic genome editing. Nature 578, 229–236 (2020).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6575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95E9177-94A7-9276-1CC4-C44FE1BB69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50444" y="971210"/>
            <a:ext cx="5091112" cy="4586628"/>
          </a:xfrm>
        </p:spPr>
        <p:txBody>
          <a:bodyPr/>
          <a:lstStyle/>
          <a:p>
            <a:pPr algn="l"/>
            <a:r>
              <a:rPr lang="en-US" dirty="0"/>
              <a:t>		ANY QUERIES?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		THANKYOU!</a:t>
            </a:r>
          </a:p>
        </p:txBody>
      </p:sp>
    </p:spTree>
    <p:extLst>
      <p:ext uri="{BB962C8B-B14F-4D97-AF65-F5344CB8AC3E}">
        <p14:creationId xmlns:p14="http://schemas.microsoft.com/office/powerpoint/2010/main" val="2881995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F4F4D41-822D-40F2-A7AC-E4E6CB36CA7A}">
  <ds:schemaRefs>
    <ds:schemaRef ds:uri="71af3243-3dd4-4a8d-8c0d-dd76da1f02a5"/>
    <ds:schemaRef ds:uri="http://schemas.microsoft.com/office/2006/metadata/properties"/>
    <ds:schemaRef ds:uri="http://purl.org/dc/terms/"/>
    <ds:schemaRef ds:uri="16c05727-aa75-4e4a-9b5f-8a80a1165891"/>
    <ds:schemaRef ds:uri="http://schemas.microsoft.com/office/2006/documentManagement/types"/>
    <ds:schemaRef ds:uri="230e9df3-be65-4c73-a93b-d1236ebd677e"/>
    <ds:schemaRef ds:uri="http://schemas.microsoft.com/sharepoint/v3"/>
    <ds:schemaRef ds:uri="http://www.w3.org/XML/1998/namespace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1540</TotalTime>
  <Words>2691</Words>
  <Application>Microsoft Office PowerPoint</Application>
  <PresentationFormat>Widescreen</PresentationFormat>
  <Paragraphs>378</Paragraphs>
  <Slides>37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37</vt:i4>
      </vt:variant>
    </vt:vector>
  </HeadingPairs>
  <TitlesOfParts>
    <vt:vector size="45" baseType="lpstr">
      <vt:lpstr>Arial</vt:lpstr>
      <vt:lpstr>Bookman Old Style</vt:lpstr>
      <vt:lpstr>Calibri</vt:lpstr>
      <vt:lpstr>Franklin Gothic Book</vt:lpstr>
      <vt:lpstr>Roboto</vt:lpstr>
      <vt:lpstr>Wingdings</vt:lpstr>
      <vt:lpstr>Office Theme</vt:lpstr>
      <vt:lpstr>Custom</vt:lpstr>
      <vt:lpstr>PowerPoint Presentation</vt:lpstr>
      <vt:lpstr>PowerPoint Presentation</vt:lpstr>
      <vt:lpstr>INTRODUCTION:</vt:lpstr>
      <vt:lpstr>HISTORY &amp; DISCOVERY</vt:lpstr>
      <vt:lpstr>PowerPoint Presentation</vt:lpstr>
      <vt:lpstr>PRINCIPLE:</vt:lpstr>
      <vt:lpstr>STRUCTURE</vt:lpstr>
      <vt:lpstr>Cas9 Protein and Guide RNA Complex</vt:lpstr>
      <vt:lpstr>Structural Domains and Classification</vt:lpstr>
      <vt:lpstr>MECHANISM</vt:lpstr>
      <vt:lpstr>1. Adaptation (Spacer Acquisition)</vt:lpstr>
      <vt:lpstr>2. Expression &amp; Maturation</vt:lpstr>
      <vt:lpstr>3.Interference (Target Cleavage):</vt:lpstr>
      <vt:lpstr>PowerPoint Presentation</vt:lpstr>
      <vt:lpstr>DNA Double-Strand Break (DSB) Repair in CRISPR–Cas9 </vt:lpstr>
      <vt:lpstr>1. Non-Homologous End Joining (NHEJ) </vt:lpstr>
      <vt:lpstr>2. Homology-Directed Repair (HDR) </vt:lpstr>
      <vt:lpstr>CRISPR/CAS9 Delivery</vt:lpstr>
      <vt:lpstr>CRISPR/CAS9 Delivery Components</vt:lpstr>
      <vt:lpstr>PowerPoint Presentation</vt:lpstr>
      <vt:lpstr>DELIVERY METHODS</vt:lpstr>
      <vt:lpstr>CRISPR Cas9 Delivery methods</vt:lpstr>
      <vt:lpstr>CLINICAL TRIALS</vt:lpstr>
      <vt:lpstr>PowerPoint Presentation</vt:lpstr>
      <vt:lpstr>CLINICAL TRIALS CASES:</vt:lpstr>
      <vt:lpstr>PowerPoint Presentation</vt:lpstr>
      <vt:lpstr>PowerPoint Presentation</vt:lpstr>
      <vt:lpstr>PowerPoint Presentation</vt:lpstr>
      <vt:lpstr>PowerPoint Presentation</vt:lpstr>
      <vt:lpstr>APPLICATIONS</vt:lpstr>
      <vt:lpstr>LIMITATIONS &amp; CHALLENGES</vt:lpstr>
      <vt:lpstr>ELSI(Ethical, legal &amp; social issues)</vt:lpstr>
      <vt:lpstr>NEXT GENERATION CRISPR SYSTEM</vt:lpstr>
      <vt:lpstr>FUTURE ASPECTS</vt:lpstr>
      <vt:lpstr>Recent Real Examples in CRISPR Drug Discovery </vt:lpstr>
      <vt:lpstr>REFERENCES</vt:lpstr>
      <vt:lpstr>  ANY QUERIES?    THANKYOU!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Abu Bakar</dc:creator>
  <cp:lastModifiedBy>786</cp:lastModifiedBy>
  <cp:revision>28</cp:revision>
  <dcterms:created xsi:type="dcterms:W3CDTF">2025-12-18T16:16:28Z</dcterms:created>
  <dcterms:modified xsi:type="dcterms:W3CDTF">2025-12-23T19:27:38Z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