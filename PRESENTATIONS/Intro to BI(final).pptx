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80" r:id="rId2"/>
    <p:sldId id="257" r:id="rId3"/>
    <p:sldId id="258" r:id="rId4"/>
    <p:sldId id="259" r:id="rId5"/>
    <p:sldId id="260" r:id="rId6"/>
    <p:sldId id="262" r:id="rId7"/>
    <p:sldId id="279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8" r:id="rId18"/>
    <p:sldId id="274" r:id="rId19"/>
    <p:sldId id="277" r:id="rId20"/>
    <p:sldId id="281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3EBEA0-5302-40D1-9B9B-816121C879C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D9F19-0764-4123-9161-1CAF41B4F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54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biom14111447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mdpi.com/journal/biomolecules/sections/bsb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Visualization Methods for DNA Sequences: A Review and Prospects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 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 Li</a:t>
            </a:r>
          </a:p>
          <a:p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1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Mengshan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</a:t>
            </a:r>
          </a:p>
          <a:p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1,*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Yan Wu</a:t>
            </a:r>
          </a:p>
          <a:p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Yelin Li</a:t>
            </a:r>
          </a:p>
          <a:p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1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School of Physics and Electronic Information, Gannan Normal University, Ganzhou 341000, China</a:t>
            </a:r>
          </a:p>
          <a:p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School of Mathematics and Computer Science, Gannan Normal University, Ganzhou 341000, China</a:t>
            </a:r>
          </a:p>
          <a:p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 to whom correspondence should be addressed.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Biomolecules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(11), 1447;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https://doi.org/10.3390/biom14111447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received: 17 October 2024 / Revised: 8 November 2024 / Accepted: 12 November 2024 / Published: 14 November 2024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(This article belongs to the Section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Bioinformatics and Systems Biology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D9F19-0764-4123-9161-1CAF41B4FDF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4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52EBB-6AC1-650D-68E3-8DD2BD636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635B1-1448-806F-6A02-58B908FC4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CA655-C248-F9CF-4B49-716AAD085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F9C6-BD13-4F26-A03F-4D598762346A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66229-FB41-DCD3-D084-0518E0284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378C4-A4E0-450D-B8FA-D5A120B01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5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40D6B-6BF3-F749-30DA-CF3384533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56F72-E6F5-516A-ED63-8F8C41AD2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0F10C-65F0-FFD1-97E5-7AA0ECA2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5E4A9-2F3B-430B-8361-B702C58EE285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E612F-931E-F0D8-28B5-80610D206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F5B63-BB7F-16D9-C03A-BB2184DF6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34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995E-D007-3752-B52A-A3DCCDDBF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68301-70DE-3221-E132-3E528873B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A7BCE-DFC9-6729-A510-CA8C9CE5A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8C4EA-2B1D-448D-A6F1-484F381EAFA9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56464-CDC2-D987-1151-4DFBE2F3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BE947-916A-FB35-496A-4A8EBA2A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09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0FCD9-F57E-348C-278F-FC872865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5870-88EA-C85F-19C0-B793ECC6D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39529-E055-23B0-878E-8E3206FE4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E3304-2946-C12F-BEBD-63CC40CE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EEA28-7037-4F8A-9619-00E52F3B5F28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BEA1E-E363-269F-8601-49E6F99F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FDAC2-F4EF-FA42-1553-F3658617E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83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7A81D-6703-26DB-FB70-9A02A3700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09E2A-A358-1851-4271-2192C3B3D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804E7-655D-96E0-6977-3259D9288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5E1D5E-005C-D632-2D36-5E1E6FF54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7D95E-493F-0963-5467-D41A815FD2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888841-AD05-97BB-5D28-C9901DD5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4626-B611-4CA7-B314-40470C67DBF1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10663A-798F-7F3F-D7B6-ED3EBAE8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E07B16-1721-E901-7C0A-2662508C9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37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32EC1-0727-C07D-74D4-5E54419C3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40F779-A005-2341-DC49-250C7A75B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202BF-DA2F-47F3-87B2-9885F1BFF94D}" type="datetime1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C7E859-8C67-DEF9-1CB7-75114C70A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FE31E-F360-3350-232B-F4C1B2D38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90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4FF13-72E0-6D62-EE87-BE10CED1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49FBD-604A-4760-A73C-0B2413806629}" type="datetime1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76B9B6-1A71-1C11-3DC9-88266C7F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E9313-8F26-0F2D-DA40-3005AA26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97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0C56A-9D4E-D8C6-2313-DE28E3FA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9B71B-0095-3492-DCF0-F0134BE6D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4BE0E-6C46-5F1F-4789-7C79AD922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D68EC-D943-9FF7-F85A-D56BBC1E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C383-02B1-486B-B1BA-EFBB437D8FC3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042C7-4F00-9923-7D26-2C514D09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C28D4-6AB0-E934-F46D-83F99EAA9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00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E308-0EC1-0B57-7842-D41236CF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ED84B6-59B7-C893-A514-22D83701D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DE465-C188-5432-0036-F63F6946B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D4618-44CB-A77C-7A0C-D9D1E578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C86D-03AC-4B95-9D4E-D4A650258570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CEA62-5A37-C0C5-E80B-0EFD534BE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179C9-2F48-B822-0201-9693D23E3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485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A03F1-FFBA-5E3B-18A5-F2EE17A71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ECE466-6AA4-09E1-DE4D-1DF6F153F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38A5E-F9F5-583D-CE56-356854CF3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8563E-DD2D-4648-95A8-5FEA429F9001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AAFE0-7D4F-A802-D368-1BBC3364F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151EA-2B23-ED3E-EC86-CFF3D876E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89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37FEFD-F547-2C8D-9E36-7E1EA29F13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B98A6-D419-F362-4151-93D66B1EE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B2710-2830-4FA5-D344-AEEFF2CBA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51D6-E3B2-4A30-A510-58CBDD91EF6C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BC7D6-90AC-5553-F329-9B2FCFC4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2C9E2-06DA-24FE-D41D-09FD4653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7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6070B9-F8D1-F90F-D926-C906AFD83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AB6B7-8C5C-6498-B0AC-3C7EF746C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FBF0C-C5B6-C917-2FDB-21421EE5E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078BE-7124-4C7B-9477-1ECB0F39537A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8757D-31D9-E551-09DD-E41D1B393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1002A-1279-6CD2-06A1-AB7CFC11D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CB82F-0309-4EB5-B5C1-7841102FA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84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unber.sbs.man.ac.uk/dbbrowser/OWL/" TargetMode="External"/><Relationship Id="rId13" Type="http://schemas.openxmlformats.org/officeDocument/2006/relationships/hyperlink" Target="http://www.ncbi.nlm.nih.gov/COG/" TargetMode="External"/><Relationship Id="rId18" Type="http://schemas.openxmlformats.org/officeDocument/2006/relationships/hyperlink" Target="http://ndbserver.rutgers.edu/" TargetMode="External"/><Relationship Id="rId3" Type="http://schemas.openxmlformats.org/officeDocument/2006/relationships/hyperlink" Target="http://www.expasy.org/sprot/" TargetMode="External"/><Relationship Id="rId7" Type="http://schemas.openxmlformats.org/officeDocument/2006/relationships/hyperlink" Target="http://www.ncbi.nlm.nih.gov/Entrez" TargetMode="External"/><Relationship Id="rId12" Type="http://schemas.openxmlformats.org/officeDocument/2006/relationships/hyperlink" Target="http://unber.sbs.man.ac.uk/dbbrowser/PRINTS/" TargetMode="External"/><Relationship Id="rId17" Type="http://schemas.openxmlformats.org/officeDocument/2006/relationships/hyperlink" Target="http://www.ebi.ac.uk/embl/" TargetMode="External"/><Relationship Id="rId2" Type="http://schemas.openxmlformats.org/officeDocument/2006/relationships/image" Target="../media/image1.png"/><Relationship Id="rId16" Type="http://schemas.openxmlformats.org/officeDocument/2006/relationships/hyperlink" Target="https://www.rscb.org/pdb/" TargetMode="External"/><Relationship Id="rId20" Type="http://schemas.openxmlformats.org/officeDocument/2006/relationships/hyperlink" Target="http://mcl1.nciirf.gov/hivdb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www.expasy.ch/srs5" TargetMode="External"/><Relationship Id="rId11" Type="http://schemas.openxmlformats.org/officeDocument/2006/relationships/hyperlink" Target="http://bioinfo.mbb.yale.edu/genome/" TargetMode="External"/><Relationship Id="rId5" Type="http://schemas.openxmlformats.org/officeDocument/2006/relationships/hyperlink" Target="https://pir.georgetown.edu/" TargetMode="External"/><Relationship Id="rId15" Type="http://schemas.openxmlformats.org/officeDocument/2006/relationships/hyperlink" Target="http://www.ncbi.nlm.nih.gov/Genbank/" TargetMode="External"/><Relationship Id="rId10" Type="http://schemas.openxmlformats.org/officeDocument/2006/relationships/hyperlink" Target="http://www.expasy.org/prosite/" TargetMode="External"/><Relationship Id="rId19" Type="http://schemas.openxmlformats.org/officeDocument/2006/relationships/hyperlink" Target="http://www.ddbj.nig.ac.jp/" TargetMode="External"/><Relationship Id="rId4" Type="http://schemas.openxmlformats.org/officeDocument/2006/relationships/hyperlink" Target="http://www.ebi.ac.uk/interpro/" TargetMode="External"/><Relationship Id="rId9" Type="http://schemas.openxmlformats.org/officeDocument/2006/relationships/hyperlink" Target="http://www.ncbi.nlm.nih.gov/entrez/query.fcgi?db=Genome" TargetMode="External"/><Relationship Id="rId14" Type="http://schemas.openxmlformats.org/officeDocument/2006/relationships/hyperlink" Target="http://www.sanger.ac.uk/Software/Pfa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">
            <a:extLst>
              <a:ext uri="{FF2B5EF4-FFF2-40B4-BE49-F238E27FC236}">
                <a16:creationId xmlns:a16="http://schemas.microsoft.com/office/drawing/2014/main" id="{EB1482B9-C900-2292-11F8-FA76A618E9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32664B-B41D-5750-F9A3-1F5A0A687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40" y="-260349"/>
            <a:ext cx="11227594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UNIVERSITY OF AGRICULTURE, FAISALBAD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20119-3607-271A-FC60-71A43C742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4599"/>
            <a:ext cx="10515600" cy="36623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</a:rPr>
              <a:t>PRESENTED BY:</a:t>
            </a:r>
          </a:p>
          <a:p>
            <a:pPr marL="457200" lvl="1" indent="0">
              <a:buNone/>
            </a:pPr>
            <a:r>
              <a:rPr lang="en-US" dirty="0"/>
              <a:t>Fatima Naveed (2023-ag-9736)</a:t>
            </a:r>
            <a:br>
              <a:rPr lang="en-US" dirty="0"/>
            </a:br>
            <a:r>
              <a:rPr lang="en-US" dirty="0"/>
              <a:t>Qurat-ul-Ain (2023-ag-9777)</a:t>
            </a:r>
            <a:br>
              <a:rPr lang="en-US" dirty="0"/>
            </a:br>
            <a:r>
              <a:rPr lang="en-US" dirty="0"/>
              <a:t>Aliza Fatima (2023-ag-9712)</a:t>
            </a:r>
            <a:br>
              <a:rPr lang="en-US" dirty="0"/>
            </a:br>
            <a:r>
              <a:rPr lang="en-US" dirty="0"/>
              <a:t>Malaika Shahzadi (2023-ag-9756)</a:t>
            </a:r>
            <a:br>
              <a:rPr lang="en-US" dirty="0"/>
            </a:br>
            <a:r>
              <a:rPr lang="en-US" dirty="0"/>
              <a:t>Ayesha Jahangir (2023-ag-9721)</a:t>
            </a:r>
            <a:br>
              <a:rPr lang="en-US" dirty="0"/>
            </a:br>
            <a:r>
              <a:rPr lang="en-US" dirty="0"/>
              <a:t>Esha Khan (2023-ag-9732)</a:t>
            </a:r>
            <a:br>
              <a:rPr lang="en-US" dirty="0"/>
            </a:br>
            <a:r>
              <a:rPr lang="en-US" dirty="0"/>
              <a:t>Ayesha Mustafa (2023-ag-9722)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</a:rPr>
              <a:t>PRESENTED TO: </a:t>
            </a:r>
          </a:p>
          <a:p>
            <a:pPr marL="0" indent="0">
              <a:buNone/>
            </a:pPr>
            <a:r>
              <a:rPr lang="en-US" dirty="0"/>
              <a:t>	MAM MISBAH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5D20BB1-E7A8-A3CB-9531-C187E3153EE6}"/>
              </a:ext>
            </a:extLst>
          </p:cNvPr>
          <p:cNvSpPr txBox="1">
            <a:spLocks/>
          </p:cNvSpPr>
          <p:nvPr/>
        </p:nvSpPr>
        <p:spPr>
          <a:xfrm>
            <a:off x="757237" y="1127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TITLE: INTRODUCTION TO BIOINFORMATICS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0B6F37-B17C-38FA-DAD9-BD9E90AA2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9881" y="0"/>
            <a:ext cx="1585913" cy="1585913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4B8AB3-0E37-DEA7-7E42-983143F22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14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1">
            <a:extLst>
              <a:ext uri="{FF2B5EF4-FFF2-40B4-BE49-F238E27FC236}">
                <a16:creationId xmlns:a16="http://schemas.microsoft.com/office/drawing/2014/main" id="{31EFB1A2-1185-44E9-BCEA-5AAD8C4FED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36523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158F50-2EDA-2A14-2C96-BCE6D35F6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CF8BD6-C24B-1F52-1ACD-627B437F51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49" r="-2" b="-2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69010-CD5D-20BD-6B3D-E89EF01A9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716" y="2551176"/>
            <a:ext cx="6912723" cy="37869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>
                    <a:lumMod val="75000"/>
                  </a:schemeClr>
                </a:solidFill>
              </a:rPr>
              <a:t>SECTION 1: </a:t>
            </a:r>
            <a:r>
              <a:rPr lang="en-US" sz="1700" dirty="0"/>
              <a:t>FROM BIOLOGICAL DATA TO INTELLIGENT DISCOVERY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accent2">
                    <a:lumMod val="75000"/>
                  </a:schemeClr>
                </a:solidFill>
              </a:rPr>
              <a:t>SECTION 2: </a:t>
            </a:r>
            <a:r>
              <a:rPr lang="en-US" sz="1700" dirty="0"/>
              <a:t>BIOLOGICAL INFORMATION SYSTEM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accent2">
                    <a:lumMod val="75000"/>
                  </a:schemeClr>
                </a:solidFill>
              </a:rPr>
              <a:t>SECTION 3: </a:t>
            </a:r>
            <a:r>
              <a:rPr lang="en-US" sz="1700" dirty="0"/>
              <a:t>BIOLOGICAL DATA MANAGEMENT 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accent2">
                    <a:lumMod val="75000"/>
                  </a:schemeClr>
                </a:solidFill>
              </a:rPr>
              <a:t>SECTION 4: </a:t>
            </a:r>
            <a:r>
              <a:rPr lang="en-US" sz="1700" dirty="0"/>
              <a:t>SEQUENCE ANALYSIS &amp; EVOLUTION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accent2">
                    <a:lumMod val="75000"/>
                  </a:schemeClr>
                </a:solidFill>
              </a:rPr>
              <a:t>SECTION 5: </a:t>
            </a:r>
            <a:r>
              <a:rPr lang="en-US" sz="1700" dirty="0"/>
              <a:t>GENOMICS, EXPRESSION &amp; PROTEOMICS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accent2">
                    <a:lumMod val="75000"/>
                  </a:schemeClr>
                </a:solidFill>
              </a:rPr>
              <a:t>SECTION 6: </a:t>
            </a:r>
            <a:r>
              <a:rPr lang="en-US" sz="1700" dirty="0"/>
              <a:t>MODERN APPLICATIONS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accent2">
                    <a:lumMod val="75000"/>
                  </a:schemeClr>
                </a:solidFill>
              </a:rPr>
              <a:t>SECTION 7: </a:t>
            </a:r>
            <a:r>
              <a:rPr lang="fr-FR" sz="1700" dirty="0"/>
              <a:t>INTERNET &amp; FUTURE TECHNOLOGIES</a:t>
            </a:r>
            <a:endParaRPr lang="en-US" sz="1700" dirty="0"/>
          </a:p>
          <a:p>
            <a:endParaRPr lang="en-US" sz="17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3289752-BF89-0CA4-FFCE-8B57FDD3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8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">
            <a:extLst>
              <a:ext uri="{FF2B5EF4-FFF2-40B4-BE49-F238E27FC236}">
                <a16:creationId xmlns:a16="http://schemas.microsoft.com/office/drawing/2014/main" id="{2E371180-AC7C-644F-A291-6AD660FC23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FEB5CF-CC2A-E9B3-F6DD-583F8928A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249"/>
            <a:ext cx="12192000" cy="809626"/>
          </a:xfrm>
        </p:spPr>
        <p:txBody>
          <a:bodyPr>
            <a:noAutofit/>
          </a:bodyPr>
          <a:lstStyle/>
          <a:p>
            <a:r>
              <a:rPr lang="en-US" sz="3200" b="1" dirty="0"/>
              <a:t>SECTION 1: FROM BIOLOGICAL DATA TO INTELLIGENT DISCOVERY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128FC-A184-6DDD-8255-AE211E345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320338" cy="187483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Modern biology generates enormous amounts of data.</a:t>
            </a:r>
          </a:p>
          <a:p>
            <a:r>
              <a:rPr lang="en-US" dirty="0"/>
              <a:t>Manual analysis is no longer sufficient.</a:t>
            </a:r>
          </a:p>
          <a:p>
            <a:r>
              <a:rPr lang="en-US" dirty="0"/>
              <a:t>Computational tools became essential for biological research.</a:t>
            </a:r>
          </a:p>
          <a:p>
            <a:r>
              <a:rPr lang="en-US" dirty="0"/>
              <a:t>Bioinformatics bridges biology with computing and data science.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B3E3AC1-8687-3720-3A9A-64A56720AE8D}"/>
              </a:ext>
            </a:extLst>
          </p:cNvPr>
          <p:cNvSpPr txBox="1">
            <a:spLocks/>
          </p:cNvSpPr>
          <p:nvPr/>
        </p:nvSpPr>
        <p:spPr>
          <a:xfrm>
            <a:off x="519112" y="7024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Why Bioinformatics Became Necessary?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7E17EC3-8AD8-F673-5D3E-4AEE48E69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531778"/>
            <a:ext cx="12192000" cy="325173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DEA5C9-930F-5AFB-91B8-27FCE52F5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40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>
            <a:extLst>
              <a:ext uri="{FF2B5EF4-FFF2-40B4-BE49-F238E27FC236}">
                <a16:creationId xmlns:a16="http://schemas.microsoft.com/office/drawing/2014/main" id="{BA785109-DBB8-884B-1906-F34042A9A7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F106FF-3AB3-6762-8B35-E69C06528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What Is Bioinformatics?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2DD9F-0B85-A359-9E94-B06825067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928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Bioinformatics is an interdisciplinary field that applies computational methods, statistics, and information technology to store, analyze, interpret, and visualize biological data.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Main Objectives</a:t>
            </a:r>
          </a:p>
          <a:p>
            <a:r>
              <a:rPr lang="en-US" dirty="0"/>
              <a:t>Biological data storage</a:t>
            </a:r>
          </a:p>
          <a:p>
            <a:r>
              <a:rPr lang="en-US" dirty="0"/>
              <a:t>Sequence analysis</a:t>
            </a:r>
          </a:p>
          <a:p>
            <a:r>
              <a:rPr lang="en-US" dirty="0"/>
              <a:t>Structure prediction</a:t>
            </a:r>
          </a:p>
          <a:p>
            <a:r>
              <a:rPr lang="en-US" dirty="0"/>
              <a:t>Functional analysis</a:t>
            </a:r>
          </a:p>
          <a:p>
            <a:r>
              <a:rPr lang="en-US" dirty="0"/>
              <a:t>Biological visualization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D4F800-A67B-0802-FF3B-DDE352B15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787" y="3138487"/>
            <a:ext cx="3990213" cy="361791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CE975-A9F9-3DBA-906D-131069DAB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455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">
            <a:extLst>
              <a:ext uri="{FF2B5EF4-FFF2-40B4-BE49-F238E27FC236}">
                <a16:creationId xmlns:a16="http://schemas.microsoft.com/office/drawing/2014/main" id="{91794B9C-D4DA-29B8-A7B7-21F90F301F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BBBD10-8CFF-A100-4D22-D65CCE523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1" y="-297657"/>
            <a:ext cx="11639551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SECTION 2: BIOLOGICAL INFORMATION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8D614-BA04-6EA9-4B82-BFC5271E8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057" y="1916113"/>
            <a:ext cx="4605031" cy="42608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Biological Information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Flow(CENTRAL DOGMA)</a:t>
            </a:r>
          </a:p>
          <a:p>
            <a:r>
              <a:rPr lang="en-US" dirty="0"/>
              <a:t>DNA → RNA → Protein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Key Concepts</a:t>
            </a:r>
          </a:p>
          <a:p>
            <a:r>
              <a:rPr lang="en-US" dirty="0"/>
              <a:t>DNA stores genetic information.</a:t>
            </a:r>
          </a:p>
          <a:p>
            <a:r>
              <a:rPr lang="en-US" dirty="0"/>
              <a:t>RNA transfers information.</a:t>
            </a:r>
          </a:p>
          <a:p>
            <a:r>
              <a:rPr lang="en-US" dirty="0"/>
              <a:t>Proteins perform cellular functions.</a:t>
            </a:r>
          </a:p>
          <a:p>
            <a:r>
              <a:rPr lang="en-US" dirty="0"/>
              <a:t>Cellular activity occurs at multiple biological levels.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428E231-DD73-E2B8-FD49-CED4A1868481}"/>
              </a:ext>
            </a:extLst>
          </p:cNvPr>
          <p:cNvSpPr txBox="1">
            <a:spLocks/>
          </p:cNvSpPr>
          <p:nvPr/>
        </p:nvSpPr>
        <p:spPr>
          <a:xfrm>
            <a:off x="381000" y="681037"/>
            <a:ext cx="114299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/>
              <a:t>Information Molecule &amp; Information Flow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795F6E-67C2-8249-F0A0-A50117BA0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773" y="2353469"/>
            <a:ext cx="5663227" cy="33861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DAAE1E-E00B-8BDA-EBA5-8A0CA1EAFE2E}"/>
              </a:ext>
            </a:extLst>
          </p:cNvPr>
          <p:cNvSpPr txBox="1"/>
          <p:nvPr/>
        </p:nvSpPr>
        <p:spPr>
          <a:xfrm>
            <a:off x="8043863" y="5992297"/>
            <a:ext cx="2984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BIOLOGICAL ACTIVITY LEVELS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2D5C73-C235-AB96-7AE3-9211B0843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774" y="2382044"/>
            <a:ext cx="5481972" cy="3357563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D884EDC-783E-BCE9-3F37-A444BB3B9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42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">
            <a:extLst>
              <a:ext uri="{FF2B5EF4-FFF2-40B4-BE49-F238E27FC236}">
                <a16:creationId xmlns:a16="http://schemas.microsoft.com/office/drawing/2014/main" id="{6BEE1520-286D-13A9-06EC-EDD21E6754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73396-6B0E-88F0-36F3-8CDFBA152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SECTION 3: BIOLOGICAL DATA MANAGEMENT 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525900-DD70-8FCB-385D-DF6895A5B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12606"/>
            <a:ext cx="6709231" cy="45881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Why Databases Are Important</a:t>
            </a:r>
          </a:p>
          <a:p>
            <a:pPr marL="0" indent="0">
              <a:buNone/>
            </a:pPr>
            <a:r>
              <a:rPr lang="en-US" dirty="0"/>
              <a:t>    Biological databases organize, store, and retrieve massive amounts of genomic and proteomic information.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Major Databases</a:t>
            </a:r>
          </a:p>
          <a:p>
            <a:r>
              <a:rPr lang="en-US" dirty="0"/>
              <a:t>Relational Databases</a:t>
            </a:r>
          </a:p>
          <a:p>
            <a:r>
              <a:rPr lang="en-US" dirty="0"/>
              <a:t>Object-Oriented Databases</a:t>
            </a:r>
          </a:p>
          <a:p>
            <a:r>
              <a:rPr lang="en-US" dirty="0"/>
              <a:t>Nucleotide Databases</a:t>
            </a:r>
          </a:p>
          <a:p>
            <a:r>
              <a:rPr lang="en-US" dirty="0"/>
              <a:t>Structural Databases</a:t>
            </a:r>
          </a:p>
          <a:p>
            <a:r>
              <a:rPr lang="en-US" dirty="0"/>
              <a:t>Protein Databases</a:t>
            </a:r>
          </a:p>
          <a:p>
            <a:r>
              <a:rPr lang="en-US" dirty="0"/>
              <a:t>Literature Databases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585151E-74CE-76D7-2F10-B45DCA33C664}"/>
              </a:ext>
            </a:extLst>
          </p:cNvPr>
          <p:cNvSpPr txBox="1">
            <a:spLocks/>
          </p:cNvSpPr>
          <p:nvPr/>
        </p:nvSpPr>
        <p:spPr>
          <a:xfrm>
            <a:off x="647699" y="8175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/>
              <a:t>Biological Database &amp; Data Retrieval System </a:t>
            </a:r>
            <a:br>
              <a:rPr lang="en-US" sz="3000" b="1" dirty="0"/>
            </a:br>
            <a:endParaRPr lang="en-US" sz="30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8E48BE-29BD-7A78-AFCD-EA6F4D1AD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599" y="3001460"/>
            <a:ext cx="4672880" cy="310958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02CEB-ABFB-909C-4A0C-9CA03AF7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17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">
            <a:extLst>
              <a:ext uri="{FF2B5EF4-FFF2-40B4-BE49-F238E27FC236}">
                <a16:creationId xmlns:a16="http://schemas.microsoft.com/office/drawing/2014/main" id="{EE4C7E90-3C21-491C-DEFC-FCE509FFBC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44D3C5-B878-1429-8D94-7C0DFA907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0"/>
            <a:ext cx="9386888" cy="857249"/>
          </a:xfrm>
        </p:spPr>
        <p:txBody>
          <a:bodyPr>
            <a:normAutofit/>
          </a:bodyPr>
          <a:lstStyle/>
          <a:p>
            <a:r>
              <a:rPr lang="en-US" sz="3000" b="1" dirty="0"/>
              <a:t>Major Databases In Bioinformatics: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7FD7C9-7CDA-A5C2-219A-23CB82BAC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144045"/>
              </p:ext>
            </p:extLst>
          </p:nvPr>
        </p:nvGraphicFramePr>
        <p:xfrm>
          <a:off x="728662" y="857249"/>
          <a:ext cx="11058526" cy="5963851"/>
        </p:xfrm>
        <a:graphic>
          <a:graphicData uri="http://schemas.openxmlformats.org/drawingml/2006/table">
            <a:tbl>
              <a:tblPr firstRow="1" firstCol="1" bandRow="1"/>
              <a:tblGrid>
                <a:gridCol w="1530119">
                  <a:extLst>
                    <a:ext uri="{9D8B030D-6E8A-4147-A177-3AD203B41FA5}">
                      <a16:colId xmlns:a16="http://schemas.microsoft.com/office/drawing/2014/main" val="1134124289"/>
                    </a:ext>
                  </a:extLst>
                </a:gridCol>
                <a:gridCol w="3385339">
                  <a:extLst>
                    <a:ext uri="{9D8B030D-6E8A-4147-A177-3AD203B41FA5}">
                      <a16:colId xmlns:a16="http://schemas.microsoft.com/office/drawing/2014/main" val="3628518571"/>
                    </a:ext>
                  </a:extLst>
                </a:gridCol>
                <a:gridCol w="2005221">
                  <a:extLst>
                    <a:ext uri="{9D8B030D-6E8A-4147-A177-3AD203B41FA5}">
                      <a16:colId xmlns:a16="http://schemas.microsoft.com/office/drawing/2014/main" val="1428786414"/>
                    </a:ext>
                  </a:extLst>
                </a:gridCol>
                <a:gridCol w="4137847">
                  <a:extLst>
                    <a:ext uri="{9D8B030D-6E8A-4147-A177-3AD203B41FA5}">
                      <a16:colId xmlns:a16="http://schemas.microsoft.com/office/drawing/2014/main" val="2806492805"/>
                    </a:ext>
                  </a:extLst>
                </a:gridCol>
              </a:tblGrid>
              <a:tr h="3697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Database</a:t>
                      </a:r>
                      <a:endParaRPr lang="en-US" sz="900" b="1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Electronic address (URL)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Database</a:t>
                      </a:r>
                      <a:endParaRPr lang="en-US" sz="900" b="1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Electronic address (URL)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600352"/>
                  </a:ext>
                </a:extLst>
              </a:tr>
              <a:tr h="369775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Protein sequence (primary)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Integrated databases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722909"/>
                  </a:ext>
                </a:extLst>
              </a:tr>
              <a:tr h="3697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SWISS-PROT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3"/>
                        </a:rPr>
                        <a:t>http://www.expasy.org/sprot/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InterPro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4"/>
                        </a:rPr>
                        <a:t>http://www.ebi.ac.uk/interpro/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376028"/>
                  </a:ext>
                </a:extLst>
              </a:tr>
              <a:tr h="3697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PIR-International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5"/>
                        </a:rPr>
                        <a:t>pir.georgetown.edu/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Sequence retrieval system (SRS)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6"/>
                        </a:rPr>
                        <a:t>http://www.expasy.ch/srs5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619962"/>
                  </a:ext>
                </a:extLst>
              </a:tr>
              <a:tr h="369775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Protein sequence (composite)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Entrez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7"/>
                        </a:rPr>
                        <a:t>http://www.ncbi.nlm.nih.gov/Entrez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036150"/>
                  </a:ext>
                </a:extLst>
              </a:tr>
              <a:tr h="3697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OWL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8"/>
                        </a:rPr>
                        <a:t>http://unber.sbs.man.ac.uk/dbbrowser/OWL/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Genome sequences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4280"/>
                  </a:ext>
                </a:extLst>
              </a:tr>
              <a:tr h="369775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Protein sequence (secondary)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Entrez genomes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9"/>
                        </a:rPr>
                        <a:t>http://www.ncbi.nlm.nih.gov/entrez/query.fcgi?db=Genome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52911"/>
                  </a:ext>
                </a:extLst>
              </a:tr>
              <a:tr h="3697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PROSITE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10"/>
                        </a:rPr>
                        <a:t>http://www.expasy.org/prosite/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GeneCensus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11"/>
                        </a:rPr>
                        <a:t>http://bioinfo.mbb.yale.edu/genome/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394607"/>
                  </a:ext>
                </a:extLst>
              </a:tr>
              <a:tr h="3697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PRINTS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12"/>
                        </a:rPr>
                        <a:t>http://unber.sbs.man.ac.uk/dbbrowser/PRINTS/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COGs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13"/>
                        </a:rPr>
                        <a:t>http://www.ncbi.nlm.nih.gov/COG/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853829"/>
                  </a:ext>
                </a:extLst>
              </a:tr>
              <a:tr h="6524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Pfam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 dirty="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14"/>
                        </a:rPr>
                        <a:t>http://www.sanger.ac.uk/Software/Pfam/</a:t>
                      </a:r>
                      <a:endParaRPr lang="en-US" sz="900" b="1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Nucleotide 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sequences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975786"/>
                  </a:ext>
                </a:extLst>
              </a:tr>
              <a:tr h="369775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Macromolecular structures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GenBank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15"/>
                        </a:rPr>
                        <a:t>http://www.ncbi.nlm.nih.gov/Genbank/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32513"/>
                  </a:ext>
                </a:extLst>
              </a:tr>
              <a:tr h="5306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Protein Data Bank (PDB)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16"/>
                        </a:rPr>
                        <a:t>www.rscb.org/pdb/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EMBL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17"/>
                        </a:rPr>
                        <a:t>http://www.ebi.ac.uk/embl/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556136"/>
                  </a:ext>
                </a:extLst>
              </a:tr>
              <a:tr h="5306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Nucleic Acids Database (NDB)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18"/>
                        </a:rPr>
                        <a:t>http://ndbserver.rutgers.edu/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DDBJ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19"/>
                        </a:rPr>
                        <a:t>http://www.ddbj.nig.ac.jp/</a:t>
                      </a:r>
                      <a:endParaRPr lang="en-US" sz="900" b="1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487347"/>
                  </a:ext>
                </a:extLst>
              </a:tr>
              <a:tr h="5306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HIV Protease Database</a:t>
                      </a:r>
                      <a:endParaRPr lang="en-US" sz="900" b="1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u="sng" kern="100" dirty="0">
                          <a:solidFill>
                            <a:srgbClr val="0563C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  <a:hlinkClick r:id="rId20"/>
                        </a:rPr>
                        <a:t>http://mcl1.nciirf.gov/hivdb/</a:t>
                      </a:r>
                      <a:endParaRPr lang="en-US" sz="900" b="1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4113" marB="5411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900" b="1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900" b="1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0883" marR="170883" marT="5221" marB="522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973362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512F-50C3-05FA-D45E-1A78D582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28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>
            <a:extLst>
              <a:ext uri="{FF2B5EF4-FFF2-40B4-BE49-F238E27FC236}">
                <a16:creationId xmlns:a16="http://schemas.microsoft.com/office/drawing/2014/main" id="{21FEEF38-CA36-8792-D5BE-147AE4FA02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C256B0-ADF1-2BE4-C3D9-B59659C9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1" y="208756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Linux &amp; Computational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434D9-96F1-0208-28D1-998452902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98257" cy="4351338"/>
          </a:xfrm>
        </p:spPr>
        <p:txBody>
          <a:bodyPr/>
          <a:lstStyle/>
          <a:p>
            <a:r>
              <a:rPr lang="en-US" dirty="0"/>
              <a:t>Linux-based bioinformatics workflows</a:t>
            </a:r>
          </a:p>
          <a:p>
            <a:r>
              <a:rPr lang="en-US" dirty="0"/>
              <a:t>High-throughput data processing</a:t>
            </a:r>
          </a:p>
          <a:p>
            <a:r>
              <a:rPr lang="en-US" dirty="0"/>
              <a:t>Integrated biological servers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5DF76C-04D4-0E15-0970-181682389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943" y="1534319"/>
            <a:ext cx="6858000" cy="49339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BF126-6831-D441-55E2-DE616B6DC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75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>
            <a:extLst>
              <a:ext uri="{FF2B5EF4-FFF2-40B4-BE49-F238E27FC236}">
                <a16:creationId xmlns:a16="http://schemas.microsoft.com/office/drawing/2014/main" id="{8EBE3FE9-4C8E-C9ED-3B71-91278C4786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690036-D030-7E54-687A-D5F6D2C50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9380"/>
            <a:ext cx="10515600" cy="1054881"/>
          </a:xfrm>
        </p:spPr>
        <p:txBody>
          <a:bodyPr>
            <a:normAutofit/>
          </a:bodyPr>
          <a:lstStyle/>
          <a:p>
            <a:r>
              <a:rPr lang="en-US" sz="3200" b="1" dirty="0"/>
              <a:t>SECTION 4: SEQUENCE ANALYSIS &amp; EVOLUTION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9CA38-EEE6-4C95-239E-8609FAC03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76988" cy="46672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Sequence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  <a:r>
              <a:rPr lang="en-US" b="1" dirty="0"/>
              <a:t> </a:t>
            </a:r>
            <a:r>
              <a:rPr lang="en-US" dirty="0"/>
              <a:t>identifies similarities between DNA, RNA, or protein sequences.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Types of Alignment</a:t>
            </a:r>
          </a:p>
          <a:p>
            <a:r>
              <a:rPr lang="en-US" dirty="0"/>
              <a:t>Pairwise alignment</a:t>
            </a:r>
          </a:p>
          <a:p>
            <a:r>
              <a:rPr lang="en-US" dirty="0"/>
              <a:t>Multiple sequence alignment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Similarity Search Tools</a:t>
            </a:r>
          </a:p>
          <a:p>
            <a:r>
              <a:rPr lang="en-US" dirty="0"/>
              <a:t>BLAST</a:t>
            </a:r>
          </a:p>
          <a:p>
            <a:r>
              <a:rPr lang="en-US" dirty="0"/>
              <a:t>FASTA</a:t>
            </a:r>
          </a:p>
          <a:p>
            <a:r>
              <a:rPr lang="en-US" dirty="0"/>
              <a:t>PSI-BLAST</a:t>
            </a:r>
          </a:p>
          <a:p>
            <a:r>
              <a:rPr lang="en-US" dirty="0" err="1"/>
              <a:t>ClustalW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Importance</a:t>
            </a:r>
          </a:p>
          <a:p>
            <a:r>
              <a:rPr lang="en-US" dirty="0"/>
              <a:t>Detect homologous genes</a:t>
            </a:r>
          </a:p>
          <a:p>
            <a:r>
              <a:rPr lang="en-US" dirty="0"/>
              <a:t>Study mutations</a:t>
            </a:r>
          </a:p>
          <a:p>
            <a:r>
              <a:rPr lang="en-US" dirty="0"/>
              <a:t>Functional prediction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6FF50A-2200-5170-3B34-8E80417922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228"/>
          <a:stretch>
            <a:fillRect/>
          </a:stretch>
        </p:blipFill>
        <p:spPr>
          <a:xfrm>
            <a:off x="7470275" y="3692552"/>
            <a:ext cx="4721725" cy="248441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30823DA-923B-CC56-31D0-4F7014C271B2}"/>
              </a:ext>
            </a:extLst>
          </p:cNvPr>
          <p:cNvSpPr txBox="1">
            <a:spLocks/>
          </p:cNvSpPr>
          <p:nvPr/>
        </p:nvSpPr>
        <p:spPr>
          <a:xfrm>
            <a:off x="590550" y="6214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000" b="1" dirty="0"/>
            </a:br>
            <a:r>
              <a:rPr lang="en-US" sz="3000" b="1" dirty="0"/>
              <a:t>Sequence Alignment &amp; Similarity Search</a:t>
            </a:r>
            <a:br>
              <a:rPr lang="en-US" sz="3000" b="1" dirty="0"/>
            </a:br>
            <a:endParaRPr lang="en-US" sz="3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88EF6-BF45-09BD-BF00-B071F83C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84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>
            <a:extLst>
              <a:ext uri="{FF2B5EF4-FFF2-40B4-BE49-F238E27FC236}">
                <a16:creationId xmlns:a16="http://schemas.microsoft.com/office/drawing/2014/main" id="{D4484B47-38B9-5FD7-2235-7C87FE2726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D2B73A-A52B-498D-9FE7-CBF51681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Phylogenetic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E3777-4EC3-C749-8ED0-D80F4D68C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Phylogenetic analysis studies evolutionary relationships among organisms using sequence data.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Key Applications</a:t>
            </a:r>
          </a:p>
          <a:p>
            <a:r>
              <a:rPr lang="en-US" dirty="0"/>
              <a:t>Comparative genomics</a:t>
            </a:r>
          </a:p>
          <a:p>
            <a:r>
              <a:rPr lang="en-US" dirty="0"/>
              <a:t>Species classification</a:t>
            </a:r>
          </a:p>
          <a:p>
            <a:r>
              <a:rPr lang="en-US" dirty="0"/>
              <a:t>Evolutionary studies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Tools</a:t>
            </a:r>
          </a:p>
          <a:p>
            <a:r>
              <a:rPr lang="en-US" dirty="0" err="1"/>
              <a:t>ClustalW</a:t>
            </a:r>
            <a:endParaRPr lang="en-US" dirty="0"/>
          </a:p>
          <a:p>
            <a:r>
              <a:rPr lang="en-US" dirty="0"/>
              <a:t>NCBI Taxonomy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E44F6C-A8F0-2DE8-1D4F-160C33548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324" y="2943226"/>
            <a:ext cx="5932718" cy="29384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EF358-7695-231C-D710-3B0EB7FE8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17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">
            <a:extLst>
              <a:ext uri="{FF2B5EF4-FFF2-40B4-BE49-F238E27FC236}">
                <a16:creationId xmlns:a16="http://schemas.microsoft.com/office/drawing/2014/main" id="{E6BF5063-110A-9B8C-D27B-DFC596523A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55A214-733F-7531-872E-02B21BB8D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225212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SECTION 5: GENOMICS, EXPRESSION &amp; PROTEOMICS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4CB1D-5387-9CAA-CFF1-08DAFCBCC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9936"/>
            <a:ext cx="10515600" cy="464661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Genome Analysis </a:t>
            </a:r>
            <a:r>
              <a:rPr lang="en-US" dirty="0"/>
              <a:t>identifies functional regions within DNA sequences.</a:t>
            </a:r>
          </a:p>
          <a:p>
            <a:pPr marL="0" indent="0">
              <a:buNone/>
            </a:pPr>
            <a:r>
              <a:rPr lang="en-US" b="1" dirty="0"/>
              <a:t>Includes</a:t>
            </a:r>
          </a:p>
          <a:p>
            <a:r>
              <a:rPr lang="en-US" dirty="0"/>
              <a:t>Hidden Markov Model</a:t>
            </a:r>
          </a:p>
          <a:p>
            <a:r>
              <a:rPr lang="en-US" dirty="0"/>
              <a:t>Gene mapping</a:t>
            </a:r>
          </a:p>
          <a:p>
            <a:r>
              <a:rPr lang="en-US" dirty="0"/>
              <a:t>Sequence assembly</a:t>
            </a:r>
          </a:p>
          <a:p>
            <a:r>
              <a:rPr lang="en-US" dirty="0"/>
              <a:t>Genome annotation</a:t>
            </a:r>
          </a:p>
          <a:p>
            <a:r>
              <a:rPr lang="en-US" dirty="0"/>
              <a:t>ORF identification</a:t>
            </a:r>
          </a:p>
          <a:p>
            <a:r>
              <a:rPr lang="en-US" dirty="0"/>
              <a:t>Splice site prediction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Gene Prediction Tools</a:t>
            </a:r>
          </a:p>
          <a:p>
            <a:r>
              <a:rPr lang="en-US" dirty="0" err="1"/>
              <a:t>GeneMark</a:t>
            </a:r>
            <a:endParaRPr lang="en-US" dirty="0"/>
          </a:p>
          <a:p>
            <a:r>
              <a:rPr lang="en-US" dirty="0"/>
              <a:t>GRAIL</a:t>
            </a:r>
          </a:p>
          <a:p>
            <a:r>
              <a:rPr lang="en-US" dirty="0"/>
              <a:t>ORF Finder</a:t>
            </a:r>
          </a:p>
          <a:p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E02216-88FB-1576-E2BE-3CB4DC807AF1}"/>
              </a:ext>
            </a:extLst>
          </p:cNvPr>
          <p:cNvSpPr txBox="1">
            <a:spLocks/>
          </p:cNvSpPr>
          <p:nvPr/>
        </p:nvSpPr>
        <p:spPr>
          <a:xfrm>
            <a:off x="838200" y="9219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/>
              <a:t>Genome Analysis &amp; Gene Mapping</a:t>
            </a:r>
            <a:br>
              <a:rPr lang="en-US" sz="3000" b="1" dirty="0"/>
            </a:br>
            <a:endParaRPr lang="en-US" sz="30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5D02CC-C49B-7258-95FA-37B067FD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75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>
            <a:extLst>
              <a:ext uri="{FF2B5EF4-FFF2-40B4-BE49-F238E27FC236}">
                <a16:creationId xmlns:a16="http://schemas.microsoft.com/office/drawing/2014/main" id="{7234A9DE-1CBC-DA43-DBA3-DA323A50AD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8DFF65-9C66-C838-E696-AD74A8D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Gene Expression &amp; Microarrays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3F323-7B14-F1B0-D8B4-BDB7B2D79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488"/>
            <a:ext cx="7491413" cy="48164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Gene Expression </a:t>
            </a:r>
            <a:r>
              <a:rPr lang="en-US" dirty="0"/>
              <a:t>analysis measures how actively genes are expressed in cells.</a:t>
            </a:r>
          </a:p>
          <a:p>
            <a:pPr marL="0" indent="0">
              <a:buNone/>
            </a:pPr>
            <a:r>
              <a:rPr lang="en-US" sz="2700" b="1" dirty="0">
                <a:solidFill>
                  <a:schemeClr val="accent2">
                    <a:lumMod val="75000"/>
                  </a:schemeClr>
                </a:solidFill>
              </a:rPr>
              <a:t>Microarray Technology</a:t>
            </a:r>
          </a:p>
          <a:p>
            <a:pPr marL="0" indent="0">
              <a:buNone/>
            </a:pPr>
            <a:r>
              <a:rPr lang="en-US" dirty="0"/>
              <a:t>    Used to analyze thousands of genes simultaneously.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Applications</a:t>
            </a:r>
          </a:p>
          <a:p>
            <a:r>
              <a:rPr lang="en-US" dirty="0"/>
              <a:t>Cancer research</a:t>
            </a:r>
          </a:p>
          <a:p>
            <a:r>
              <a:rPr lang="en-US" dirty="0"/>
              <a:t>Disease biomarkers</a:t>
            </a:r>
          </a:p>
          <a:p>
            <a:r>
              <a:rPr lang="en-US" dirty="0"/>
              <a:t>Drug response analysis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Tools</a:t>
            </a:r>
          </a:p>
          <a:p>
            <a:r>
              <a:rPr lang="en-US" dirty="0" err="1"/>
              <a:t>ArrayExpress</a:t>
            </a:r>
            <a:endParaRPr lang="en-US" dirty="0"/>
          </a:p>
          <a:p>
            <a:r>
              <a:rPr lang="en-US" dirty="0" err="1"/>
              <a:t>ClustArray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AD26F-A751-E11D-4E12-A80344CCA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9613" y="874713"/>
            <a:ext cx="3650314" cy="546258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DAB0F-FCB4-E704-0375-1EA7EC42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28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>
            <a:extLst>
              <a:ext uri="{FF2B5EF4-FFF2-40B4-BE49-F238E27FC236}">
                <a16:creationId xmlns:a16="http://schemas.microsoft.com/office/drawing/2014/main" id="{45FA17E1-38FD-69B6-B1E1-5974E33BEA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70359C-4AF6-C3F4-C8F6-618E8138B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7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Protein Structure Prediction &amp;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FDA32-D9CA-B7E5-7148-585B9CE2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627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Protein Structure Prediction &amp; Analysis:</a:t>
            </a:r>
          </a:p>
          <a:p>
            <a:r>
              <a:rPr lang="en-US" dirty="0"/>
              <a:t>Computational tools predict 3D protein structures.</a:t>
            </a:r>
          </a:p>
          <a:p>
            <a:r>
              <a:rPr lang="en-US" dirty="0"/>
              <a:t>Protein structure determines biological function.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Important Tools</a:t>
            </a:r>
          </a:p>
          <a:p>
            <a:r>
              <a:rPr lang="en-US" dirty="0"/>
              <a:t>Swiss-Model</a:t>
            </a:r>
          </a:p>
          <a:p>
            <a:r>
              <a:rPr lang="en-US" dirty="0" err="1"/>
              <a:t>TMpred</a:t>
            </a:r>
            <a:endParaRPr lang="en-US" dirty="0"/>
          </a:p>
          <a:p>
            <a:r>
              <a:rPr lang="en-US" dirty="0" err="1"/>
              <a:t>PredictProtein</a:t>
            </a:r>
            <a:endParaRPr lang="en-US" dirty="0"/>
          </a:p>
          <a:p>
            <a:r>
              <a:rPr lang="en-US" dirty="0" err="1"/>
              <a:t>RasMol</a:t>
            </a:r>
            <a:endParaRPr lang="en-US" dirty="0"/>
          </a:p>
          <a:p>
            <a:r>
              <a:rPr lang="en-US" dirty="0"/>
              <a:t>Cn3D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239325-E39C-2EF6-9187-B433907F4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876" y="1071562"/>
            <a:ext cx="4148137" cy="534352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31905-D96E-2A66-F19B-A8BC3B65B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64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>
            <a:extLst>
              <a:ext uri="{FF2B5EF4-FFF2-40B4-BE49-F238E27FC236}">
                <a16:creationId xmlns:a16="http://schemas.microsoft.com/office/drawing/2014/main" id="{3BBF0C75-6844-F93E-9826-3994A2E56D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347DA9-2669-1C38-CC38-18C76E22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012" y="18255"/>
            <a:ext cx="54483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Proteomics &amp; Systems Biology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B1945-904E-43FD-0C22-888D345AF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5625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Proteomics</a:t>
            </a:r>
          </a:p>
          <a:p>
            <a:pPr marL="0" indent="0">
              <a:buNone/>
            </a:pPr>
            <a:r>
              <a:rPr lang="en-US" dirty="0"/>
              <a:t>    Study of protein expression, structure, and interactions.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Systems Biology</a:t>
            </a:r>
          </a:p>
          <a:p>
            <a:pPr marL="0" indent="0">
              <a:buNone/>
            </a:pPr>
            <a:r>
              <a:rPr lang="en-US" dirty="0"/>
              <a:t>    Analyzes interactions between genes, proteins, and metabolic pathways.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Include</a:t>
            </a:r>
          </a:p>
          <a:p>
            <a:r>
              <a:rPr lang="en-US" dirty="0"/>
              <a:t>Protein-protein interactions</a:t>
            </a:r>
          </a:p>
          <a:p>
            <a:r>
              <a:rPr lang="en-US" dirty="0"/>
              <a:t>Pathway analysis</a:t>
            </a:r>
          </a:p>
          <a:p>
            <a:r>
              <a:rPr lang="en-US" dirty="0"/>
              <a:t>Metabolic networks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Important Databases</a:t>
            </a:r>
          </a:p>
          <a:p>
            <a:r>
              <a:rPr lang="en-US" dirty="0"/>
              <a:t>KEGG</a:t>
            </a:r>
          </a:p>
          <a:p>
            <a:r>
              <a:rPr lang="en-US" dirty="0" err="1"/>
              <a:t>EcoCyc</a:t>
            </a:r>
            <a:endParaRPr lang="en-US" dirty="0"/>
          </a:p>
          <a:p>
            <a:r>
              <a:rPr lang="en-US" dirty="0"/>
              <a:t>DIP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763B7B-8759-16D0-F841-398C15D68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566" y="2024865"/>
            <a:ext cx="3891197" cy="446801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E61DB-B95F-54EB-44F0-AF0261E40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452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">
            <a:extLst>
              <a:ext uri="{FF2B5EF4-FFF2-40B4-BE49-F238E27FC236}">
                <a16:creationId xmlns:a16="http://schemas.microsoft.com/office/drawing/2014/main" id="{9AFD7C16-9B08-1E61-3A80-7FADC32711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EFB50D-ECB0-518E-3367-A627DA019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SECTION 6: MODERN APPLICATIONS</a:t>
            </a:r>
            <a:br>
              <a:rPr lang="en-US" sz="3200" b="1" dirty="0"/>
            </a:br>
            <a:endParaRPr lang="en-US" sz="32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7496481-B7BE-E8AA-1AAE-0CE33D4CE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5950" y="657224"/>
            <a:ext cx="7772400" cy="604750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4BD93-4148-5296-1DD7-41416EC3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48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>
            <a:extLst>
              <a:ext uri="{FF2B5EF4-FFF2-40B4-BE49-F238E27FC236}">
                <a16:creationId xmlns:a16="http://schemas.microsoft.com/office/drawing/2014/main" id="{A353745F-9F58-3853-BE1A-5465D0EE6A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347B7-7F07-8CDC-448E-81CCEA1B0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622"/>
            <a:ext cx="9948863" cy="795203"/>
          </a:xfrm>
        </p:spPr>
        <p:txBody>
          <a:bodyPr>
            <a:normAutofit/>
          </a:bodyPr>
          <a:lstStyle/>
          <a:p>
            <a:r>
              <a:rPr lang="en-US" sz="3000" b="1" dirty="0"/>
              <a:t>Statistical Analysis &amp; Problem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CF99F-B691-35F4-855C-AABB54890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3" y="1310618"/>
            <a:ext cx="8043863" cy="52187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Importance of Statistical Analysis</a:t>
            </a:r>
          </a:p>
          <a:p>
            <a:pPr marL="0" indent="0">
              <a:buNone/>
            </a:pPr>
            <a:r>
              <a:rPr lang="en-US" sz="2000" dirty="0"/>
              <a:t>Biological data is large, complex, and highly variable. Statistical methods help transform raw biological data into meaningful scientific information.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Major Applications</a:t>
            </a:r>
          </a:p>
          <a:p>
            <a:r>
              <a:rPr lang="en-US" sz="2000" dirty="0"/>
              <a:t>Gene expression analysis </a:t>
            </a:r>
          </a:p>
          <a:p>
            <a:r>
              <a:rPr lang="en-US" sz="2000" dirty="0"/>
              <a:t>Sequence comparison </a:t>
            </a:r>
          </a:p>
          <a:p>
            <a:r>
              <a:rPr lang="en-US" sz="2000" dirty="0"/>
              <a:t>Microarray analysis </a:t>
            </a:r>
          </a:p>
          <a:p>
            <a:r>
              <a:rPr lang="en-US" sz="2000" dirty="0"/>
              <a:t>Disease prediction </a:t>
            </a:r>
          </a:p>
          <a:p>
            <a:r>
              <a:rPr lang="en-US" sz="2000" dirty="0"/>
              <a:t>Biological pattern recognition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Problem Solving in Bioinformatics</a:t>
            </a:r>
          </a:p>
          <a:p>
            <a:r>
              <a:rPr lang="en-US" sz="2000" dirty="0"/>
              <a:t>Bioinformatics uses computational methods(Algorithms, Data mining, Machine learning, Predictive modeling) to solve complex biological problem.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32A2D01-4203-BE8E-EBE3-018ABE0E20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2438" y="1310618"/>
            <a:ext cx="4119562" cy="500901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55408-4591-7244-D11C-B883A5B8F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67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">
            <a:extLst>
              <a:ext uri="{FF2B5EF4-FFF2-40B4-BE49-F238E27FC236}">
                <a16:creationId xmlns:a16="http://schemas.microsoft.com/office/drawing/2014/main" id="{BAD42D45-6A1E-56C9-6E1D-E4A2E93F79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153DF1-E4E7-6948-3ED4-030E8C30C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Artificial Intelligence in Bioinformatics</a:t>
            </a:r>
            <a:br>
              <a:rPr lang="en-US" sz="3000" b="1" dirty="0"/>
            </a:b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0E3BA-1EA4-B96E-AEC2-0B742E561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34063" cy="4351338"/>
          </a:xfrm>
        </p:spPr>
        <p:txBody>
          <a:bodyPr>
            <a:normAutofit/>
          </a:bodyPr>
          <a:lstStyle/>
          <a:p>
            <a:r>
              <a:rPr lang="en-US" dirty="0"/>
              <a:t>Disease prediction</a:t>
            </a:r>
          </a:p>
          <a:p>
            <a:r>
              <a:rPr lang="en-US" dirty="0"/>
              <a:t>Protein folding</a:t>
            </a:r>
          </a:p>
          <a:p>
            <a:r>
              <a:rPr lang="en-US" dirty="0"/>
              <a:t>Drug discovery</a:t>
            </a:r>
          </a:p>
          <a:p>
            <a:r>
              <a:rPr lang="en-US" dirty="0"/>
              <a:t>Genomic pattern recognition</a:t>
            </a:r>
          </a:p>
          <a:p>
            <a:r>
              <a:rPr lang="en-US" dirty="0"/>
              <a:t>Personalized medicine</a:t>
            </a:r>
          </a:p>
          <a:p>
            <a:r>
              <a:rPr lang="en-US" dirty="0"/>
              <a:t>Protein structure prediction(AlphaFold protein prediction system)</a:t>
            </a:r>
          </a:p>
          <a:p>
            <a:r>
              <a:rPr lang="en-US" dirty="0"/>
              <a:t>Analyzing biological data rapidly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179F0E-DF5C-8157-B409-B51C9C200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129" y="1690688"/>
            <a:ext cx="5018508" cy="392906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B777A-55E0-CC60-62CB-C030DCEBA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999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>
            <a:extLst>
              <a:ext uri="{FF2B5EF4-FFF2-40B4-BE49-F238E27FC236}">
                <a16:creationId xmlns:a16="http://schemas.microsoft.com/office/drawing/2014/main" id="{020B082C-534A-B9A8-24AB-570B28FBFA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94EA1F-2C8F-6F31-390C-EE33D2BEC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289" y="257967"/>
            <a:ext cx="10515600" cy="663575"/>
          </a:xfrm>
        </p:spPr>
        <p:txBody>
          <a:bodyPr>
            <a:noAutofit/>
          </a:bodyPr>
          <a:lstStyle/>
          <a:p>
            <a:r>
              <a:rPr lang="fr-FR" sz="3200" b="1" dirty="0"/>
              <a:t>SECTION 7: INTERNET &amp; FUTURE TECHNOLOGIES</a:t>
            </a:r>
            <a:br>
              <a:rPr lang="fr-FR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A0B3C-41A0-BEDD-1FD2-89839D32E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5398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HTML(Hyper Text Markup Language)</a:t>
            </a:r>
          </a:p>
          <a:p>
            <a:r>
              <a:rPr lang="en-US" dirty="0"/>
              <a:t>CSS</a:t>
            </a:r>
          </a:p>
          <a:p>
            <a:r>
              <a:rPr lang="en-US" dirty="0"/>
              <a:t>XML</a:t>
            </a:r>
          </a:p>
          <a:p>
            <a:r>
              <a:rPr lang="en-US" dirty="0"/>
              <a:t>XSL/XSLT</a:t>
            </a:r>
          </a:p>
          <a:p>
            <a:r>
              <a:rPr lang="en-US" dirty="0"/>
              <a:t>Remote Procedure Invocation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Importance</a:t>
            </a:r>
          </a:p>
          <a:p>
            <a:r>
              <a:rPr lang="en-US" dirty="0"/>
              <a:t>These technologies support:</a:t>
            </a:r>
          </a:p>
          <a:p>
            <a:r>
              <a:rPr lang="en-US" dirty="0"/>
              <a:t>Biological web databases</a:t>
            </a:r>
          </a:p>
          <a:p>
            <a:r>
              <a:rPr lang="en-US" dirty="0"/>
              <a:t>Online genome browsers</a:t>
            </a:r>
          </a:p>
          <a:p>
            <a:r>
              <a:rPr lang="en-US" dirty="0"/>
              <a:t>Scientific visualization</a:t>
            </a:r>
          </a:p>
          <a:p>
            <a:r>
              <a:rPr lang="en-US" dirty="0"/>
              <a:t>Data sharing and communication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AutoShape 4" descr="Biomolecules 14 01447 g008">
            <a:extLst>
              <a:ext uri="{FF2B5EF4-FFF2-40B4-BE49-F238E27FC236}">
                <a16:creationId xmlns:a16="http://schemas.microsoft.com/office/drawing/2014/main" id="{8784ACB2-A6C2-88F6-F9F8-C89B19E2D8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600451" cy="2328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4A99FA7-50FE-672B-46EE-903782E95F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2DD196B-46F3-2B35-0A46-AB1CDBBC0549}"/>
              </a:ext>
            </a:extLst>
          </p:cNvPr>
          <p:cNvSpPr txBox="1">
            <a:spLocks/>
          </p:cNvSpPr>
          <p:nvPr/>
        </p:nvSpPr>
        <p:spPr>
          <a:xfrm>
            <a:off x="838200" y="7151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Internet Technologies in Bio-informatics</a:t>
            </a:r>
            <a:b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</a:br>
            <a:endParaRPr lang="en-US" sz="3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87274D-3628-155D-0EC4-BEBC4554A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7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>
            <a:extLst>
              <a:ext uri="{FF2B5EF4-FFF2-40B4-BE49-F238E27FC236}">
                <a16:creationId xmlns:a16="http://schemas.microsoft.com/office/drawing/2014/main" id="{112AB495-7B7B-6FDA-6FF5-4BC46A91E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AFF5AA-0B59-940E-E9BA-4F813E603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Challenges: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C1C89-ECA5-7778-4F9C-E4E45A916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Massive biological datasets</a:t>
            </a:r>
          </a:p>
          <a:p>
            <a:r>
              <a:rPr lang="en-US" dirty="0"/>
              <a:t>Data integration problems</a:t>
            </a:r>
          </a:p>
          <a:p>
            <a:r>
              <a:rPr lang="en-US" dirty="0"/>
              <a:t>Computational limitations</a:t>
            </a:r>
          </a:p>
          <a:p>
            <a:r>
              <a:rPr lang="en-US" dirty="0"/>
              <a:t>Statistical complexity</a:t>
            </a:r>
          </a:p>
          <a:p>
            <a:r>
              <a:rPr lang="en-US" dirty="0"/>
              <a:t>Data privacy and security</a:t>
            </a:r>
          </a:p>
          <a:p>
            <a:r>
              <a:rPr lang="en-US" dirty="0"/>
              <a:t>Interpretation of multi-omics data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Need:</a:t>
            </a:r>
          </a:p>
          <a:p>
            <a:r>
              <a:rPr lang="en-US" dirty="0"/>
              <a:t>Advanced computational algorithms and high-performance computing.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DA2B07-68FA-E186-47BA-91E31823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31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">
            <a:extLst>
              <a:ext uri="{FF2B5EF4-FFF2-40B4-BE49-F238E27FC236}">
                <a16:creationId xmlns:a16="http://schemas.microsoft.com/office/drawing/2014/main" id="{6B9E9385-9EDC-29F3-A28A-9812DE7DAC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6513"/>
            <a:ext cx="12192000" cy="68945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44E9C1-47D6-3151-3BE0-00E2D1064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7B86D4-F0D9-E042-5F49-60ED6E4EB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6" y="0"/>
            <a:ext cx="8569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79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>
            <a:extLst>
              <a:ext uri="{FF2B5EF4-FFF2-40B4-BE49-F238E27FC236}">
                <a16:creationId xmlns:a16="http://schemas.microsoft.com/office/drawing/2014/main" id="{08145BDC-A973-AF38-1415-5603881F19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769"/>
            <a:ext cx="12192000" cy="689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EE130D-0E45-7883-D942-128CD2888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4F373-0EA9-C6B9-0704-AA3447156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Books</a:t>
            </a:r>
            <a:r>
              <a:rPr lang="en-US" b="1" dirty="0"/>
              <a:t>:</a:t>
            </a:r>
          </a:p>
          <a:p>
            <a:r>
              <a:rPr lang="en-US" dirty="0"/>
              <a:t>Bioinformatics: Concepts, Skills &amp; Applications </a:t>
            </a:r>
          </a:p>
          <a:p>
            <a:r>
              <a:rPr lang="en-US" dirty="0"/>
              <a:t>Bioinformatics: Methods and Applications </a:t>
            </a:r>
          </a:p>
          <a:p>
            <a:r>
              <a:rPr lang="en-US" dirty="0"/>
              <a:t>Bioinformatics: Genes, Proteins &amp; Computers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02EF5-7181-ED2C-2525-234DAE785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CB82F-0309-4EB5-B5C1-7841102FABA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60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436</TotalTime>
  <Words>1188</Words>
  <Application>Microsoft Office PowerPoint</Application>
  <PresentationFormat>Widescreen</PresentationFormat>
  <Paragraphs>269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UNIVERSITY OF AGRICULTURE, FAISALBAD</vt:lpstr>
      <vt:lpstr>CONTENTS</vt:lpstr>
      <vt:lpstr>SECTION 1: FROM BIOLOGICAL DATA TO INTELLIGENT DISCOVERY</vt:lpstr>
      <vt:lpstr>What Is Bioinformatics?</vt:lpstr>
      <vt:lpstr>SECTION 2: BIOLOGICAL INFORMATION SYSTEM</vt:lpstr>
      <vt:lpstr>SECTION 3: BIOLOGICAL DATA MANAGEMENT  </vt:lpstr>
      <vt:lpstr>Major Databases In Bioinformatics:</vt:lpstr>
      <vt:lpstr>Linux &amp; Computational Environment</vt:lpstr>
      <vt:lpstr>SECTION 4: SEQUENCE ANALYSIS &amp; EVOLUTION </vt:lpstr>
      <vt:lpstr>Phylogenetic Analysis</vt:lpstr>
      <vt:lpstr>SECTION 5: GENOMICS, EXPRESSION &amp; PROTEOMICS </vt:lpstr>
      <vt:lpstr>Gene Expression &amp; Microarrays</vt:lpstr>
      <vt:lpstr>Protein Structure Prediction &amp; Visualization</vt:lpstr>
      <vt:lpstr>Proteomics &amp; Systems Biology</vt:lpstr>
      <vt:lpstr>SECTION 6: MODERN APPLICATIONS </vt:lpstr>
      <vt:lpstr>Statistical Analysis &amp; Problem Solving</vt:lpstr>
      <vt:lpstr>Artificial Intelligence in Bioinformatics </vt:lpstr>
      <vt:lpstr>SECTION 7: INTERNET &amp; FUTURE TECHNOLOGIES </vt:lpstr>
      <vt:lpstr>Challenges:</vt:lpstr>
      <vt:lpstr>PowerPoint Presentation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Abu Bakar</dc:creator>
  <cp:lastModifiedBy>Abu Bakar</cp:lastModifiedBy>
  <cp:revision>8</cp:revision>
  <dcterms:created xsi:type="dcterms:W3CDTF">2026-05-13T10:27:00Z</dcterms:created>
  <dcterms:modified xsi:type="dcterms:W3CDTF">2026-05-14T02:03:11Z</dcterms:modified>
</cp:coreProperties>
</file>